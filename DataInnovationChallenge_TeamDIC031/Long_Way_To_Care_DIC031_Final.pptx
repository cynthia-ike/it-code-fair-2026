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1" r:id="rId4"/>
    <p:sldId id="258" r:id="rId5"/>
    <p:sldId id="259" r:id="rId6"/>
    <p:sldId id="260" r:id="rId7"/>
    <p:sldId id="261" r:id="rId8"/>
    <p:sldId id="262" r:id="rId9"/>
    <p:sldId id="263" r:id="rId10"/>
    <p:sldId id="265" r:id="rId11"/>
    <p:sldId id="267" r:id="rId12"/>
    <p:sldId id="268" r:id="rId13"/>
    <p:sldId id="272"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238" autoAdjust="0"/>
  </p:normalViewPr>
  <p:slideViewPr>
    <p:cSldViewPr snapToGrid="0" snapToObjects="1">
      <p:cViewPr varScale="1">
        <p:scale>
          <a:sx n="52" d="100"/>
          <a:sy n="52" d="100"/>
        </p:scale>
        <p:origin x="120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ynthia Ikegbunam" userId="1bae3c8be648bfe4" providerId="LiveId" clId="{7EC0E629-83F5-4990-BB2E-5F9D85478617}"/>
    <pc:docChg chg="modSld">
      <pc:chgData name="Cynthia Ikegbunam" userId="1bae3c8be648bfe4" providerId="LiveId" clId="{7EC0E629-83F5-4990-BB2E-5F9D85478617}" dt="2026-10-08T01:50:47.250" v="13" actId="20577"/>
      <pc:docMkLst>
        <pc:docMk/>
      </pc:docMkLst>
      <pc:sldChg chg="modNotesTx">
        <pc:chgData name="Cynthia Ikegbunam" userId="1bae3c8be648bfe4" providerId="LiveId" clId="{7EC0E629-83F5-4990-BB2E-5F9D85478617}" dt="2026-10-08T01:49:41.795" v="0" actId="20577"/>
        <pc:sldMkLst>
          <pc:docMk/>
          <pc:sldMk cId="0" sldId="256"/>
        </pc:sldMkLst>
      </pc:sldChg>
      <pc:sldChg chg="modNotesTx">
        <pc:chgData name="Cynthia Ikegbunam" userId="1bae3c8be648bfe4" providerId="LiveId" clId="{7EC0E629-83F5-4990-BB2E-5F9D85478617}" dt="2026-10-08T01:49:44.935" v="1" actId="20577"/>
        <pc:sldMkLst>
          <pc:docMk/>
          <pc:sldMk cId="0" sldId="257"/>
        </pc:sldMkLst>
      </pc:sldChg>
      <pc:sldChg chg="modNotesTx">
        <pc:chgData name="Cynthia Ikegbunam" userId="1bae3c8be648bfe4" providerId="LiveId" clId="{7EC0E629-83F5-4990-BB2E-5F9D85478617}" dt="2026-10-08T01:49:53.096" v="3" actId="20577"/>
        <pc:sldMkLst>
          <pc:docMk/>
          <pc:sldMk cId="0" sldId="258"/>
        </pc:sldMkLst>
      </pc:sldChg>
      <pc:sldChg chg="modNotesTx">
        <pc:chgData name="Cynthia Ikegbunam" userId="1bae3c8be648bfe4" providerId="LiveId" clId="{7EC0E629-83F5-4990-BB2E-5F9D85478617}" dt="2026-10-08T01:49:56.908" v="4" actId="20577"/>
        <pc:sldMkLst>
          <pc:docMk/>
          <pc:sldMk cId="0" sldId="259"/>
        </pc:sldMkLst>
      </pc:sldChg>
      <pc:sldChg chg="modNotesTx">
        <pc:chgData name="Cynthia Ikegbunam" userId="1bae3c8be648bfe4" providerId="LiveId" clId="{7EC0E629-83F5-4990-BB2E-5F9D85478617}" dt="2026-10-08T01:50:00.412" v="5" actId="20577"/>
        <pc:sldMkLst>
          <pc:docMk/>
          <pc:sldMk cId="0" sldId="260"/>
        </pc:sldMkLst>
      </pc:sldChg>
      <pc:sldChg chg="modNotesTx">
        <pc:chgData name="Cynthia Ikegbunam" userId="1bae3c8be648bfe4" providerId="LiveId" clId="{7EC0E629-83F5-4990-BB2E-5F9D85478617}" dt="2026-10-08T01:50:03.734" v="6" actId="20577"/>
        <pc:sldMkLst>
          <pc:docMk/>
          <pc:sldMk cId="0" sldId="261"/>
        </pc:sldMkLst>
      </pc:sldChg>
      <pc:sldChg chg="modNotesTx">
        <pc:chgData name="Cynthia Ikegbunam" userId="1bae3c8be648bfe4" providerId="LiveId" clId="{7EC0E629-83F5-4990-BB2E-5F9D85478617}" dt="2026-10-08T01:50:08.134" v="7" actId="20577"/>
        <pc:sldMkLst>
          <pc:docMk/>
          <pc:sldMk cId="0" sldId="262"/>
        </pc:sldMkLst>
      </pc:sldChg>
      <pc:sldChg chg="modNotesTx">
        <pc:chgData name="Cynthia Ikegbunam" userId="1bae3c8be648bfe4" providerId="LiveId" clId="{7EC0E629-83F5-4990-BB2E-5F9D85478617}" dt="2026-10-08T01:50:12.346" v="8" actId="20577"/>
        <pc:sldMkLst>
          <pc:docMk/>
          <pc:sldMk cId="0" sldId="263"/>
        </pc:sldMkLst>
      </pc:sldChg>
      <pc:sldChg chg="modNotesTx">
        <pc:chgData name="Cynthia Ikegbunam" userId="1bae3c8be648bfe4" providerId="LiveId" clId="{7EC0E629-83F5-4990-BB2E-5F9D85478617}" dt="2026-10-08T01:50:17.422" v="9" actId="20577"/>
        <pc:sldMkLst>
          <pc:docMk/>
          <pc:sldMk cId="0" sldId="265"/>
        </pc:sldMkLst>
      </pc:sldChg>
      <pc:sldChg chg="modNotesTx">
        <pc:chgData name="Cynthia Ikegbunam" userId="1bae3c8be648bfe4" providerId="LiveId" clId="{7EC0E629-83F5-4990-BB2E-5F9D85478617}" dt="2026-10-08T01:50:23.583" v="10" actId="20577"/>
        <pc:sldMkLst>
          <pc:docMk/>
          <pc:sldMk cId="0" sldId="267"/>
        </pc:sldMkLst>
      </pc:sldChg>
      <pc:sldChg chg="modNotesTx">
        <pc:chgData name="Cynthia Ikegbunam" userId="1bae3c8be648bfe4" providerId="LiveId" clId="{7EC0E629-83F5-4990-BB2E-5F9D85478617}" dt="2026-10-08T01:50:28.586" v="11" actId="20577"/>
        <pc:sldMkLst>
          <pc:docMk/>
          <pc:sldMk cId="0" sldId="268"/>
        </pc:sldMkLst>
      </pc:sldChg>
      <pc:sldChg chg="modNotesTx">
        <pc:chgData name="Cynthia Ikegbunam" userId="1bae3c8be648bfe4" providerId="LiveId" clId="{7EC0E629-83F5-4990-BB2E-5F9D85478617}" dt="2026-10-08T01:50:47.250" v="13" actId="20577"/>
        <pc:sldMkLst>
          <pc:docMk/>
          <pc:sldMk cId="0" sldId="270"/>
        </pc:sldMkLst>
      </pc:sldChg>
      <pc:sldChg chg="modNotesTx">
        <pc:chgData name="Cynthia Ikegbunam" userId="1bae3c8be648bfe4" providerId="LiveId" clId="{7EC0E629-83F5-4990-BB2E-5F9D85478617}" dt="2026-10-08T01:49:47.994" v="2" actId="20577"/>
        <pc:sldMkLst>
          <pc:docMk/>
          <pc:sldMk cId="0" sldId="271"/>
        </pc:sldMkLst>
      </pc:sldChg>
      <pc:sldChg chg="modNotesTx">
        <pc:chgData name="Cynthia Ikegbunam" userId="1bae3c8be648bfe4" providerId="LiveId" clId="{7EC0E629-83F5-4990-BB2E-5F9D85478617}" dt="2026-10-08T01:50:43.355" v="12" actId="20577"/>
        <pc:sldMkLst>
          <pc:docMk/>
          <pc:sldMk cId="0" sldId="272"/>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en-US" sz="1400" b="1">
                <a:solidFill>
                  <a:srgbClr val="242852"/>
                </a:solidFill>
              </a:rPr>
              <a:t>Spearman ρ between pairs of our four measures</a:t>
            </a:r>
          </a:p>
        </c:rich>
      </c:tx>
      <c:overlay val="0"/>
    </c:title>
    <c:autoTitleDeleted val="0"/>
    <c:plotArea>
      <c:layout/>
      <c:barChart>
        <c:barDir val="bar"/>
        <c:grouping val="clustered"/>
        <c:varyColors val="1"/>
        <c:ser>
          <c:idx val="0"/>
          <c:order val="0"/>
          <c:tx>
            <c:strRef>
              <c:f>Sheet1!$B$1</c:f>
              <c:strCache>
                <c:ptCount val="1"/>
                <c:pt idx="0">
                  <c:v>Spearman rho</c:v>
                </c:pt>
              </c:strCache>
            </c:strRef>
          </c:tx>
          <c:spPr>
            <a:solidFill>
              <a:srgbClr val="4A66AC"/>
            </a:solidFill>
          </c:spPr>
          <c:invertIfNegative val="1"/>
          <c:dLbls>
            <c:numFmt formatCode="0.00" sourceLinked="0"/>
            <c:spPr>
              <a:noFill/>
              <a:ln>
                <a:noFill/>
              </a:ln>
              <a:effectLst/>
            </c:spPr>
            <c:txPr>
              <a:bodyPr/>
              <a:lstStyle/>
              <a:p>
                <a:pPr>
                  <a:defRPr sz="1200" b="1">
                    <a:solidFill>
                      <a:srgbClr val="242852"/>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Coverage &amp; hospital time</c:v>
                </c:pt>
                <c:pt idx="1">
                  <c:v>Clinic &amp; hospital time</c:v>
                </c:pt>
                <c:pt idx="2">
                  <c:v>Coverage &amp; sealed road</c:v>
                </c:pt>
                <c:pt idx="3">
                  <c:v>Hospital time &amp; sealed road</c:v>
                </c:pt>
                <c:pt idx="4">
                  <c:v>Clinic time &amp; sealed road</c:v>
                </c:pt>
                <c:pt idx="5">
                  <c:v>Coverage &amp; clinic time</c:v>
                </c:pt>
              </c:strCache>
            </c:strRef>
          </c:cat>
          <c:val>
            <c:numRef>
              <c:f>Sheet1!$B$2:$B$7</c:f>
              <c:numCache>
                <c:formatCode>General</c:formatCode>
                <c:ptCount val="6"/>
                <c:pt idx="0">
                  <c:v>0.25</c:v>
                </c:pt>
                <c:pt idx="1">
                  <c:v>0.35</c:v>
                </c:pt>
                <c:pt idx="2">
                  <c:v>0.35</c:v>
                </c:pt>
                <c:pt idx="3">
                  <c:v>0.43</c:v>
                </c:pt>
                <c:pt idx="4">
                  <c:v>0.44</c:v>
                </c:pt>
                <c:pt idx="5">
                  <c:v>0.69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A64-456B-90CB-BFC68EE7DF05}"/>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BBBBB"/>
            </a:solidFill>
          </a:ln>
        </c:spPr>
        <c:txPr>
          <a:bodyPr/>
          <a:lstStyle/>
          <a:p>
            <a:pPr>
              <a:defRPr sz="1200">
                <a:solidFill>
                  <a:srgbClr val="333333"/>
                </a:solidFill>
              </a:defRPr>
            </a:pPr>
            <a:endParaRPr lang="en-US"/>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333333"/>
          </a:solidFill>
        </a:defRPr>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1:06:50.897"/>
    </inkml:context>
    <inkml:brush xml:id="br0">
      <inkml:brushProperty name="width" value="0.2" units="cm"/>
      <inkml:brushProperty name="height" value="0.2" units="cm"/>
      <inkml:brushProperty name="color" value="#008C3A"/>
    </inkml:brush>
  </inkml:definitions>
  <inkml:trace contextRef="#ctx0" brushRef="#br0">1 1 9021,'1051'116'0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678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[7:50 to 8:00] To sum up: 429 of 782 communities have no confirmed way to call, and care can be hours away. The pattern holds however we weigh it, and it is not chance. Thank you. We would be glad to take your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customXml" Target="../ink/ink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hyperlink" Target="file:///C:\Users\User\OneDrive\Documents\IT%20Code%20Fair%202026\DataInnovationChallenge_TeamDIC031\Outputs\dashboard_offline.html" TargetMode="Externa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A4A"/>
        </a:solidFill>
        <a:effectLst/>
      </p:bgPr>
    </p:bg>
    <p:spTree>
      <p:nvGrpSpPr>
        <p:cNvPr id="1" name=""/>
        <p:cNvGrpSpPr/>
        <p:nvPr/>
      </p:nvGrpSpPr>
      <p:grpSpPr>
        <a:xfrm>
          <a:off x="0" y="0"/>
          <a:ext cx="0" cy="0"/>
          <a:chOff x="0" y="0"/>
          <a:chExt cx="0" cy="0"/>
        </a:xfrm>
      </p:grpSpPr>
      <p:pic>
        <p:nvPicPr>
          <p:cNvPr id="8" name="Picture 7" descr="bg_cover.png"/>
          <p:cNvPicPr>
            <a:picLocks noChangeAspect="1"/>
          </p:cNvPicPr>
          <p:nvPr/>
        </p:nvPicPr>
        <p:blipFill>
          <a:blip r:embed="rId3"/>
          <a:stretch>
            <a:fillRect/>
          </a:stretch>
        </p:blipFill>
        <p:spPr>
          <a:xfrm>
            <a:off x="0" y="0"/>
            <a:ext cx="12192000" cy="6858000"/>
          </a:xfrm>
          <a:prstGeom prst="rect">
            <a:avLst/>
          </a:prstGeom>
        </p:spPr>
      </p:pic>
      <p:sp>
        <p:nvSpPr>
          <p:cNvPr id="9" name="Rounded Rectangle 8"/>
          <p:cNvSpPr/>
          <p:nvPr/>
        </p:nvSpPr>
        <p:spPr>
          <a:xfrm>
            <a:off x="0" y="5840605"/>
            <a:ext cx="6096000" cy="738663"/>
          </a:xfrm>
          <a:prstGeom prst="roundRect">
            <a:avLst>
              <a:gd name="adj" fmla="val 37628"/>
            </a:avLst>
          </a:prstGeom>
          <a:solidFill>
            <a:srgbClr val="FBF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229600" y="2011680"/>
            <a:ext cx="3611880" cy="3429000"/>
          </a:xfrm>
          <a:prstGeom prst="roundRect">
            <a:avLst>
              <a:gd name="adj" fmla="val 5000"/>
            </a:avLst>
          </a:prstGeom>
          <a:solidFill>
            <a:srgbClr val="FBF0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977462" y="270379"/>
            <a:ext cx="10668000" cy="2194560"/>
          </a:xfrm>
        </p:spPr>
        <p:txBody>
          <a:bodyPr wrap="square" lIns="0" anchor="ctr"/>
          <a:lstStyle/>
          <a:p>
            <a:r>
              <a:rPr sz="5400" b="1" dirty="0">
                <a:solidFill>
                  <a:schemeClr val="bg1"/>
                </a:solidFill>
              </a:rPr>
              <a:t>The Long Way</a:t>
            </a:r>
            <a:r>
              <a:rPr lang="en-US" sz="5400" b="1" dirty="0">
                <a:solidFill>
                  <a:schemeClr val="bg1"/>
                </a:solidFill>
              </a:rPr>
              <a:t> </a:t>
            </a:r>
            <a:r>
              <a:rPr sz="5400" b="1" dirty="0">
                <a:solidFill>
                  <a:schemeClr val="bg1"/>
                </a:solidFill>
              </a:rPr>
              <a:t>to Care</a:t>
            </a:r>
          </a:p>
        </p:txBody>
      </p:sp>
      <p:sp>
        <p:nvSpPr>
          <p:cNvPr id="3" name="TextBox 2"/>
          <p:cNvSpPr txBox="1"/>
          <p:nvPr/>
        </p:nvSpPr>
        <p:spPr>
          <a:xfrm>
            <a:off x="822959" y="2046500"/>
            <a:ext cx="6954695" cy="738664"/>
          </a:xfrm>
          <a:prstGeom prst="rect">
            <a:avLst/>
          </a:prstGeom>
          <a:noFill/>
        </p:spPr>
        <p:txBody>
          <a:bodyPr wrap="square" lIns="0" tIns="0" rIns="0" bIns="0" anchor="t">
            <a:spAutoFit/>
          </a:bodyPr>
          <a:lstStyle/>
          <a:p>
            <a:pPr algn="l"/>
            <a:r>
              <a:rPr sz="2400" b="0" dirty="0">
                <a:solidFill>
                  <a:schemeClr val="bg1"/>
                </a:solidFill>
              </a:rPr>
              <a:t>Can you call for help, and how far is care, from a remote Northern Territory community?</a:t>
            </a:r>
          </a:p>
        </p:txBody>
      </p:sp>
      <p:sp>
        <p:nvSpPr>
          <p:cNvPr id="4" name="TextBox 3"/>
          <p:cNvSpPr txBox="1"/>
          <p:nvPr/>
        </p:nvSpPr>
        <p:spPr>
          <a:xfrm>
            <a:off x="510803" y="5863590"/>
            <a:ext cx="6583680" cy="584775"/>
          </a:xfrm>
          <a:prstGeom prst="rect">
            <a:avLst/>
          </a:prstGeom>
          <a:noFill/>
        </p:spPr>
        <p:txBody>
          <a:bodyPr wrap="square" lIns="0" tIns="0" rIns="0" bIns="0" anchor="t">
            <a:spAutoFit/>
          </a:bodyPr>
          <a:lstStyle/>
          <a:p>
            <a:pPr algn="l"/>
            <a:r>
              <a:rPr sz="2000" b="1" dirty="0">
                <a:solidFill>
                  <a:srgbClr val="1B1A4A"/>
                </a:solidFill>
              </a:rPr>
              <a:t>Team DIC 031  ·  CDU IT Code Fair 2026</a:t>
            </a:r>
          </a:p>
          <a:p>
            <a:pPr algn="l"/>
            <a:r>
              <a:rPr b="0" dirty="0">
                <a:solidFill>
                  <a:srgbClr val="3B3558"/>
                </a:solidFill>
              </a:rPr>
              <a:t>Chepngenoh Chepkwony and Cynthia Ebele </a:t>
            </a:r>
            <a:r>
              <a:rPr b="0" dirty="0" err="1">
                <a:solidFill>
                  <a:srgbClr val="3B3558"/>
                </a:solidFill>
              </a:rPr>
              <a:t>Ikegbunam</a:t>
            </a:r>
            <a:endParaRPr b="0" dirty="0">
              <a:solidFill>
                <a:srgbClr val="3B3558"/>
              </a:solidFill>
            </a:endParaRPr>
          </a:p>
        </p:txBody>
      </p:sp>
      <p:sp>
        <p:nvSpPr>
          <p:cNvPr id="6" name="TextBox 5"/>
          <p:cNvSpPr txBox="1"/>
          <p:nvPr/>
        </p:nvSpPr>
        <p:spPr>
          <a:xfrm>
            <a:off x="8412480" y="2194560"/>
            <a:ext cx="3474720" cy="1280160"/>
          </a:xfrm>
          <a:prstGeom prst="rect">
            <a:avLst/>
          </a:prstGeom>
          <a:noFill/>
        </p:spPr>
        <p:txBody>
          <a:bodyPr wrap="square" lIns="0" tIns="0" rIns="0" bIns="0" anchor="t">
            <a:spAutoFit/>
          </a:bodyPr>
          <a:lstStyle/>
          <a:p>
            <a:pPr algn="l"/>
            <a:r>
              <a:rPr sz="8000" b="1">
                <a:solidFill>
                  <a:srgbClr val="1B1A4A"/>
                </a:solidFill>
                <a:latin typeface="Georgia"/>
              </a:rPr>
              <a:t>429</a:t>
            </a:r>
          </a:p>
        </p:txBody>
      </p:sp>
      <p:sp>
        <p:nvSpPr>
          <p:cNvPr id="7" name="TextBox 6"/>
          <p:cNvSpPr txBox="1"/>
          <p:nvPr/>
        </p:nvSpPr>
        <p:spPr>
          <a:xfrm>
            <a:off x="8412480" y="3611880"/>
            <a:ext cx="3383280" cy="1645920"/>
          </a:xfrm>
          <a:prstGeom prst="rect">
            <a:avLst/>
          </a:prstGeom>
          <a:noFill/>
        </p:spPr>
        <p:txBody>
          <a:bodyPr wrap="square" lIns="0" tIns="0" rIns="0" bIns="0" anchor="t">
            <a:spAutoFit/>
          </a:bodyPr>
          <a:lstStyle/>
          <a:p>
            <a:pPr algn="l"/>
            <a:r>
              <a:rPr sz="2000" b="1">
                <a:solidFill>
                  <a:srgbClr val="1B1A4A"/>
                </a:solidFill>
              </a:rPr>
              <a:t>of 782 remote NT communities have no confirmed way to call for help</a:t>
            </a:r>
          </a:p>
        </p:txBody>
      </p:sp>
      <p:sp>
        <p:nvSpPr>
          <p:cNvPr id="11" name="Rectangle 10"/>
          <p:cNvSpPr/>
          <p:nvPr/>
        </p:nvSpPr>
        <p:spPr>
          <a:xfrm>
            <a:off x="584375" y="669089"/>
            <a:ext cx="914400" cy="64008"/>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bg_content.png"/>
          <p:cNvPicPr>
            <a:picLocks noChangeAspect="1"/>
          </p:cNvPicPr>
          <p:nvPr/>
        </p:nvPicPr>
        <p:blipFill>
          <a:blip r:embed="rId3"/>
          <a:stretch>
            <a:fillRect/>
          </a:stretch>
        </p:blipFill>
        <p:spPr>
          <a:xfrm>
            <a:off x="0" y="0"/>
            <a:ext cx="12192000" cy="6858000"/>
          </a:xfrm>
          <a:prstGeom prst="rect">
            <a:avLst/>
          </a:prstGeom>
        </p:spPr>
      </p:pic>
      <p:sp>
        <p:nvSpPr>
          <p:cNvPr id="18" name="Rounded Rectangle 17"/>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normAutofit/>
          </a:bodyPr>
          <a:lstStyle/>
          <a:p>
            <a:pPr algn="l"/>
            <a:r>
              <a:rPr sz="3000" b="1">
                <a:solidFill>
                  <a:srgbClr val="FFFFFF"/>
                </a:solidFill>
              </a:rPr>
              <a:t>The problem</a:t>
            </a: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4224" y="1188720"/>
            <a:ext cx="10424160" cy="411480"/>
          </a:xfrm>
          <a:prstGeom prst="rect">
            <a:avLst/>
          </a:prstGeom>
          <a:noFill/>
        </p:spPr>
        <p:txBody>
          <a:bodyPr wrap="square" lIns="0" tIns="0" rIns="0" bIns="0" anchor="t">
            <a:spAutoFit/>
          </a:bodyPr>
          <a:lstStyle/>
          <a:p>
            <a:pPr algn="l"/>
            <a:r>
              <a:rPr sz="1600" b="0">
                <a:solidFill>
                  <a:srgbClr val="F3DDB0"/>
                </a:solidFill>
              </a:rPr>
              <a:t>In an emergency you need two things: a way to call, and a way to get there.</a:t>
            </a: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2</a:t>
            </a:r>
          </a:p>
        </p:txBody>
      </p:sp>
      <p:sp>
        <p:nvSpPr>
          <p:cNvPr id="7" name="Rectangle 6"/>
          <p:cNvSpPr/>
          <p:nvPr/>
        </p:nvSpPr>
        <p:spPr>
          <a:xfrm>
            <a:off x="884224" y="1901951"/>
            <a:ext cx="73152" cy="96012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03680" y="1874519"/>
            <a:ext cx="3840480" cy="320040"/>
          </a:xfrm>
          <a:prstGeom prst="rect">
            <a:avLst/>
          </a:prstGeom>
          <a:noFill/>
        </p:spPr>
        <p:txBody>
          <a:bodyPr wrap="square" lIns="0" tIns="0" rIns="0" bIns="0" anchor="t">
            <a:spAutoFit/>
          </a:bodyPr>
          <a:lstStyle/>
          <a:p>
            <a:pPr algn="l"/>
            <a:r>
              <a:rPr sz="1700" b="1">
                <a:solidFill>
                  <a:srgbClr val="1B1A4A"/>
                </a:solidFill>
              </a:rPr>
              <a:t>429 of 782</a:t>
            </a:r>
          </a:p>
        </p:txBody>
      </p:sp>
      <p:sp>
        <p:nvSpPr>
          <p:cNvPr id="9" name="TextBox 8"/>
          <p:cNvSpPr txBox="1"/>
          <p:nvPr/>
        </p:nvSpPr>
        <p:spPr>
          <a:xfrm>
            <a:off x="1103680" y="2240279"/>
            <a:ext cx="3840480" cy="731520"/>
          </a:xfrm>
          <a:prstGeom prst="rect">
            <a:avLst/>
          </a:prstGeom>
          <a:noFill/>
        </p:spPr>
        <p:txBody>
          <a:bodyPr wrap="square" lIns="0" tIns="0" rIns="0" bIns="0" anchor="t">
            <a:spAutoFit/>
          </a:bodyPr>
          <a:lstStyle/>
          <a:p>
            <a:pPr algn="l"/>
            <a:r>
              <a:rPr sz="1400" b="0" dirty="0">
                <a:solidFill>
                  <a:srgbClr val="3B3558"/>
                </a:solidFill>
              </a:rPr>
              <a:t>remote communities (55%) have no confirmed way to call for help.</a:t>
            </a:r>
          </a:p>
        </p:txBody>
      </p:sp>
      <p:sp>
        <p:nvSpPr>
          <p:cNvPr id="10" name="Rectangle 9"/>
          <p:cNvSpPr/>
          <p:nvPr/>
        </p:nvSpPr>
        <p:spPr>
          <a:xfrm>
            <a:off x="884224" y="3364991"/>
            <a:ext cx="73152" cy="96012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03680" y="3337560"/>
            <a:ext cx="3840480" cy="320040"/>
          </a:xfrm>
          <a:prstGeom prst="rect">
            <a:avLst/>
          </a:prstGeom>
          <a:noFill/>
        </p:spPr>
        <p:txBody>
          <a:bodyPr wrap="square" lIns="0" tIns="0" rIns="0" bIns="0" anchor="t">
            <a:spAutoFit/>
          </a:bodyPr>
          <a:lstStyle/>
          <a:p>
            <a:pPr algn="l"/>
            <a:r>
              <a:rPr sz="1700" b="1">
                <a:solidFill>
                  <a:srgbClr val="1B1A4A"/>
                </a:solidFill>
              </a:rPr>
              <a:t>423 never recorded</a:t>
            </a:r>
          </a:p>
        </p:txBody>
      </p:sp>
      <p:sp>
        <p:nvSpPr>
          <p:cNvPr id="12" name="TextBox 11"/>
          <p:cNvSpPr txBox="1"/>
          <p:nvPr/>
        </p:nvSpPr>
        <p:spPr>
          <a:xfrm>
            <a:off x="1103680" y="3703320"/>
            <a:ext cx="3840480" cy="731520"/>
          </a:xfrm>
          <a:prstGeom prst="rect">
            <a:avLst/>
          </a:prstGeom>
          <a:noFill/>
        </p:spPr>
        <p:txBody>
          <a:bodyPr wrap="square" lIns="0" tIns="0" rIns="0" bIns="0" anchor="t">
            <a:spAutoFit/>
          </a:bodyPr>
          <a:lstStyle/>
          <a:p>
            <a:pPr algn="l"/>
            <a:r>
              <a:rPr sz="1400" b="0" dirty="0">
                <a:solidFill>
                  <a:srgbClr val="3B3558"/>
                </a:solidFill>
              </a:rPr>
              <a:t>Nobody has confirmed a signal there. It may exist, but no one has checked.</a:t>
            </a:r>
          </a:p>
        </p:txBody>
      </p:sp>
      <p:sp>
        <p:nvSpPr>
          <p:cNvPr id="13" name="Rectangle 12"/>
          <p:cNvSpPr/>
          <p:nvPr/>
        </p:nvSpPr>
        <p:spPr>
          <a:xfrm>
            <a:off x="884224" y="4828032"/>
            <a:ext cx="73152" cy="96012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03680" y="4800600"/>
            <a:ext cx="3840480" cy="320040"/>
          </a:xfrm>
          <a:prstGeom prst="rect">
            <a:avLst/>
          </a:prstGeom>
          <a:noFill/>
        </p:spPr>
        <p:txBody>
          <a:bodyPr wrap="square" lIns="0" tIns="0" rIns="0" bIns="0" anchor="t">
            <a:spAutoFit/>
          </a:bodyPr>
          <a:lstStyle/>
          <a:p>
            <a:pPr algn="l"/>
            <a:r>
              <a:rPr sz="1700" b="1">
                <a:solidFill>
                  <a:srgbClr val="1B1A4A"/>
                </a:solidFill>
              </a:rPr>
              <a:t>6 listed as none</a:t>
            </a:r>
          </a:p>
        </p:txBody>
      </p:sp>
      <p:sp>
        <p:nvSpPr>
          <p:cNvPr id="15" name="TextBox 14"/>
          <p:cNvSpPr txBox="1"/>
          <p:nvPr/>
        </p:nvSpPr>
        <p:spPr>
          <a:xfrm>
            <a:off x="1103680" y="5166360"/>
            <a:ext cx="3840480" cy="731520"/>
          </a:xfrm>
          <a:prstGeom prst="rect">
            <a:avLst/>
          </a:prstGeom>
          <a:noFill/>
        </p:spPr>
        <p:txBody>
          <a:bodyPr wrap="square" lIns="0" tIns="0" rIns="0" bIns="0" anchor="t">
            <a:spAutoFit/>
          </a:bodyPr>
          <a:lstStyle/>
          <a:p>
            <a:pPr algn="l"/>
            <a:r>
              <a:rPr sz="1400" b="0">
                <a:solidFill>
                  <a:srgbClr val="3B3558"/>
                </a:solidFill>
              </a:rPr>
              <a:t>These are officially listed with no mobile coverage.</a:t>
            </a:r>
          </a:p>
        </p:txBody>
      </p:sp>
      <p:pic>
        <p:nvPicPr>
          <p:cNvPr id="16" name="Picture 15" descr="cov.png"/>
          <p:cNvPicPr>
            <a:picLocks noChangeAspect="1"/>
          </p:cNvPicPr>
          <p:nvPr/>
        </p:nvPicPr>
        <p:blipFill>
          <a:blip r:embed="rId4"/>
          <a:stretch>
            <a:fillRect/>
          </a:stretch>
        </p:blipFill>
        <p:spPr>
          <a:xfrm>
            <a:off x="5035600" y="2043594"/>
            <a:ext cx="6263640" cy="3868091"/>
          </a:xfrm>
          <a:prstGeom prst="rect">
            <a:avLst/>
          </a:prstGeom>
          <a:ln w="12700">
            <a:solidFill>
              <a:srgbClr val="E6DCC8"/>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bg_content.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886968" y="457200"/>
            <a:ext cx="10424160" cy="731520"/>
          </a:xfrm>
        </p:spPr>
        <p:txBody>
          <a:bodyPr wrap="square" lIns="0" anchor="ctr"/>
          <a:lstStyle/>
          <a:p>
            <a:pPr algn="l"/>
            <a:r>
              <a:rPr sz="3000" b="1">
                <a:solidFill>
                  <a:srgbClr val="FFFFFF"/>
                </a:solidFill>
              </a:rPr>
              <a:t>Where the data comes from</a:t>
            </a:r>
          </a:p>
        </p:txBody>
      </p:sp>
      <p:sp>
        <p:nvSpPr>
          <p:cNvPr id="3" name="Rectangle 2"/>
          <p:cNvSpPr/>
          <p:nvPr/>
        </p:nvSpPr>
        <p:spPr>
          <a:xfrm>
            <a:off x="886968"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1188720"/>
            <a:ext cx="10424160" cy="411480"/>
          </a:xfrm>
          <a:prstGeom prst="rect">
            <a:avLst/>
          </a:prstGeom>
          <a:noFill/>
        </p:spPr>
        <p:txBody>
          <a:bodyPr wrap="square" lIns="0" tIns="0" rIns="0" bIns="0" anchor="t">
            <a:spAutoFit/>
          </a:bodyPr>
          <a:lstStyle/>
          <a:p>
            <a:pPr algn="l"/>
            <a:r>
              <a:rPr sz="1600" b="0">
                <a:solidFill>
                  <a:srgbClr val="F3DDB0"/>
                </a:solidFill>
              </a:rPr>
              <a:t>Nine open public sources, cleaned and combined into one community table and one clinic table.</a:t>
            </a:r>
          </a:p>
        </p:txBody>
      </p:sp>
      <p:sp>
        <p:nvSpPr>
          <p:cNvPr id="5" name="TextBox 4"/>
          <p:cNvSpPr txBox="1"/>
          <p:nvPr/>
        </p:nvSpPr>
        <p:spPr>
          <a:xfrm>
            <a:off x="886968" y="6446520"/>
            <a:ext cx="5486400" cy="274320"/>
          </a:xfrm>
          <a:prstGeom prst="rect">
            <a:avLst/>
          </a:prstGeom>
          <a:noFill/>
        </p:spPr>
        <p:txBody>
          <a:bodyPr wrap="square" lIns="0" tIns="0" rIns="0" bIns="0" anchor="t">
            <a:spAutoFit/>
          </a:bodyPr>
          <a:lstStyle/>
          <a:p>
            <a:pPr algn="l"/>
            <a:r>
              <a:rPr sz="1000" b="0" dirty="0">
                <a:solidFill>
                  <a:srgbClr val="F6ECCB"/>
                </a:solidFill>
              </a:rPr>
              <a:t>The Long Way to Care  ·  Team DIC 031</a:t>
            </a:r>
          </a:p>
        </p:txBody>
      </p:sp>
      <p:sp>
        <p:nvSpPr>
          <p:cNvPr id="6" name="TextBox 5"/>
          <p:cNvSpPr txBox="1"/>
          <p:nvPr/>
        </p:nvSpPr>
        <p:spPr>
          <a:xfrm>
            <a:off x="10021824" y="6446520"/>
            <a:ext cx="1280160" cy="274320"/>
          </a:xfrm>
          <a:prstGeom prst="rect">
            <a:avLst/>
          </a:prstGeom>
          <a:noFill/>
        </p:spPr>
        <p:txBody>
          <a:bodyPr wrap="square" lIns="0" tIns="0" rIns="0" bIns="0" anchor="t">
            <a:spAutoFit/>
          </a:bodyPr>
          <a:lstStyle/>
          <a:p>
            <a:pPr algn="r"/>
            <a:r>
              <a:rPr sz="1000" b="0">
                <a:solidFill>
                  <a:srgbClr val="F6ECCB"/>
                </a:solidFill>
              </a:rPr>
              <a:t>4</a:t>
            </a:r>
          </a:p>
        </p:txBody>
      </p:sp>
      <p:graphicFrame>
        <p:nvGraphicFramePr>
          <p:cNvPr id="9" name="Table 8"/>
          <p:cNvGraphicFramePr>
            <a:graphicFrameLocks noGrp="1"/>
          </p:cNvGraphicFramePr>
          <p:nvPr>
            <p:extLst>
              <p:ext uri="{D42A27DB-BD31-4B8C-83A1-F6EECF244321}">
                <p14:modId xmlns:p14="http://schemas.microsoft.com/office/powerpoint/2010/main" val="2268042803"/>
              </p:ext>
            </p:extLst>
          </p:nvPr>
        </p:nvGraphicFramePr>
        <p:xfrm>
          <a:off x="2102069" y="1543521"/>
          <a:ext cx="7987862" cy="4698121"/>
        </p:xfrm>
        <a:graphic>
          <a:graphicData uri="http://schemas.openxmlformats.org/drawingml/2006/table">
            <a:tbl>
              <a:tblPr firstRow="1">
                <a:tableStyleId>{5C22544A-7EE6-4342-B048-85BDC9FD1C3A}</a:tableStyleId>
              </a:tblPr>
              <a:tblGrid>
                <a:gridCol w="4027493">
                  <a:extLst>
                    <a:ext uri="{9D8B030D-6E8A-4147-A177-3AD203B41FA5}">
                      <a16:colId xmlns:a16="http://schemas.microsoft.com/office/drawing/2014/main" val="20000"/>
                    </a:ext>
                  </a:extLst>
                </a:gridCol>
                <a:gridCol w="3960369">
                  <a:extLst>
                    <a:ext uri="{9D8B030D-6E8A-4147-A177-3AD203B41FA5}">
                      <a16:colId xmlns:a16="http://schemas.microsoft.com/office/drawing/2014/main" val="20001"/>
                    </a:ext>
                  </a:extLst>
                </a:gridCol>
              </a:tblGrid>
              <a:tr h="740281">
                <a:tc>
                  <a:txBody>
                    <a:bodyPr/>
                    <a:lstStyle/>
                    <a:p>
                      <a:pPr algn="ctr"/>
                      <a:r>
                        <a:rPr sz="1100" b="1" dirty="0">
                          <a:solidFill>
                            <a:srgbClr val="FFFFFF"/>
                          </a:solidFill>
                        </a:rPr>
                        <a:t>DATASET</a:t>
                      </a:r>
                    </a:p>
                  </a:txBody>
                  <a:tcPr marT="18288" marB="18288" anchor="ctr">
                    <a:solidFill>
                      <a:srgbClr val="1B1A4A"/>
                    </a:solidFill>
                  </a:tcPr>
                </a:tc>
                <a:tc>
                  <a:txBody>
                    <a:bodyPr/>
                    <a:lstStyle/>
                    <a:p>
                      <a:pPr algn="ctr"/>
                      <a:r>
                        <a:rPr sz="1100" b="1">
                          <a:solidFill>
                            <a:srgbClr val="FFFFFF"/>
                          </a:solidFill>
                        </a:rPr>
                        <a:t>PUBLISHER AND YEAR</a:t>
                      </a:r>
                    </a:p>
                  </a:txBody>
                  <a:tcPr marT="18288" marB="18288" anchor="ctr">
                    <a:solidFill>
                      <a:srgbClr val="1B1A4A"/>
                    </a:solidFill>
                  </a:tcPr>
                </a:tc>
                <a:extLst>
                  <a:ext uri="{0D108BD9-81ED-4DB2-BD59-A6C34878D82A}">
                    <a16:rowId xmlns:a16="http://schemas.microsoft.com/office/drawing/2014/main" val="10000"/>
                  </a:ext>
                </a:extLst>
              </a:tr>
              <a:tr h="439760">
                <a:tc>
                  <a:txBody>
                    <a:bodyPr/>
                    <a:lstStyle/>
                    <a:p>
                      <a:pPr algn="ctr"/>
                      <a:r>
                        <a:rPr sz="1200" b="1">
                          <a:solidFill>
                            <a:srgbClr val="1B1A4A"/>
                          </a:solidFill>
                        </a:rPr>
                        <a:t>Remote communities register</a:t>
                      </a:r>
                    </a:p>
                  </a:txBody>
                  <a:tcPr marT="18288" marB="18288" anchor="ctr">
                    <a:solidFill>
                      <a:srgbClr val="FBF0DA"/>
                    </a:solidFill>
                  </a:tcPr>
                </a:tc>
                <a:tc>
                  <a:txBody>
                    <a:bodyPr/>
                    <a:lstStyle/>
                    <a:p>
                      <a:pPr algn="ctr"/>
                      <a:r>
                        <a:rPr sz="1200" b="0">
                          <a:solidFill>
                            <a:srgbClr val="3B3558"/>
                          </a:solidFill>
                        </a:rPr>
                        <a:t>NT Government, 2021</a:t>
                      </a:r>
                    </a:p>
                  </a:txBody>
                  <a:tcPr marT="18288" marB="18288" anchor="ctr">
                    <a:solidFill>
                      <a:srgbClr val="FBF0DA"/>
                    </a:solidFill>
                  </a:tcPr>
                </a:tc>
                <a:extLst>
                  <a:ext uri="{0D108BD9-81ED-4DB2-BD59-A6C34878D82A}">
                    <a16:rowId xmlns:a16="http://schemas.microsoft.com/office/drawing/2014/main" val="10001"/>
                  </a:ext>
                </a:extLst>
              </a:tr>
              <a:tr h="439760">
                <a:tc>
                  <a:txBody>
                    <a:bodyPr/>
                    <a:lstStyle/>
                    <a:p>
                      <a:pPr algn="ctr"/>
                      <a:r>
                        <a:rPr sz="1200" b="1">
                          <a:solidFill>
                            <a:srgbClr val="1B1A4A"/>
                          </a:solidFill>
                        </a:rPr>
                        <a:t>Mobile coverage in remote areas</a:t>
                      </a:r>
                    </a:p>
                  </a:txBody>
                  <a:tcPr marT="18288" marB="18288" anchor="ctr">
                    <a:solidFill>
                      <a:srgbClr val="FFFFFF"/>
                    </a:solidFill>
                  </a:tcPr>
                </a:tc>
                <a:tc>
                  <a:txBody>
                    <a:bodyPr/>
                    <a:lstStyle/>
                    <a:p>
                      <a:pPr algn="ctr"/>
                      <a:r>
                        <a:rPr sz="1200" b="0">
                          <a:solidFill>
                            <a:srgbClr val="3B3558"/>
                          </a:solidFill>
                        </a:rPr>
                        <a:t>NT Government, 2022</a:t>
                      </a:r>
                    </a:p>
                  </a:txBody>
                  <a:tcPr marT="18288" marB="18288" anchor="ctr">
                    <a:solidFill>
                      <a:srgbClr val="FFFFFF"/>
                    </a:solidFill>
                  </a:tcPr>
                </a:tc>
                <a:extLst>
                  <a:ext uri="{0D108BD9-81ED-4DB2-BD59-A6C34878D82A}">
                    <a16:rowId xmlns:a16="http://schemas.microsoft.com/office/drawing/2014/main" val="10002"/>
                  </a:ext>
                </a:extLst>
              </a:tr>
              <a:tr h="439760">
                <a:tc>
                  <a:txBody>
                    <a:bodyPr/>
                    <a:lstStyle/>
                    <a:p>
                      <a:pPr algn="ctr"/>
                      <a:r>
                        <a:rPr sz="1200" b="1">
                          <a:solidFill>
                            <a:srgbClr val="1B1A4A"/>
                          </a:solidFill>
                        </a:rPr>
                        <a:t>Mobile Infrastructure Report</a:t>
                      </a:r>
                    </a:p>
                  </a:txBody>
                  <a:tcPr marT="18288" marB="18288" anchor="ctr">
                    <a:solidFill>
                      <a:srgbClr val="FBF0DA"/>
                    </a:solidFill>
                  </a:tcPr>
                </a:tc>
                <a:tc>
                  <a:txBody>
                    <a:bodyPr/>
                    <a:lstStyle/>
                    <a:p>
                      <a:pPr algn="ctr"/>
                      <a:r>
                        <a:rPr sz="1200" b="0">
                          <a:solidFill>
                            <a:srgbClr val="3B3558"/>
                          </a:solidFill>
                        </a:rPr>
                        <a:t>ACCC, 2025</a:t>
                      </a:r>
                    </a:p>
                  </a:txBody>
                  <a:tcPr marT="18288" marB="18288" anchor="ctr">
                    <a:solidFill>
                      <a:srgbClr val="FBF0DA"/>
                    </a:solidFill>
                  </a:tcPr>
                </a:tc>
                <a:extLst>
                  <a:ext uri="{0D108BD9-81ED-4DB2-BD59-A6C34878D82A}">
                    <a16:rowId xmlns:a16="http://schemas.microsoft.com/office/drawing/2014/main" val="10003"/>
                  </a:ext>
                </a:extLst>
              </a:tr>
              <a:tr h="439760">
                <a:tc>
                  <a:txBody>
                    <a:bodyPr/>
                    <a:lstStyle/>
                    <a:p>
                      <a:pPr algn="ctr"/>
                      <a:r>
                        <a:rPr sz="1200" b="1">
                          <a:solidFill>
                            <a:srgbClr val="1B1A4A"/>
                          </a:solidFill>
                        </a:rPr>
                        <a:t>Healthdirect facilities, NT</a:t>
                      </a:r>
                    </a:p>
                  </a:txBody>
                  <a:tcPr marT="18288" marB="18288" anchor="ctr">
                    <a:solidFill>
                      <a:srgbClr val="FFFFFF"/>
                    </a:solidFill>
                  </a:tcPr>
                </a:tc>
                <a:tc>
                  <a:txBody>
                    <a:bodyPr/>
                    <a:lstStyle/>
                    <a:p>
                      <a:pPr algn="ctr"/>
                      <a:r>
                        <a:rPr sz="1200" b="0">
                          <a:solidFill>
                            <a:srgbClr val="3B3558"/>
                          </a:solidFill>
                        </a:rPr>
                        <a:t>Geoscience Australia, 2025</a:t>
                      </a:r>
                    </a:p>
                  </a:txBody>
                  <a:tcPr marT="18288" marB="18288" anchor="ctr">
                    <a:solidFill>
                      <a:srgbClr val="FFFFFF"/>
                    </a:solidFill>
                  </a:tcPr>
                </a:tc>
                <a:extLst>
                  <a:ext uri="{0D108BD9-81ED-4DB2-BD59-A6C34878D82A}">
                    <a16:rowId xmlns:a16="http://schemas.microsoft.com/office/drawing/2014/main" val="10004"/>
                  </a:ext>
                </a:extLst>
              </a:tr>
              <a:tr h="439760">
                <a:tc>
                  <a:txBody>
                    <a:bodyPr/>
                    <a:lstStyle/>
                    <a:p>
                      <a:pPr algn="ctr"/>
                      <a:r>
                        <a:rPr sz="1200" b="1" dirty="0">
                          <a:solidFill>
                            <a:srgbClr val="1B1A4A"/>
                          </a:solidFill>
                        </a:rPr>
                        <a:t>National road network</a:t>
                      </a:r>
                    </a:p>
                  </a:txBody>
                  <a:tcPr marT="18288" marB="18288" anchor="ctr">
                    <a:solidFill>
                      <a:srgbClr val="FBF0DA"/>
                    </a:solidFill>
                  </a:tcPr>
                </a:tc>
                <a:tc>
                  <a:txBody>
                    <a:bodyPr/>
                    <a:lstStyle/>
                    <a:p>
                      <a:pPr algn="ctr"/>
                      <a:r>
                        <a:rPr sz="1200" b="0">
                          <a:solidFill>
                            <a:srgbClr val="3B3558"/>
                          </a:solidFill>
                        </a:rPr>
                        <a:t>Geoscape (Digital Atlas Australia)</a:t>
                      </a:r>
                    </a:p>
                  </a:txBody>
                  <a:tcPr marT="18288" marB="18288" anchor="ctr">
                    <a:solidFill>
                      <a:srgbClr val="FBF0DA"/>
                    </a:solidFill>
                  </a:tcPr>
                </a:tc>
                <a:extLst>
                  <a:ext uri="{0D108BD9-81ED-4DB2-BD59-A6C34878D82A}">
                    <a16:rowId xmlns:a16="http://schemas.microsoft.com/office/drawing/2014/main" val="10005"/>
                  </a:ext>
                </a:extLst>
              </a:tr>
              <a:tr h="439760">
                <a:tc>
                  <a:txBody>
                    <a:bodyPr/>
                    <a:lstStyle/>
                    <a:p>
                      <a:pPr algn="ctr"/>
                      <a:r>
                        <a:rPr sz="1200" b="1">
                          <a:solidFill>
                            <a:srgbClr val="1B1A4A"/>
                          </a:solidFill>
                        </a:rPr>
                        <a:t>Remote health clinics register</a:t>
                      </a:r>
                    </a:p>
                  </a:txBody>
                  <a:tcPr marT="18288" marB="18288" anchor="ctr">
                    <a:solidFill>
                      <a:srgbClr val="FFFFFF"/>
                    </a:solidFill>
                  </a:tcPr>
                </a:tc>
                <a:tc>
                  <a:txBody>
                    <a:bodyPr/>
                    <a:lstStyle/>
                    <a:p>
                      <a:pPr algn="ctr"/>
                      <a:r>
                        <a:rPr sz="1200" b="0">
                          <a:solidFill>
                            <a:srgbClr val="3B3558"/>
                          </a:solidFill>
                        </a:rPr>
                        <a:t>NT Government, 2026</a:t>
                      </a:r>
                    </a:p>
                  </a:txBody>
                  <a:tcPr marT="18288" marB="18288" anchor="ctr">
                    <a:solidFill>
                      <a:srgbClr val="FFFFFF"/>
                    </a:solidFill>
                  </a:tcPr>
                </a:tc>
                <a:extLst>
                  <a:ext uri="{0D108BD9-81ED-4DB2-BD59-A6C34878D82A}">
                    <a16:rowId xmlns:a16="http://schemas.microsoft.com/office/drawing/2014/main" val="10006"/>
                  </a:ext>
                </a:extLst>
              </a:tr>
              <a:tr h="439760">
                <a:tc>
                  <a:txBody>
                    <a:bodyPr/>
                    <a:lstStyle/>
                    <a:p>
                      <a:pPr algn="ctr"/>
                      <a:r>
                        <a:rPr sz="1200" b="1">
                          <a:solidFill>
                            <a:srgbClr val="1B1A4A"/>
                          </a:solidFill>
                        </a:rPr>
                        <a:t>Tropical cyclone tracks</a:t>
                      </a:r>
                    </a:p>
                  </a:txBody>
                  <a:tcPr marT="18288" marB="18288" anchor="ctr">
                    <a:solidFill>
                      <a:srgbClr val="FBF0DA"/>
                    </a:solidFill>
                  </a:tcPr>
                </a:tc>
                <a:tc>
                  <a:txBody>
                    <a:bodyPr/>
                    <a:lstStyle/>
                    <a:p>
                      <a:pPr algn="ctr"/>
                      <a:r>
                        <a:rPr sz="1200" b="0">
                          <a:solidFill>
                            <a:srgbClr val="3B3558"/>
                          </a:solidFill>
                        </a:rPr>
                        <a:t>Bureau of Meteorology</a:t>
                      </a:r>
                    </a:p>
                  </a:txBody>
                  <a:tcPr marT="18288" marB="18288" anchor="ctr">
                    <a:solidFill>
                      <a:srgbClr val="FBF0DA"/>
                    </a:solidFill>
                  </a:tcPr>
                </a:tc>
                <a:extLst>
                  <a:ext uri="{0D108BD9-81ED-4DB2-BD59-A6C34878D82A}">
                    <a16:rowId xmlns:a16="http://schemas.microsoft.com/office/drawing/2014/main" val="10007"/>
                  </a:ext>
                </a:extLst>
              </a:tr>
              <a:tr h="439760">
                <a:tc>
                  <a:txBody>
                    <a:bodyPr/>
                    <a:lstStyle/>
                    <a:p>
                      <a:pPr algn="ctr"/>
                      <a:r>
                        <a:rPr sz="1200" b="1">
                          <a:solidFill>
                            <a:srgbClr val="1B1A4A"/>
                          </a:solidFill>
                        </a:rPr>
                        <a:t>Preventable hospitalisations</a:t>
                      </a:r>
                    </a:p>
                  </a:txBody>
                  <a:tcPr marT="18288" marB="18288" anchor="ctr">
                    <a:solidFill>
                      <a:srgbClr val="FFFFFF"/>
                    </a:solidFill>
                  </a:tcPr>
                </a:tc>
                <a:tc>
                  <a:txBody>
                    <a:bodyPr/>
                    <a:lstStyle/>
                    <a:p>
                      <a:pPr algn="ctr"/>
                      <a:r>
                        <a:rPr sz="1200" b="0">
                          <a:solidFill>
                            <a:srgbClr val="3B3558"/>
                          </a:solidFill>
                        </a:rPr>
                        <a:t>AIHW</a:t>
                      </a:r>
                    </a:p>
                  </a:txBody>
                  <a:tcPr marT="18288" marB="18288" anchor="ctr">
                    <a:solidFill>
                      <a:srgbClr val="FFFFFF"/>
                    </a:solidFill>
                  </a:tcPr>
                </a:tc>
                <a:extLst>
                  <a:ext uri="{0D108BD9-81ED-4DB2-BD59-A6C34878D82A}">
                    <a16:rowId xmlns:a16="http://schemas.microsoft.com/office/drawing/2014/main" val="10008"/>
                  </a:ext>
                </a:extLst>
              </a:tr>
              <a:tr h="439760">
                <a:tc>
                  <a:txBody>
                    <a:bodyPr/>
                    <a:lstStyle/>
                    <a:p>
                      <a:pPr algn="ctr"/>
                      <a:r>
                        <a:rPr sz="1200" b="1" dirty="0">
                          <a:solidFill>
                            <a:srgbClr val="1B1A4A"/>
                          </a:solidFill>
                        </a:rPr>
                        <a:t>First Nations digital inclusion</a:t>
                      </a:r>
                    </a:p>
                  </a:txBody>
                  <a:tcPr marT="18288" marB="18288" anchor="ctr">
                    <a:solidFill>
                      <a:srgbClr val="FBF0DA"/>
                    </a:solidFill>
                  </a:tcPr>
                </a:tc>
                <a:tc>
                  <a:txBody>
                    <a:bodyPr/>
                    <a:lstStyle/>
                    <a:p>
                      <a:pPr algn="ctr"/>
                      <a:r>
                        <a:rPr sz="1200" b="0" dirty="0">
                          <a:solidFill>
                            <a:srgbClr val="3B3558"/>
                          </a:solidFill>
                        </a:rPr>
                        <a:t>Australian Digital Inclusion Index</a:t>
                      </a:r>
                    </a:p>
                  </a:txBody>
                  <a:tcPr marT="18288" marB="18288" anchor="ctr">
                    <a:solidFill>
                      <a:srgbClr val="FBF0DA"/>
                    </a:solidFill>
                  </a:tcPr>
                </a:tc>
                <a:extLst>
                  <a:ext uri="{0D108BD9-81ED-4DB2-BD59-A6C34878D82A}">
                    <a16:rowId xmlns:a16="http://schemas.microsoft.com/office/drawing/2014/main" val="10009"/>
                  </a:ext>
                </a:extLst>
              </a:tr>
            </a:tbl>
          </a:graphicData>
        </a:graphic>
      </p:graphicFrame>
      <p:sp>
        <p:nvSpPr>
          <p:cNvPr id="10" name="TextBox 9"/>
          <p:cNvSpPr txBox="1"/>
          <p:nvPr/>
        </p:nvSpPr>
        <p:spPr>
          <a:xfrm>
            <a:off x="3961454" y="6453067"/>
            <a:ext cx="3164560" cy="200055"/>
          </a:xfrm>
          <a:prstGeom prst="rect">
            <a:avLst/>
          </a:prstGeom>
          <a:noFill/>
        </p:spPr>
        <p:txBody>
          <a:bodyPr wrap="square" lIns="0" tIns="0" rIns="0" bIns="0" anchor="t">
            <a:spAutoFit/>
          </a:bodyPr>
          <a:lstStyle/>
          <a:p>
            <a:pPr algn="l"/>
            <a:r>
              <a:rPr lang="en-US" sz="1300" b="1" dirty="0">
                <a:solidFill>
                  <a:schemeClr val="bg1"/>
                </a:solidFill>
              </a:rPr>
              <a:t>All sources are publicly available data</a:t>
            </a:r>
            <a:endParaRPr lang="en-US" sz="1200" b="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descr="bg_content.png"/>
          <p:cNvPicPr>
            <a:picLocks noChangeAspect="1"/>
          </p:cNvPicPr>
          <p:nvPr/>
        </p:nvPicPr>
        <p:blipFill>
          <a:blip r:embed="rId3"/>
          <a:stretch>
            <a:fillRect/>
          </a:stretch>
        </p:blipFill>
        <p:spPr>
          <a:xfrm>
            <a:off x="0" y="0"/>
            <a:ext cx="12192000" cy="6858000"/>
          </a:xfrm>
          <a:prstGeom prst="rect">
            <a:avLst/>
          </a:prstGeom>
        </p:spPr>
      </p:pic>
      <p:sp>
        <p:nvSpPr>
          <p:cNvPr id="30" name="Rounded Rectangle 29"/>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lstStyle/>
          <a:p>
            <a:pPr algn="l"/>
            <a:r>
              <a:rPr sz="3000" b="1" dirty="0">
                <a:solidFill>
                  <a:srgbClr val="FFFFFF"/>
                </a:solidFill>
              </a:rPr>
              <a:t>How we measured it</a:t>
            </a:r>
            <a:r>
              <a:rPr lang="en-US" sz="3000" b="1" dirty="0">
                <a:solidFill>
                  <a:srgbClr val="FFFFFF"/>
                </a:solidFill>
              </a:rPr>
              <a:t>: Gap Index</a:t>
            </a:r>
            <a:endParaRPr sz="3000" b="1" dirty="0">
              <a:solidFill>
                <a:srgbClr val="1B1A4A"/>
              </a:solidFill>
            </a:endParaRP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4224" y="1188720"/>
            <a:ext cx="10424160" cy="411480"/>
          </a:xfrm>
          <a:prstGeom prst="rect">
            <a:avLst/>
          </a:prstGeom>
          <a:noFill/>
        </p:spPr>
        <p:txBody>
          <a:bodyPr wrap="square" lIns="0" tIns="0" rIns="0" bIns="0" anchor="t">
            <a:spAutoFit/>
          </a:bodyPr>
          <a:lstStyle/>
          <a:p>
            <a:pPr algn="l"/>
            <a:r>
              <a:rPr sz="1600" b="0">
                <a:solidFill>
                  <a:srgbClr val="F3DDB0"/>
                </a:solidFill>
              </a:rPr>
              <a:t>Four simple questions about each community, combined into one score.</a:t>
            </a: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3</a:t>
            </a:r>
          </a:p>
        </p:txBody>
      </p:sp>
      <p:sp>
        <p:nvSpPr>
          <p:cNvPr id="7" name="Rounded Rectangle 6"/>
          <p:cNvSpPr/>
          <p:nvPr/>
        </p:nvSpPr>
        <p:spPr>
          <a:xfrm>
            <a:off x="884224" y="1828800"/>
            <a:ext cx="2468880" cy="201168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67104" y="2011680"/>
            <a:ext cx="502920" cy="9144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7104" y="2286000"/>
            <a:ext cx="2103120" cy="365760"/>
          </a:xfrm>
          <a:prstGeom prst="rect">
            <a:avLst/>
          </a:prstGeom>
          <a:noFill/>
        </p:spPr>
        <p:txBody>
          <a:bodyPr wrap="square" lIns="0" tIns="0" rIns="0" bIns="0" anchor="t">
            <a:spAutoFit/>
          </a:bodyPr>
          <a:lstStyle/>
          <a:p>
            <a:pPr algn="l"/>
            <a:r>
              <a:rPr sz="1700" b="1">
                <a:solidFill>
                  <a:srgbClr val="1B1A4A"/>
                </a:solidFill>
              </a:rPr>
              <a:t>Can they call?</a:t>
            </a:r>
          </a:p>
        </p:txBody>
      </p:sp>
      <p:sp>
        <p:nvSpPr>
          <p:cNvPr id="10" name="TextBox 9"/>
          <p:cNvSpPr txBox="1"/>
          <p:nvPr/>
        </p:nvSpPr>
        <p:spPr>
          <a:xfrm>
            <a:off x="1067104" y="2743200"/>
            <a:ext cx="2103120" cy="1005840"/>
          </a:xfrm>
          <a:prstGeom prst="rect">
            <a:avLst/>
          </a:prstGeom>
          <a:noFill/>
        </p:spPr>
        <p:txBody>
          <a:bodyPr wrap="square" lIns="0" tIns="0" rIns="0" bIns="0" anchor="t">
            <a:spAutoFit/>
          </a:bodyPr>
          <a:lstStyle/>
          <a:p>
            <a:pPr algn="l"/>
            <a:r>
              <a:rPr sz="1500" b="0">
                <a:solidFill>
                  <a:srgbClr val="3B3558"/>
                </a:solidFill>
              </a:rPr>
              <a:t>Is there confirmed mobile coverage nearby?</a:t>
            </a:r>
          </a:p>
        </p:txBody>
      </p:sp>
      <p:sp>
        <p:nvSpPr>
          <p:cNvPr id="11" name="Rounded Rectangle 10"/>
          <p:cNvSpPr/>
          <p:nvPr/>
        </p:nvSpPr>
        <p:spPr>
          <a:xfrm>
            <a:off x="3535984" y="1828800"/>
            <a:ext cx="2468880" cy="201168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718864" y="2011680"/>
            <a:ext cx="502920" cy="9144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18864" y="2286000"/>
            <a:ext cx="2103120" cy="365760"/>
          </a:xfrm>
          <a:prstGeom prst="rect">
            <a:avLst/>
          </a:prstGeom>
          <a:noFill/>
        </p:spPr>
        <p:txBody>
          <a:bodyPr wrap="square" lIns="0" tIns="0" rIns="0" bIns="0" anchor="t">
            <a:spAutoFit/>
          </a:bodyPr>
          <a:lstStyle/>
          <a:p>
            <a:pPr algn="l"/>
            <a:r>
              <a:rPr sz="1700" b="1">
                <a:solidFill>
                  <a:srgbClr val="1B1A4A"/>
                </a:solidFill>
              </a:rPr>
              <a:t>Nearest clinic</a:t>
            </a:r>
          </a:p>
        </p:txBody>
      </p:sp>
      <p:sp>
        <p:nvSpPr>
          <p:cNvPr id="14" name="TextBox 13"/>
          <p:cNvSpPr txBox="1"/>
          <p:nvPr/>
        </p:nvSpPr>
        <p:spPr>
          <a:xfrm>
            <a:off x="3718864" y="2743200"/>
            <a:ext cx="2103120" cy="1005840"/>
          </a:xfrm>
          <a:prstGeom prst="rect">
            <a:avLst/>
          </a:prstGeom>
          <a:noFill/>
        </p:spPr>
        <p:txBody>
          <a:bodyPr wrap="square" lIns="0" tIns="0" rIns="0" bIns="0" anchor="t">
            <a:spAutoFit/>
          </a:bodyPr>
          <a:lstStyle/>
          <a:p>
            <a:pPr algn="l"/>
            <a:r>
              <a:rPr sz="1500" b="0">
                <a:solidFill>
                  <a:srgbClr val="3B3558"/>
                </a:solidFill>
              </a:rPr>
              <a:t>How long is the drive to the closest remote clinic?</a:t>
            </a:r>
          </a:p>
        </p:txBody>
      </p:sp>
      <p:sp>
        <p:nvSpPr>
          <p:cNvPr id="15" name="Rounded Rectangle 14"/>
          <p:cNvSpPr/>
          <p:nvPr/>
        </p:nvSpPr>
        <p:spPr>
          <a:xfrm>
            <a:off x="6187744" y="1828800"/>
            <a:ext cx="2468880" cy="201168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370624" y="2011680"/>
            <a:ext cx="502920" cy="9144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0624" y="2286000"/>
            <a:ext cx="2103120" cy="365760"/>
          </a:xfrm>
          <a:prstGeom prst="rect">
            <a:avLst/>
          </a:prstGeom>
          <a:noFill/>
        </p:spPr>
        <p:txBody>
          <a:bodyPr wrap="square" lIns="0" tIns="0" rIns="0" bIns="0" anchor="t">
            <a:spAutoFit/>
          </a:bodyPr>
          <a:lstStyle/>
          <a:p>
            <a:pPr algn="l"/>
            <a:r>
              <a:rPr sz="1700" b="1">
                <a:solidFill>
                  <a:srgbClr val="1B1A4A"/>
                </a:solidFill>
              </a:rPr>
              <a:t>Nearest hospital</a:t>
            </a:r>
          </a:p>
        </p:txBody>
      </p:sp>
      <p:sp>
        <p:nvSpPr>
          <p:cNvPr id="18" name="TextBox 17"/>
          <p:cNvSpPr txBox="1"/>
          <p:nvPr/>
        </p:nvSpPr>
        <p:spPr>
          <a:xfrm>
            <a:off x="6370624" y="2743200"/>
            <a:ext cx="2103120" cy="1005840"/>
          </a:xfrm>
          <a:prstGeom prst="rect">
            <a:avLst/>
          </a:prstGeom>
          <a:noFill/>
        </p:spPr>
        <p:txBody>
          <a:bodyPr wrap="square" lIns="0" tIns="0" rIns="0" bIns="0" anchor="t">
            <a:spAutoFit/>
          </a:bodyPr>
          <a:lstStyle/>
          <a:p>
            <a:pPr algn="l"/>
            <a:r>
              <a:rPr sz="1500" b="0">
                <a:solidFill>
                  <a:srgbClr val="3B3558"/>
                </a:solidFill>
              </a:rPr>
              <a:t>How long is the drive to a hospital emergency department?</a:t>
            </a:r>
          </a:p>
        </p:txBody>
      </p:sp>
      <p:sp>
        <p:nvSpPr>
          <p:cNvPr id="19" name="Rounded Rectangle 18"/>
          <p:cNvSpPr/>
          <p:nvPr/>
        </p:nvSpPr>
        <p:spPr>
          <a:xfrm>
            <a:off x="8839504" y="1828800"/>
            <a:ext cx="2468880" cy="201168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022384" y="2011680"/>
            <a:ext cx="502920" cy="9144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22384" y="2286000"/>
            <a:ext cx="2103120" cy="365760"/>
          </a:xfrm>
          <a:prstGeom prst="rect">
            <a:avLst/>
          </a:prstGeom>
          <a:noFill/>
        </p:spPr>
        <p:txBody>
          <a:bodyPr wrap="square" lIns="0" tIns="0" rIns="0" bIns="0" anchor="t">
            <a:spAutoFit/>
          </a:bodyPr>
          <a:lstStyle/>
          <a:p>
            <a:pPr algn="l"/>
            <a:r>
              <a:rPr sz="1700" b="1">
                <a:solidFill>
                  <a:srgbClr val="1B1A4A"/>
                </a:solidFill>
              </a:rPr>
              <a:t>Sealed road?</a:t>
            </a:r>
          </a:p>
        </p:txBody>
      </p:sp>
      <p:sp>
        <p:nvSpPr>
          <p:cNvPr id="22" name="TextBox 21"/>
          <p:cNvSpPr txBox="1"/>
          <p:nvPr/>
        </p:nvSpPr>
        <p:spPr>
          <a:xfrm>
            <a:off x="9022384" y="2743200"/>
            <a:ext cx="2103120" cy="1005840"/>
          </a:xfrm>
          <a:prstGeom prst="rect">
            <a:avLst/>
          </a:prstGeom>
          <a:noFill/>
        </p:spPr>
        <p:txBody>
          <a:bodyPr wrap="square" lIns="0" tIns="0" rIns="0" bIns="0" anchor="t">
            <a:spAutoFit/>
          </a:bodyPr>
          <a:lstStyle/>
          <a:p>
            <a:pPr algn="l"/>
            <a:r>
              <a:rPr sz="1500" b="0">
                <a:solidFill>
                  <a:srgbClr val="3B3558"/>
                </a:solidFill>
              </a:rPr>
              <a:t>Is there a sealed road all the way out?</a:t>
            </a:r>
          </a:p>
        </p:txBody>
      </p:sp>
      <p:sp>
        <p:nvSpPr>
          <p:cNvPr id="23" name="Rounded Rectangle 22"/>
          <p:cNvSpPr/>
          <p:nvPr/>
        </p:nvSpPr>
        <p:spPr>
          <a:xfrm>
            <a:off x="884224" y="4206240"/>
            <a:ext cx="3108960" cy="600538"/>
          </a:xfrm>
          <a:prstGeom prst="roundRect">
            <a:avLst>
              <a:gd name="adj" fmla="val 50000"/>
            </a:avLst>
          </a:prstGeom>
          <a:solidFill>
            <a:srgbClr val="1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Average of the four</a:t>
            </a:r>
          </a:p>
        </p:txBody>
      </p:sp>
      <p:sp>
        <p:nvSpPr>
          <p:cNvPr id="24" name="Right Arrow 23"/>
          <p:cNvSpPr/>
          <p:nvPr/>
        </p:nvSpPr>
        <p:spPr>
          <a:xfrm>
            <a:off x="4121200" y="4434840"/>
            <a:ext cx="457200" cy="274320"/>
          </a:xfrm>
          <a:prstGeom prst="rightArrow">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715560" y="4206240"/>
            <a:ext cx="2743200" cy="731520"/>
          </a:xfrm>
          <a:prstGeom prst="roundRect">
            <a:avLst>
              <a:gd name="adj" fmla="val 50000"/>
            </a:avLst>
          </a:prstGeom>
          <a:solidFill>
            <a:srgbClr val="1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Gap Index, 0 to 1</a:t>
            </a:r>
          </a:p>
        </p:txBody>
      </p:sp>
      <p:sp>
        <p:nvSpPr>
          <p:cNvPr id="26" name="Right Arrow 25"/>
          <p:cNvSpPr/>
          <p:nvPr/>
        </p:nvSpPr>
        <p:spPr>
          <a:xfrm>
            <a:off x="7595920" y="4434840"/>
            <a:ext cx="457200" cy="274320"/>
          </a:xfrm>
          <a:prstGeom prst="rightArrow">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190280" y="4206240"/>
            <a:ext cx="2651760" cy="731520"/>
          </a:xfrm>
          <a:prstGeom prst="roundRect">
            <a:avLst>
              <a:gd name="adj" fmla="val 50000"/>
            </a:avLst>
          </a:prstGeom>
          <a:solidFill>
            <a:srgbClr val="1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Four risk tiers</a:t>
            </a:r>
          </a:p>
        </p:txBody>
      </p:sp>
      <p:sp>
        <p:nvSpPr>
          <p:cNvPr id="28" name="TextBox 27"/>
          <p:cNvSpPr txBox="1"/>
          <p:nvPr/>
        </p:nvSpPr>
        <p:spPr>
          <a:xfrm>
            <a:off x="884224" y="5257800"/>
            <a:ext cx="10424160" cy="1005840"/>
          </a:xfrm>
          <a:prstGeom prst="rect">
            <a:avLst/>
          </a:prstGeom>
          <a:noFill/>
        </p:spPr>
        <p:txBody>
          <a:bodyPr wrap="square" lIns="0" tIns="0" rIns="0" bIns="0" anchor="t">
            <a:spAutoFit/>
          </a:bodyPr>
          <a:lstStyle/>
          <a:p>
            <a:pPr algn="l"/>
            <a:r>
              <a:rPr sz="1600" b="1" dirty="0">
                <a:solidFill>
                  <a:srgbClr val="1B1A4A"/>
                </a:solidFill>
              </a:rPr>
              <a:t>0 means well connected. 1 means most cut off.</a:t>
            </a:r>
          </a:p>
          <a:p>
            <a:pPr algn="l"/>
            <a:r>
              <a:rPr sz="1400" b="0" dirty="0">
                <a:solidFill>
                  <a:srgbClr val="3B3558"/>
                </a:solidFill>
              </a:rPr>
              <a:t>Example: Tennant Creek scores 0.01. </a:t>
            </a:r>
            <a:r>
              <a:rPr sz="1400" b="0" dirty="0" err="1">
                <a:solidFill>
                  <a:srgbClr val="3B3558"/>
                </a:solidFill>
              </a:rPr>
              <a:t>Kumunu</a:t>
            </a:r>
            <a:r>
              <a:rPr sz="1400" b="0" dirty="0">
                <a:solidFill>
                  <a:srgbClr val="3B3558"/>
                </a:solidFill>
              </a:rPr>
              <a:t>, a remote family outstation, scores 1.0.</a:t>
            </a:r>
          </a:p>
          <a:p>
            <a:pPr algn="l"/>
            <a:r>
              <a:rPr sz="1400" b="0" dirty="0">
                <a:solidFill>
                  <a:srgbClr val="3B3558"/>
                </a:solidFill>
              </a:rPr>
              <a:t>Where a drive time could not be mapped, we scored the place as worst case rather than leave it out.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bg_content.png"/>
          <p:cNvPicPr>
            <a:picLocks noChangeAspect="1"/>
          </p:cNvPicPr>
          <p:nvPr/>
        </p:nvPicPr>
        <p:blipFill>
          <a:blip r:embed="rId3"/>
          <a:stretch>
            <a:fillRect/>
          </a:stretch>
        </p:blipFill>
        <p:spPr>
          <a:xfrm>
            <a:off x="0" y="0"/>
            <a:ext cx="12192000" cy="6858000"/>
          </a:xfrm>
          <a:prstGeom prst="rect">
            <a:avLst/>
          </a:prstGeom>
        </p:spPr>
      </p:pic>
      <p:sp>
        <p:nvSpPr>
          <p:cNvPr id="18" name="Rounded Rectangle 17"/>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lstStyle/>
          <a:p>
            <a:pPr algn="l"/>
            <a:r>
              <a:rPr sz="3000" b="1">
                <a:solidFill>
                  <a:srgbClr val="FFFFFF"/>
                </a:solidFill>
              </a:rPr>
              <a:t>Every region is affected</a:t>
            </a: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1188720"/>
            <a:ext cx="10424160" cy="411480"/>
          </a:xfrm>
          <a:prstGeom prst="rect">
            <a:avLst/>
          </a:prstGeom>
          <a:noFill/>
        </p:spPr>
        <p:txBody>
          <a:bodyPr wrap="square" lIns="0" tIns="0" rIns="0" bIns="0" anchor="t">
            <a:spAutoFit/>
          </a:bodyPr>
          <a:lstStyle/>
          <a:p>
            <a:pPr algn="l"/>
            <a:r>
              <a:rPr sz="1600" b="0">
                <a:solidFill>
                  <a:srgbClr val="F3DDB0"/>
                </a:solidFill>
              </a:rPr>
              <a:t>Coverage status of communities in the five NT health regions.</a:t>
            </a: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5</a:t>
            </a:r>
          </a:p>
        </p:txBody>
      </p:sp>
      <p:sp>
        <p:nvSpPr>
          <p:cNvPr id="7" name="Rectangle 6"/>
          <p:cNvSpPr/>
          <p:nvPr/>
        </p:nvSpPr>
        <p:spPr>
          <a:xfrm>
            <a:off x="884224" y="1901951"/>
            <a:ext cx="73152" cy="96012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03680" y="1874519"/>
            <a:ext cx="3840480" cy="320040"/>
          </a:xfrm>
          <a:prstGeom prst="rect">
            <a:avLst/>
          </a:prstGeom>
          <a:noFill/>
        </p:spPr>
        <p:txBody>
          <a:bodyPr wrap="square" lIns="0" tIns="0" rIns="0" bIns="0" anchor="t">
            <a:spAutoFit/>
          </a:bodyPr>
          <a:lstStyle/>
          <a:p>
            <a:pPr algn="l"/>
            <a:r>
              <a:rPr sz="1700" b="1">
                <a:solidFill>
                  <a:srgbClr val="1B1A4A"/>
                </a:solidFill>
              </a:rPr>
              <a:t>Red is the biggest block</a:t>
            </a:r>
          </a:p>
        </p:txBody>
      </p:sp>
      <p:sp>
        <p:nvSpPr>
          <p:cNvPr id="9" name="TextBox 8"/>
          <p:cNvSpPr txBox="1"/>
          <p:nvPr/>
        </p:nvSpPr>
        <p:spPr>
          <a:xfrm>
            <a:off x="1103680" y="2240279"/>
            <a:ext cx="3840480" cy="731520"/>
          </a:xfrm>
          <a:prstGeom prst="rect">
            <a:avLst/>
          </a:prstGeom>
          <a:noFill/>
        </p:spPr>
        <p:txBody>
          <a:bodyPr wrap="square" lIns="0" tIns="0" rIns="0" bIns="0" anchor="t">
            <a:spAutoFit/>
          </a:bodyPr>
          <a:lstStyle/>
          <a:p>
            <a:pPr algn="l"/>
            <a:r>
              <a:rPr sz="1400" b="0">
                <a:solidFill>
                  <a:srgbClr val="3B3558"/>
                </a:solidFill>
              </a:rPr>
              <a:t>In all five regions, 'never recorded' is the largest group.</a:t>
            </a:r>
          </a:p>
        </p:txBody>
      </p:sp>
      <p:sp>
        <p:nvSpPr>
          <p:cNvPr id="10" name="Rectangle 9"/>
          <p:cNvSpPr/>
          <p:nvPr/>
        </p:nvSpPr>
        <p:spPr>
          <a:xfrm>
            <a:off x="884224" y="3410711"/>
            <a:ext cx="73152" cy="96012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03680" y="3383279"/>
            <a:ext cx="3840480" cy="320040"/>
          </a:xfrm>
          <a:prstGeom prst="rect">
            <a:avLst/>
          </a:prstGeom>
          <a:noFill/>
        </p:spPr>
        <p:txBody>
          <a:bodyPr wrap="square" lIns="0" tIns="0" rIns="0" bIns="0" anchor="t">
            <a:spAutoFit/>
          </a:bodyPr>
          <a:lstStyle/>
          <a:p>
            <a:pPr algn="l"/>
            <a:r>
              <a:rPr sz="1700" b="1">
                <a:solidFill>
                  <a:srgbClr val="1B1A4A"/>
                </a:solidFill>
              </a:rPr>
              <a:t>Highest share with no call</a:t>
            </a:r>
          </a:p>
        </p:txBody>
      </p:sp>
      <p:sp>
        <p:nvSpPr>
          <p:cNvPr id="12" name="TextBox 11"/>
          <p:cNvSpPr txBox="1"/>
          <p:nvPr/>
        </p:nvSpPr>
        <p:spPr>
          <a:xfrm>
            <a:off x="1103680" y="3749039"/>
            <a:ext cx="3840480" cy="731520"/>
          </a:xfrm>
          <a:prstGeom prst="rect">
            <a:avLst/>
          </a:prstGeom>
          <a:noFill/>
        </p:spPr>
        <p:txBody>
          <a:bodyPr wrap="square" lIns="0" tIns="0" rIns="0" bIns="0" anchor="t">
            <a:spAutoFit/>
          </a:bodyPr>
          <a:lstStyle/>
          <a:p>
            <a:pPr algn="l"/>
            <a:r>
              <a:rPr sz="1400" b="0">
                <a:solidFill>
                  <a:srgbClr val="3B3558"/>
                </a:solidFill>
              </a:rPr>
              <a:t>Barkly 65%, Big Rivers 61% and East Arnhem 61% of communities.</a:t>
            </a:r>
          </a:p>
        </p:txBody>
      </p:sp>
      <p:sp>
        <p:nvSpPr>
          <p:cNvPr id="13" name="Rectangle 12"/>
          <p:cNvSpPr/>
          <p:nvPr/>
        </p:nvSpPr>
        <p:spPr>
          <a:xfrm>
            <a:off x="884224" y="4919472"/>
            <a:ext cx="73152" cy="96012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03680" y="4892040"/>
            <a:ext cx="3840480" cy="320040"/>
          </a:xfrm>
          <a:prstGeom prst="rect">
            <a:avLst/>
          </a:prstGeom>
          <a:noFill/>
        </p:spPr>
        <p:txBody>
          <a:bodyPr wrap="square" lIns="0" tIns="0" rIns="0" bIns="0" anchor="t">
            <a:spAutoFit/>
          </a:bodyPr>
          <a:lstStyle/>
          <a:p>
            <a:pPr algn="l"/>
            <a:r>
              <a:rPr sz="1700" b="1">
                <a:solidFill>
                  <a:srgbClr val="1B1A4A"/>
                </a:solidFill>
              </a:rPr>
              <a:t>Most communities</a:t>
            </a:r>
          </a:p>
        </p:txBody>
      </p:sp>
      <p:sp>
        <p:nvSpPr>
          <p:cNvPr id="15" name="TextBox 14"/>
          <p:cNvSpPr txBox="1"/>
          <p:nvPr/>
        </p:nvSpPr>
        <p:spPr>
          <a:xfrm>
            <a:off x="1103680" y="5257800"/>
            <a:ext cx="3840480" cy="731520"/>
          </a:xfrm>
          <a:prstGeom prst="rect">
            <a:avLst/>
          </a:prstGeom>
          <a:noFill/>
        </p:spPr>
        <p:txBody>
          <a:bodyPr wrap="square" lIns="0" tIns="0" rIns="0" bIns="0" anchor="t">
            <a:spAutoFit/>
          </a:bodyPr>
          <a:lstStyle/>
          <a:p>
            <a:pPr algn="l"/>
            <a:r>
              <a:rPr sz="1400" b="0">
                <a:solidFill>
                  <a:srgbClr val="3B3558"/>
                </a:solidFill>
              </a:rPr>
              <a:t>Central Australia has 239 places. About half (49%) cannot call.</a:t>
            </a:r>
          </a:p>
        </p:txBody>
      </p:sp>
      <p:pic>
        <p:nvPicPr>
          <p:cNvPr id="16" name="Picture 15" descr="region.png"/>
          <p:cNvPicPr>
            <a:picLocks noChangeAspect="1"/>
          </p:cNvPicPr>
          <p:nvPr/>
        </p:nvPicPr>
        <p:blipFill>
          <a:blip r:embed="rId4"/>
          <a:stretch>
            <a:fillRect/>
          </a:stretch>
        </p:blipFill>
        <p:spPr>
          <a:xfrm>
            <a:off x="5035600" y="2186427"/>
            <a:ext cx="6263640" cy="3582425"/>
          </a:xfrm>
          <a:prstGeom prst="rect">
            <a:avLst/>
          </a:prstGeom>
          <a:ln w="12700">
            <a:solidFill>
              <a:srgbClr val="E6DCC8"/>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bg_content.png"/>
          <p:cNvPicPr>
            <a:picLocks noChangeAspect="1"/>
          </p:cNvPicPr>
          <p:nvPr/>
        </p:nvPicPr>
        <p:blipFill>
          <a:blip r:embed="rId3"/>
          <a:stretch>
            <a:fillRect/>
          </a:stretch>
        </p:blipFill>
        <p:spPr>
          <a:xfrm>
            <a:off x="11017" y="0"/>
            <a:ext cx="12192000" cy="6858000"/>
          </a:xfrm>
          <a:prstGeom prst="rect">
            <a:avLst/>
          </a:prstGeom>
        </p:spPr>
      </p:pic>
      <p:sp>
        <p:nvSpPr>
          <p:cNvPr id="11" name="Rounded Rectangle 10"/>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lstStyle/>
          <a:p>
            <a:pPr algn="l"/>
            <a:r>
              <a:rPr sz="3000" b="1">
                <a:solidFill>
                  <a:srgbClr val="FFFFFF"/>
                </a:solidFill>
              </a:rPr>
              <a:t>Small family outstations are hit hardest</a:t>
            </a: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624889" y="1223427"/>
            <a:ext cx="1374234" cy="246221"/>
          </a:xfrm>
          <a:prstGeom prst="rect">
            <a:avLst/>
          </a:prstGeom>
          <a:noFill/>
        </p:spPr>
        <p:txBody>
          <a:bodyPr wrap="square" lIns="0" tIns="0" rIns="0" bIns="0" anchor="t">
            <a:spAutoFit/>
          </a:bodyPr>
          <a:lstStyle/>
          <a:p>
            <a:pPr algn="l"/>
            <a:r>
              <a:rPr lang="en-US" sz="1600" b="0" dirty="0">
                <a:solidFill>
                  <a:srgbClr val="F3DDB0"/>
                </a:solidFill>
              </a:rPr>
              <a:t>Who </a:t>
            </a:r>
            <a:r>
              <a:rPr sz="1600" b="0" dirty="0">
                <a:solidFill>
                  <a:srgbClr val="F3DDB0"/>
                </a:solidFill>
              </a:rPr>
              <a:t>can call</a:t>
            </a:r>
            <a:r>
              <a:rPr lang="en-US" sz="1600" b="0" dirty="0">
                <a:solidFill>
                  <a:srgbClr val="F3DDB0"/>
                </a:solidFill>
              </a:rPr>
              <a:t>?</a:t>
            </a:r>
            <a:endParaRPr sz="1600" b="0" dirty="0">
              <a:solidFill>
                <a:srgbClr val="F3DDB0"/>
              </a:solidFill>
            </a:endParaRP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6</a:t>
            </a:r>
          </a:p>
        </p:txBody>
      </p:sp>
      <p:pic>
        <p:nvPicPr>
          <p:cNvPr id="7" name="Picture 6" descr="settle.png"/>
          <p:cNvPicPr>
            <a:picLocks noChangeAspect="1"/>
          </p:cNvPicPr>
          <p:nvPr/>
        </p:nvPicPr>
        <p:blipFill>
          <a:blip r:embed="rId4"/>
          <a:stretch>
            <a:fillRect/>
          </a:stretch>
        </p:blipFill>
        <p:spPr>
          <a:xfrm>
            <a:off x="884224" y="2010370"/>
            <a:ext cx="5120639" cy="2928698"/>
          </a:xfrm>
          <a:prstGeom prst="rect">
            <a:avLst/>
          </a:prstGeom>
          <a:ln w="12700">
            <a:solidFill>
              <a:srgbClr val="E6DCC8"/>
            </a:solidFill>
          </a:ln>
        </p:spPr>
      </p:pic>
      <p:pic>
        <p:nvPicPr>
          <p:cNvPr id="8" name="Picture 7" descr="sealed.png"/>
          <p:cNvPicPr>
            <a:picLocks noChangeAspect="1"/>
          </p:cNvPicPr>
          <p:nvPr/>
        </p:nvPicPr>
        <p:blipFill>
          <a:blip r:embed="rId5"/>
          <a:stretch>
            <a:fillRect/>
          </a:stretch>
        </p:blipFill>
        <p:spPr>
          <a:xfrm>
            <a:off x="6178600" y="1925765"/>
            <a:ext cx="5120640" cy="3097909"/>
          </a:xfrm>
          <a:prstGeom prst="rect">
            <a:avLst/>
          </a:prstGeom>
          <a:ln w="12700">
            <a:solidFill>
              <a:srgbClr val="E6DCC8"/>
            </a:solidFill>
          </a:ln>
        </p:spPr>
      </p:pic>
      <p:sp>
        <p:nvSpPr>
          <p:cNvPr id="9" name="Rounded Rectangle 8"/>
          <p:cNvSpPr/>
          <p:nvPr/>
        </p:nvSpPr>
        <p:spPr>
          <a:xfrm>
            <a:off x="884224" y="5394960"/>
            <a:ext cx="10424160" cy="822960"/>
          </a:xfrm>
          <a:prstGeom prst="roundRect">
            <a:avLst>
              <a:gd name="adj" fmla="val 10000"/>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1500" b="1">
                <a:solidFill>
                  <a:srgbClr val="1B1A4A"/>
                </a:solidFill>
              </a:rPr>
              <a:t>Two in three family outstations (66%) cannot call, and only 2% have a sealed road. Towns and town camps are well connected.</a:t>
            </a:r>
          </a:p>
        </p:txBody>
      </p:sp>
      <p:sp>
        <p:nvSpPr>
          <p:cNvPr id="12" name="TextBox 11">
            <a:extLst>
              <a:ext uri="{FF2B5EF4-FFF2-40B4-BE49-F238E27FC236}">
                <a16:creationId xmlns:a16="http://schemas.microsoft.com/office/drawing/2014/main" id="{2280B824-40CA-E220-2618-A80A0D5C01B1}"/>
              </a:ext>
            </a:extLst>
          </p:cNvPr>
          <p:cNvSpPr txBox="1"/>
          <p:nvPr/>
        </p:nvSpPr>
        <p:spPr>
          <a:xfrm>
            <a:off x="7438525" y="1223427"/>
            <a:ext cx="3318407" cy="246221"/>
          </a:xfrm>
          <a:prstGeom prst="rect">
            <a:avLst/>
          </a:prstGeom>
          <a:noFill/>
        </p:spPr>
        <p:txBody>
          <a:bodyPr wrap="square" lIns="0" tIns="0" rIns="0" bIns="0" anchor="t">
            <a:spAutoFit/>
          </a:bodyPr>
          <a:lstStyle/>
          <a:p>
            <a:pPr algn="l"/>
            <a:r>
              <a:rPr lang="en-US" sz="1600" dirty="0">
                <a:solidFill>
                  <a:srgbClr val="F3DDB0"/>
                </a:solidFill>
              </a:rPr>
              <a:t>W</a:t>
            </a:r>
            <a:r>
              <a:rPr sz="1600" b="0" dirty="0">
                <a:solidFill>
                  <a:srgbClr val="F3DDB0"/>
                </a:solidFill>
              </a:rPr>
              <a:t>ho has a sealed road to the outside</a:t>
            </a:r>
            <a:r>
              <a:rPr lang="en-US" sz="1600" b="0" dirty="0">
                <a:solidFill>
                  <a:srgbClr val="F3DDB0"/>
                </a:solidFill>
              </a:rPr>
              <a:t>?</a:t>
            </a:r>
            <a:endParaRPr sz="1600" b="0" dirty="0">
              <a:solidFill>
                <a:srgbClr val="F3DDB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bg_content.png"/>
          <p:cNvPicPr>
            <a:picLocks noChangeAspect="1"/>
          </p:cNvPicPr>
          <p:nvPr/>
        </p:nvPicPr>
        <p:blipFill>
          <a:blip r:embed="rId3"/>
          <a:stretch>
            <a:fillRect/>
          </a:stretch>
        </p:blipFill>
        <p:spPr>
          <a:xfrm>
            <a:off x="0" y="0"/>
            <a:ext cx="12192000" cy="6858000"/>
          </a:xfrm>
          <a:prstGeom prst="rect">
            <a:avLst/>
          </a:prstGeom>
        </p:spPr>
      </p:pic>
      <p:sp>
        <p:nvSpPr>
          <p:cNvPr id="18" name="Rounded Rectangle 17"/>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lstStyle/>
          <a:p>
            <a:pPr algn="l"/>
            <a:r>
              <a:rPr sz="3000" b="1">
                <a:solidFill>
                  <a:srgbClr val="FFFFFF"/>
                </a:solidFill>
              </a:rPr>
              <a:t>Far from care, and cut off by road</a:t>
            </a: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4224" y="1188720"/>
            <a:ext cx="10424160" cy="411480"/>
          </a:xfrm>
          <a:prstGeom prst="rect">
            <a:avLst/>
          </a:prstGeom>
          <a:noFill/>
        </p:spPr>
        <p:txBody>
          <a:bodyPr wrap="square" lIns="0" tIns="0" rIns="0" bIns="0" anchor="t">
            <a:spAutoFit/>
          </a:bodyPr>
          <a:lstStyle/>
          <a:p>
            <a:pPr algn="l"/>
            <a:r>
              <a:rPr sz="1600" b="0">
                <a:solidFill>
                  <a:srgbClr val="F3DDB0"/>
                </a:solidFill>
              </a:rPr>
              <a:t>Where the signal is missing, the road is often missing too.</a:t>
            </a: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7</a:t>
            </a:r>
          </a:p>
        </p:txBody>
      </p:sp>
      <p:sp>
        <p:nvSpPr>
          <p:cNvPr id="7" name="Rectangle 6"/>
          <p:cNvSpPr/>
          <p:nvPr/>
        </p:nvSpPr>
        <p:spPr>
          <a:xfrm>
            <a:off x="884224" y="1901951"/>
            <a:ext cx="73152" cy="96012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03680" y="1874519"/>
            <a:ext cx="3840480" cy="320040"/>
          </a:xfrm>
          <a:prstGeom prst="rect">
            <a:avLst/>
          </a:prstGeom>
          <a:noFill/>
        </p:spPr>
        <p:txBody>
          <a:bodyPr wrap="square" lIns="0" tIns="0" rIns="0" bIns="0" anchor="t">
            <a:spAutoFit/>
          </a:bodyPr>
          <a:lstStyle/>
          <a:p>
            <a:pPr algn="l"/>
            <a:r>
              <a:rPr sz="1700" b="1">
                <a:solidFill>
                  <a:srgbClr val="1B1A4A"/>
                </a:solidFill>
              </a:rPr>
              <a:t>3 h 56 min</a:t>
            </a:r>
          </a:p>
        </p:txBody>
      </p:sp>
      <p:sp>
        <p:nvSpPr>
          <p:cNvPr id="9" name="TextBox 8"/>
          <p:cNvSpPr txBox="1"/>
          <p:nvPr/>
        </p:nvSpPr>
        <p:spPr>
          <a:xfrm>
            <a:off x="1103680" y="2240279"/>
            <a:ext cx="3840480" cy="731520"/>
          </a:xfrm>
          <a:prstGeom prst="rect">
            <a:avLst/>
          </a:prstGeom>
          <a:noFill/>
        </p:spPr>
        <p:txBody>
          <a:bodyPr wrap="square" lIns="0" tIns="0" rIns="0" bIns="0" anchor="t">
            <a:spAutoFit/>
          </a:bodyPr>
          <a:lstStyle/>
          <a:p>
            <a:pPr algn="l"/>
            <a:r>
              <a:rPr sz="1400" b="0">
                <a:solidFill>
                  <a:srgbClr val="3B3558"/>
                </a:solidFill>
              </a:rPr>
              <a:t>median road trip to a hospital emergency department. 340 places are over 4 hours away.</a:t>
            </a:r>
          </a:p>
        </p:txBody>
      </p:sp>
      <p:sp>
        <p:nvSpPr>
          <p:cNvPr id="10" name="Rectangle 9"/>
          <p:cNvSpPr/>
          <p:nvPr/>
        </p:nvSpPr>
        <p:spPr>
          <a:xfrm>
            <a:off x="884224" y="3410711"/>
            <a:ext cx="73152" cy="96012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03680" y="3383279"/>
            <a:ext cx="3840480" cy="320040"/>
          </a:xfrm>
          <a:prstGeom prst="rect">
            <a:avLst/>
          </a:prstGeom>
          <a:noFill/>
        </p:spPr>
        <p:txBody>
          <a:bodyPr wrap="square" lIns="0" tIns="0" rIns="0" bIns="0" anchor="t">
            <a:spAutoFit/>
          </a:bodyPr>
          <a:lstStyle/>
          <a:p>
            <a:pPr algn="l"/>
            <a:r>
              <a:rPr sz="1700" b="1">
                <a:solidFill>
                  <a:srgbClr val="1B1A4A"/>
                </a:solidFill>
              </a:rPr>
              <a:t>85 places</a:t>
            </a:r>
          </a:p>
        </p:txBody>
      </p:sp>
      <p:sp>
        <p:nvSpPr>
          <p:cNvPr id="12" name="TextBox 11"/>
          <p:cNvSpPr txBox="1"/>
          <p:nvPr/>
        </p:nvSpPr>
        <p:spPr>
          <a:xfrm>
            <a:off x="1103680" y="3749039"/>
            <a:ext cx="3840480" cy="731520"/>
          </a:xfrm>
          <a:prstGeom prst="rect">
            <a:avLst/>
          </a:prstGeom>
          <a:noFill/>
        </p:spPr>
        <p:txBody>
          <a:bodyPr wrap="square" lIns="0" tIns="0" rIns="0" bIns="0" anchor="t">
            <a:spAutoFit/>
          </a:bodyPr>
          <a:lstStyle/>
          <a:p>
            <a:pPr algn="l"/>
            <a:r>
              <a:rPr sz="1400" b="0">
                <a:solidFill>
                  <a:srgbClr val="3B3558"/>
                </a:solidFill>
              </a:rPr>
              <a:t>have no mapped road to a hospital at all. 469 have 20 km or more of unsealed road.</a:t>
            </a:r>
          </a:p>
        </p:txBody>
      </p:sp>
      <p:sp>
        <p:nvSpPr>
          <p:cNvPr id="13" name="Rectangle 12"/>
          <p:cNvSpPr/>
          <p:nvPr/>
        </p:nvSpPr>
        <p:spPr>
          <a:xfrm>
            <a:off x="884224" y="4919472"/>
            <a:ext cx="73152" cy="96012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03680" y="4892040"/>
            <a:ext cx="3840480" cy="320040"/>
          </a:xfrm>
          <a:prstGeom prst="rect">
            <a:avLst/>
          </a:prstGeom>
          <a:noFill/>
        </p:spPr>
        <p:txBody>
          <a:bodyPr wrap="square" lIns="0" tIns="0" rIns="0" bIns="0" anchor="t">
            <a:spAutoFit/>
          </a:bodyPr>
          <a:lstStyle/>
          <a:p>
            <a:pPr algn="l"/>
            <a:r>
              <a:rPr sz="1700" b="1">
                <a:solidFill>
                  <a:srgbClr val="1B1A4A"/>
                </a:solidFill>
              </a:rPr>
              <a:t>49 of 91 clinics</a:t>
            </a:r>
          </a:p>
        </p:txBody>
      </p:sp>
      <p:sp>
        <p:nvSpPr>
          <p:cNvPr id="15" name="TextBox 14"/>
          <p:cNvSpPr txBox="1"/>
          <p:nvPr/>
        </p:nvSpPr>
        <p:spPr>
          <a:xfrm>
            <a:off x="1103680" y="5257800"/>
            <a:ext cx="3840480" cy="731520"/>
          </a:xfrm>
          <a:prstGeom prst="rect">
            <a:avLst/>
          </a:prstGeom>
          <a:noFill/>
        </p:spPr>
        <p:txBody>
          <a:bodyPr wrap="square" lIns="0" tIns="0" rIns="0" bIns="0" anchor="t">
            <a:spAutoFit/>
          </a:bodyPr>
          <a:lstStyle/>
          <a:p>
            <a:pPr algn="l"/>
            <a:r>
              <a:rPr sz="1400" b="0">
                <a:solidFill>
                  <a:srgbClr val="3B3558"/>
                </a:solidFill>
              </a:rPr>
              <a:t>list no 24/7 emergency service. After hours, help may be much further.</a:t>
            </a:r>
          </a:p>
        </p:txBody>
      </p:sp>
      <p:pic>
        <p:nvPicPr>
          <p:cNvPr id="16" name="Picture 15" descr="road.png"/>
          <p:cNvPicPr>
            <a:picLocks noChangeAspect="1"/>
          </p:cNvPicPr>
          <p:nvPr/>
        </p:nvPicPr>
        <p:blipFill>
          <a:blip r:embed="rId4"/>
          <a:stretch>
            <a:fillRect/>
          </a:stretch>
        </p:blipFill>
        <p:spPr>
          <a:xfrm>
            <a:off x="5035600" y="2182900"/>
            <a:ext cx="6263640" cy="3589478"/>
          </a:xfrm>
          <a:prstGeom prst="rect">
            <a:avLst/>
          </a:prstGeom>
          <a:ln w="12700">
            <a:solidFill>
              <a:srgbClr val="E6DCC8"/>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descr="bg_content.png"/>
          <p:cNvPicPr>
            <a:picLocks noChangeAspect="1"/>
          </p:cNvPicPr>
          <p:nvPr/>
        </p:nvPicPr>
        <p:blipFill>
          <a:blip r:embed="rId3"/>
          <a:stretch>
            <a:fillRect/>
          </a:stretch>
        </p:blipFill>
        <p:spPr>
          <a:xfrm>
            <a:off x="0" y="0"/>
            <a:ext cx="12192000" cy="6858000"/>
          </a:xfrm>
          <a:prstGeom prst="rect">
            <a:avLst/>
          </a:prstGeom>
        </p:spPr>
      </p:pic>
      <p:sp>
        <p:nvSpPr>
          <p:cNvPr id="32" name="Rounded Rectangle 31"/>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6968" y="457200"/>
            <a:ext cx="10424160" cy="731520"/>
          </a:xfrm>
        </p:spPr>
        <p:txBody>
          <a:bodyPr wrap="square" lIns="0" anchor="ctr"/>
          <a:lstStyle/>
          <a:p>
            <a:pPr algn="l"/>
            <a:r>
              <a:rPr sz="3000" b="1" dirty="0">
                <a:solidFill>
                  <a:srgbClr val="FFFFFF"/>
                </a:solidFill>
              </a:rPr>
              <a:t>Are we counting the same thing twice?</a:t>
            </a: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886968" y="1188720"/>
            <a:ext cx="10424160" cy="365760"/>
          </a:xfrm>
          <a:prstGeom prst="rect">
            <a:avLst/>
          </a:prstGeom>
          <a:noFill/>
        </p:spPr>
        <p:txBody>
          <a:bodyPr wrap="square" lIns="0" tIns="0" rIns="0" bIns="0" anchor="t">
            <a:spAutoFit/>
          </a:bodyPr>
          <a:lstStyle/>
          <a:p>
            <a:pPr algn="l"/>
            <a:r>
              <a:rPr sz="1600" b="0" dirty="0">
                <a:solidFill>
                  <a:srgbClr val="F3DDB0"/>
                </a:solidFill>
              </a:rPr>
              <a:t>A Spearman correlation measures how closely two scores move together.</a:t>
            </a: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8</a:t>
            </a:r>
          </a:p>
        </p:txBody>
      </p:sp>
      <p:sp>
        <p:nvSpPr>
          <p:cNvPr id="9" name="TextBox 8"/>
          <p:cNvSpPr txBox="1"/>
          <p:nvPr/>
        </p:nvSpPr>
        <p:spPr>
          <a:xfrm>
            <a:off x="3630168" y="1655064"/>
            <a:ext cx="5486400" cy="215444"/>
          </a:xfrm>
          <a:prstGeom prst="rect">
            <a:avLst/>
          </a:prstGeom>
          <a:noFill/>
        </p:spPr>
        <p:txBody>
          <a:bodyPr wrap="square" lIns="0" tIns="0" rIns="0" bIns="0" anchor="t">
            <a:spAutoFit/>
          </a:bodyPr>
          <a:lstStyle/>
          <a:p>
            <a:pPr algn="l"/>
            <a:r>
              <a:rPr sz="1400" b="1" dirty="0">
                <a:solidFill>
                  <a:srgbClr val="3B3558"/>
                </a:solidFill>
              </a:rPr>
              <a:t>1 means the </a:t>
            </a:r>
            <a:r>
              <a:rPr lang="en-US" sz="1400" b="1" dirty="0">
                <a:solidFill>
                  <a:srgbClr val="3B3558"/>
                </a:solidFill>
              </a:rPr>
              <a:t>perfect correlation</a:t>
            </a:r>
            <a:r>
              <a:rPr sz="1400" b="1" dirty="0">
                <a:solidFill>
                  <a:srgbClr val="3B3558"/>
                </a:solidFill>
              </a:rPr>
              <a:t>. 0 means no link.</a:t>
            </a:r>
          </a:p>
        </p:txBody>
      </p:sp>
      <p:sp>
        <p:nvSpPr>
          <p:cNvPr id="16" name="TextBox 15"/>
          <p:cNvSpPr txBox="1"/>
          <p:nvPr/>
        </p:nvSpPr>
        <p:spPr>
          <a:xfrm>
            <a:off x="655320" y="5897880"/>
            <a:ext cx="5272514" cy="400110"/>
          </a:xfrm>
          <a:prstGeom prst="rect">
            <a:avLst/>
          </a:prstGeom>
          <a:noFill/>
        </p:spPr>
        <p:txBody>
          <a:bodyPr wrap="square" lIns="0" tIns="0" rIns="0" bIns="0" anchor="t">
            <a:spAutoFit/>
          </a:bodyPr>
          <a:lstStyle/>
          <a:p>
            <a:pPr algn="l"/>
            <a:r>
              <a:rPr sz="1300" b="0" dirty="0">
                <a:solidFill>
                  <a:srgbClr val="3B3558"/>
                </a:solidFill>
              </a:rPr>
              <a:t>Our four measures are related but different, so each adds something and all four stay in the score.</a:t>
            </a:r>
          </a:p>
        </p:txBody>
      </p:sp>
      <p:pic>
        <p:nvPicPr>
          <p:cNvPr id="17" name="Picture 16" descr="heat.png"/>
          <p:cNvPicPr>
            <a:picLocks noChangeAspect="1"/>
          </p:cNvPicPr>
          <p:nvPr/>
        </p:nvPicPr>
        <p:blipFill>
          <a:blip r:embed="rId4"/>
          <a:stretch>
            <a:fillRect/>
          </a:stretch>
        </p:blipFill>
        <p:spPr>
          <a:xfrm>
            <a:off x="6812280" y="2011680"/>
            <a:ext cx="4109071" cy="3749039"/>
          </a:xfrm>
          <a:prstGeom prst="rect">
            <a:avLst/>
          </a:prstGeom>
          <a:ln w="12700">
            <a:solidFill>
              <a:srgbClr val="E6DCC8"/>
            </a:solidFill>
          </a:ln>
        </p:spPr>
      </p:pic>
      <p:sp>
        <p:nvSpPr>
          <p:cNvPr id="19" name="TextBox 18">
            <a:extLst>
              <a:ext uri="{FF2B5EF4-FFF2-40B4-BE49-F238E27FC236}">
                <a16:creationId xmlns:a16="http://schemas.microsoft.com/office/drawing/2014/main" id="{B27B636F-C09B-FB86-D7ED-520FC9EC8639}"/>
              </a:ext>
            </a:extLst>
          </p:cNvPr>
          <p:cNvSpPr txBox="1"/>
          <p:nvPr/>
        </p:nvSpPr>
        <p:spPr>
          <a:xfrm>
            <a:off x="6400800" y="5852160"/>
            <a:ext cx="5116973" cy="492443"/>
          </a:xfrm>
          <a:prstGeom prst="rect">
            <a:avLst/>
          </a:prstGeom>
          <a:noFill/>
        </p:spPr>
        <p:txBody>
          <a:bodyPr wrap="square">
            <a:spAutoFit/>
          </a:bodyPr>
          <a:lstStyle/>
          <a:p>
            <a:pPr algn="l"/>
            <a:r>
              <a:rPr lang="en-US" sz="1300" b="1" dirty="0">
                <a:solidFill>
                  <a:srgbClr val="1B1A4A"/>
                </a:solidFill>
              </a:rPr>
              <a:t>0.88: drive time to the clinic and distance to the clinic are nearly the same thing.</a:t>
            </a:r>
          </a:p>
        </p:txBody>
      </p:sp>
      <mc:AlternateContent xmlns:mc="http://schemas.openxmlformats.org/markup-compatibility/2006" xmlns:p14="http://schemas.microsoft.com/office/powerpoint/2010/main">
        <mc:Choice Requires="p14">
          <p:contentPart p14:bwMode="auto" r:id="rId5">
            <p14:nvContentPartPr>
              <p14:cNvPr id="26" name="Ink 25">
                <a:extLst>
                  <a:ext uri="{FF2B5EF4-FFF2-40B4-BE49-F238E27FC236}">
                    <a16:creationId xmlns:a16="http://schemas.microsoft.com/office/drawing/2014/main" id="{3D479307-7228-1B22-47C3-B4DE82E2C4AE}"/>
                  </a:ext>
                </a:extLst>
              </p14:cNvPr>
              <p14:cNvContentPartPr/>
              <p14:nvPr/>
            </p14:nvContentPartPr>
            <p14:xfrm>
              <a:off x="7913876" y="3257876"/>
              <a:ext cx="378720" cy="42480"/>
            </p14:xfrm>
          </p:contentPart>
        </mc:Choice>
        <mc:Fallback xmlns="">
          <p:pic>
            <p:nvPicPr>
              <p:cNvPr id="26" name="Ink 25">
                <a:extLst>
                  <a:ext uri="{FF2B5EF4-FFF2-40B4-BE49-F238E27FC236}">
                    <a16:creationId xmlns:a16="http://schemas.microsoft.com/office/drawing/2014/main" id="{3D479307-7228-1B22-47C3-B4DE82E2C4AE}"/>
                  </a:ext>
                </a:extLst>
              </p:cNvPr>
              <p:cNvPicPr/>
              <p:nvPr/>
            </p:nvPicPr>
            <p:blipFill>
              <a:blip r:embed="rId6"/>
              <a:stretch>
                <a:fillRect/>
              </a:stretch>
            </p:blipFill>
            <p:spPr>
              <a:xfrm>
                <a:off x="7878236" y="3222236"/>
                <a:ext cx="450360" cy="114120"/>
              </a:xfrm>
              <a:prstGeom prst="rect">
                <a:avLst/>
              </a:prstGeom>
            </p:spPr>
          </p:pic>
        </mc:Fallback>
      </mc:AlternateContent>
      <p:graphicFrame>
        <p:nvGraphicFramePr>
          <p:cNvPr id="30" name="Chart 29">
            <a:extLst>
              <a:ext uri="{FF2B5EF4-FFF2-40B4-BE49-F238E27FC236}">
                <a16:creationId xmlns:a16="http://schemas.microsoft.com/office/drawing/2014/main" id="{AED0B9FE-C90E-F382-CAFB-AA5CA879AAD6}"/>
              </a:ext>
            </a:extLst>
          </p:cNvPr>
          <p:cNvGraphicFramePr>
            <a:graphicFrameLocks noGrp="1"/>
          </p:cNvGraphicFramePr>
          <p:nvPr>
            <p:extLst>
              <p:ext uri="{D42A27DB-BD31-4B8C-83A1-F6EECF244321}">
                <p14:modId xmlns:p14="http://schemas.microsoft.com/office/powerpoint/2010/main" val="3845586935"/>
              </p:ext>
            </p:extLst>
          </p:nvPr>
        </p:nvGraphicFramePr>
        <p:xfrm>
          <a:off x="655320" y="2057400"/>
          <a:ext cx="5440680" cy="3794760"/>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44" descr="bg_content.png"/>
          <p:cNvPicPr>
            <a:picLocks noChangeAspect="1"/>
          </p:cNvPicPr>
          <p:nvPr/>
        </p:nvPicPr>
        <p:blipFill>
          <a:blip r:embed="rId3"/>
          <a:stretch>
            <a:fillRect/>
          </a:stretch>
        </p:blipFill>
        <p:spPr>
          <a:xfrm>
            <a:off x="0" y="0"/>
            <a:ext cx="12192000" cy="6858000"/>
          </a:xfrm>
          <a:prstGeom prst="rect">
            <a:avLst/>
          </a:prstGeom>
        </p:spPr>
      </p:pic>
      <p:sp>
        <p:nvSpPr>
          <p:cNvPr id="46" name="Rounded Rectangle 45"/>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lstStyle/>
          <a:p>
            <a:pPr algn="l"/>
            <a:r>
              <a:rPr sz="3000" b="1">
                <a:solidFill>
                  <a:srgbClr val="FFFFFF"/>
                </a:solidFill>
              </a:rPr>
              <a:t>Would different weights change the answer?</a:t>
            </a: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1188720"/>
            <a:ext cx="10424160" cy="365760"/>
          </a:xfrm>
          <a:prstGeom prst="rect">
            <a:avLst/>
          </a:prstGeom>
          <a:noFill/>
        </p:spPr>
        <p:txBody>
          <a:bodyPr wrap="square" lIns="0" tIns="0" rIns="0" bIns="0" anchor="t">
            <a:spAutoFit/>
          </a:bodyPr>
          <a:lstStyle/>
          <a:p>
            <a:pPr algn="l"/>
            <a:r>
              <a:rPr sz="1600" b="0" dirty="0">
                <a:solidFill>
                  <a:srgbClr val="F3DDB0"/>
                </a:solidFill>
              </a:rPr>
              <a:t>We tried three ways of weighing the four measures. </a:t>
            </a: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9</a:t>
            </a:r>
          </a:p>
        </p:txBody>
      </p:sp>
      <p:sp>
        <p:nvSpPr>
          <p:cNvPr id="7" name="Rectangle 6"/>
          <p:cNvSpPr/>
          <p:nvPr/>
        </p:nvSpPr>
        <p:spPr>
          <a:xfrm>
            <a:off x="884224" y="2309118"/>
            <a:ext cx="182880" cy="182880"/>
          </a:xfrm>
          <a:prstGeom prst="rect">
            <a:avLst/>
          </a:prstGeom>
          <a:solidFill>
            <a:srgbClr val="1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8544" y="2272542"/>
            <a:ext cx="2194560" cy="274320"/>
          </a:xfrm>
          <a:prstGeom prst="rect">
            <a:avLst/>
          </a:prstGeom>
          <a:noFill/>
        </p:spPr>
        <p:txBody>
          <a:bodyPr wrap="square" lIns="0" tIns="0" rIns="0" bIns="0" anchor="t">
            <a:spAutoFit/>
          </a:bodyPr>
          <a:lstStyle/>
          <a:p>
            <a:pPr algn="l"/>
            <a:r>
              <a:rPr sz="1300" b="0">
                <a:solidFill>
                  <a:srgbClr val="3B3558"/>
                </a:solidFill>
              </a:rPr>
              <a:t>Coverage</a:t>
            </a:r>
          </a:p>
        </p:txBody>
      </p:sp>
      <p:sp>
        <p:nvSpPr>
          <p:cNvPr id="9" name="Rectangle 8"/>
          <p:cNvSpPr/>
          <p:nvPr/>
        </p:nvSpPr>
        <p:spPr>
          <a:xfrm>
            <a:off x="3353104" y="2309118"/>
            <a:ext cx="182880" cy="18288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27424" y="2272542"/>
            <a:ext cx="2194560" cy="274320"/>
          </a:xfrm>
          <a:prstGeom prst="rect">
            <a:avLst/>
          </a:prstGeom>
          <a:noFill/>
        </p:spPr>
        <p:txBody>
          <a:bodyPr wrap="square" lIns="0" tIns="0" rIns="0" bIns="0" anchor="t">
            <a:spAutoFit/>
          </a:bodyPr>
          <a:lstStyle/>
          <a:p>
            <a:pPr algn="l"/>
            <a:r>
              <a:rPr sz="1300" b="0">
                <a:solidFill>
                  <a:srgbClr val="3B3558"/>
                </a:solidFill>
              </a:rPr>
              <a:t>Clinic time</a:t>
            </a:r>
          </a:p>
        </p:txBody>
      </p:sp>
      <p:sp>
        <p:nvSpPr>
          <p:cNvPr id="11" name="Rectangle 10"/>
          <p:cNvSpPr/>
          <p:nvPr/>
        </p:nvSpPr>
        <p:spPr>
          <a:xfrm>
            <a:off x="5821984" y="2309118"/>
            <a:ext cx="182880" cy="182880"/>
          </a:xfrm>
          <a:prstGeom prst="rect">
            <a:avLst/>
          </a:prstGeom>
          <a:solidFill>
            <a:srgbClr val="7B4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96304" y="2272542"/>
            <a:ext cx="2194560" cy="274320"/>
          </a:xfrm>
          <a:prstGeom prst="rect">
            <a:avLst/>
          </a:prstGeom>
          <a:noFill/>
        </p:spPr>
        <p:txBody>
          <a:bodyPr wrap="square" lIns="0" tIns="0" rIns="0" bIns="0" anchor="t">
            <a:spAutoFit/>
          </a:bodyPr>
          <a:lstStyle/>
          <a:p>
            <a:pPr algn="l"/>
            <a:r>
              <a:rPr sz="1300" b="0">
                <a:solidFill>
                  <a:srgbClr val="3B3558"/>
                </a:solidFill>
              </a:rPr>
              <a:t>Hospital time</a:t>
            </a:r>
          </a:p>
        </p:txBody>
      </p:sp>
      <p:sp>
        <p:nvSpPr>
          <p:cNvPr id="13" name="Rectangle 12"/>
          <p:cNvSpPr/>
          <p:nvPr/>
        </p:nvSpPr>
        <p:spPr>
          <a:xfrm>
            <a:off x="8290864" y="2309118"/>
            <a:ext cx="182880" cy="182880"/>
          </a:xfrm>
          <a:prstGeom prst="rect">
            <a:avLst/>
          </a:prstGeom>
          <a:solidFill>
            <a:srgbClr val="F8D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65184" y="2272542"/>
            <a:ext cx="2194560" cy="274320"/>
          </a:xfrm>
          <a:prstGeom prst="rect">
            <a:avLst/>
          </a:prstGeom>
          <a:noFill/>
        </p:spPr>
        <p:txBody>
          <a:bodyPr wrap="square" lIns="0" tIns="0" rIns="0" bIns="0" anchor="t">
            <a:spAutoFit/>
          </a:bodyPr>
          <a:lstStyle/>
          <a:p>
            <a:pPr algn="l"/>
            <a:r>
              <a:rPr sz="1300" b="0">
                <a:solidFill>
                  <a:srgbClr val="3B3558"/>
                </a:solidFill>
              </a:rPr>
              <a:t>Sealed road</a:t>
            </a:r>
          </a:p>
        </p:txBody>
      </p:sp>
      <p:sp>
        <p:nvSpPr>
          <p:cNvPr id="15" name="Rounded Rectangle 14"/>
          <p:cNvSpPr/>
          <p:nvPr/>
        </p:nvSpPr>
        <p:spPr>
          <a:xfrm>
            <a:off x="884224" y="2674878"/>
            <a:ext cx="3291840" cy="292608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67104" y="2812038"/>
            <a:ext cx="2926080" cy="365760"/>
          </a:xfrm>
          <a:prstGeom prst="rect">
            <a:avLst/>
          </a:prstGeom>
          <a:noFill/>
        </p:spPr>
        <p:txBody>
          <a:bodyPr wrap="square" lIns="0" tIns="0" rIns="0" bIns="0" anchor="t">
            <a:spAutoFit/>
          </a:bodyPr>
          <a:lstStyle/>
          <a:p>
            <a:pPr algn="l"/>
            <a:r>
              <a:rPr sz="1600" b="1">
                <a:solidFill>
                  <a:srgbClr val="1B1A4A"/>
                </a:solidFill>
              </a:rPr>
              <a:t>1  Equal weights</a:t>
            </a:r>
          </a:p>
        </p:txBody>
      </p:sp>
      <p:sp>
        <p:nvSpPr>
          <p:cNvPr id="17" name="TextBox 16"/>
          <p:cNvSpPr txBox="1"/>
          <p:nvPr/>
        </p:nvSpPr>
        <p:spPr>
          <a:xfrm>
            <a:off x="1067104" y="3177798"/>
            <a:ext cx="2926080" cy="274320"/>
          </a:xfrm>
          <a:prstGeom prst="rect">
            <a:avLst/>
          </a:prstGeom>
          <a:noFill/>
        </p:spPr>
        <p:txBody>
          <a:bodyPr wrap="square" lIns="0" tIns="0" rIns="0" bIns="0" anchor="t">
            <a:spAutoFit/>
          </a:bodyPr>
          <a:lstStyle/>
          <a:p>
            <a:pPr algn="l"/>
            <a:r>
              <a:rPr sz="1200" b="0">
                <a:solidFill>
                  <a:srgbClr val="3B3558"/>
                </a:solidFill>
              </a:rPr>
              <a:t>Our final choice</a:t>
            </a:r>
          </a:p>
        </p:txBody>
      </p:sp>
      <p:sp>
        <p:nvSpPr>
          <p:cNvPr id="18" name="Rectangle 17"/>
          <p:cNvSpPr/>
          <p:nvPr/>
        </p:nvSpPr>
        <p:spPr>
          <a:xfrm>
            <a:off x="1158544" y="3589278"/>
            <a:ext cx="685800" cy="457200"/>
          </a:xfrm>
          <a:prstGeom prst="rect">
            <a:avLst/>
          </a:prstGeom>
          <a:solidFill>
            <a:srgbClr val="1B1A4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FFFFFF"/>
                </a:solidFill>
              </a:rPr>
              <a:t>25%</a:t>
            </a:r>
          </a:p>
        </p:txBody>
      </p:sp>
      <p:sp>
        <p:nvSpPr>
          <p:cNvPr id="19" name="Rectangle 18"/>
          <p:cNvSpPr/>
          <p:nvPr/>
        </p:nvSpPr>
        <p:spPr>
          <a:xfrm>
            <a:off x="1844344" y="3589278"/>
            <a:ext cx="685800" cy="45720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1B1A4A"/>
                </a:solidFill>
              </a:rPr>
              <a:t>25%</a:t>
            </a:r>
          </a:p>
        </p:txBody>
      </p:sp>
      <p:sp>
        <p:nvSpPr>
          <p:cNvPr id="20" name="Rectangle 19"/>
          <p:cNvSpPr/>
          <p:nvPr/>
        </p:nvSpPr>
        <p:spPr>
          <a:xfrm>
            <a:off x="2530144" y="3589278"/>
            <a:ext cx="685800" cy="457200"/>
          </a:xfrm>
          <a:prstGeom prst="rect">
            <a:avLst/>
          </a:prstGeom>
          <a:solidFill>
            <a:srgbClr val="7B4B9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FFFFFF"/>
                </a:solidFill>
              </a:rPr>
              <a:t>25%</a:t>
            </a:r>
          </a:p>
        </p:txBody>
      </p:sp>
      <p:sp>
        <p:nvSpPr>
          <p:cNvPr id="21" name="Rectangle 20"/>
          <p:cNvSpPr/>
          <p:nvPr/>
        </p:nvSpPr>
        <p:spPr>
          <a:xfrm>
            <a:off x="3215944" y="3589278"/>
            <a:ext cx="685800" cy="457200"/>
          </a:xfrm>
          <a:prstGeom prst="rect">
            <a:avLst/>
          </a:prstGeom>
          <a:solidFill>
            <a:srgbClr val="F8D49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1B1A4A"/>
                </a:solidFill>
              </a:rPr>
              <a:t>25%</a:t>
            </a:r>
          </a:p>
        </p:txBody>
      </p:sp>
      <p:sp>
        <p:nvSpPr>
          <p:cNvPr id="22" name="TextBox 21"/>
          <p:cNvSpPr txBox="1"/>
          <p:nvPr/>
        </p:nvSpPr>
        <p:spPr>
          <a:xfrm>
            <a:off x="1067104" y="4412238"/>
            <a:ext cx="2926080" cy="457200"/>
          </a:xfrm>
          <a:prstGeom prst="rect">
            <a:avLst/>
          </a:prstGeom>
          <a:noFill/>
        </p:spPr>
        <p:txBody>
          <a:bodyPr wrap="square" lIns="0" tIns="0" rIns="0" bIns="0" anchor="t">
            <a:spAutoFit/>
          </a:bodyPr>
          <a:lstStyle/>
          <a:p>
            <a:pPr algn="ctr"/>
            <a:r>
              <a:rPr sz="1700" b="1">
                <a:solidFill>
                  <a:srgbClr val="1B1A4A"/>
                </a:solidFill>
              </a:rPr>
              <a:t>Top 20: all the same</a:t>
            </a:r>
          </a:p>
        </p:txBody>
      </p:sp>
      <p:sp>
        <p:nvSpPr>
          <p:cNvPr id="23" name="TextBox 22"/>
          <p:cNvSpPr txBox="1"/>
          <p:nvPr/>
        </p:nvSpPr>
        <p:spPr>
          <a:xfrm>
            <a:off x="1067104" y="4915158"/>
            <a:ext cx="2926080" cy="274320"/>
          </a:xfrm>
          <a:prstGeom prst="rect">
            <a:avLst/>
          </a:prstGeom>
          <a:noFill/>
        </p:spPr>
        <p:txBody>
          <a:bodyPr wrap="square" lIns="0" tIns="0" rIns="0" bIns="0" anchor="t">
            <a:spAutoFit/>
          </a:bodyPr>
          <a:lstStyle/>
          <a:p>
            <a:pPr algn="ctr"/>
            <a:r>
              <a:rPr sz="1300" b="0">
                <a:solidFill>
                  <a:srgbClr val="3B3558"/>
                </a:solidFill>
              </a:rPr>
              <a:t>the reference</a:t>
            </a:r>
          </a:p>
        </p:txBody>
      </p:sp>
      <p:sp>
        <p:nvSpPr>
          <p:cNvPr id="24" name="Rounded Rectangle 23"/>
          <p:cNvSpPr/>
          <p:nvPr/>
        </p:nvSpPr>
        <p:spPr>
          <a:xfrm>
            <a:off x="4450384" y="2674878"/>
            <a:ext cx="3291840" cy="292608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33264" y="2812038"/>
            <a:ext cx="2926080" cy="365760"/>
          </a:xfrm>
          <a:prstGeom prst="rect">
            <a:avLst/>
          </a:prstGeom>
          <a:noFill/>
        </p:spPr>
        <p:txBody>
          <a:bodyPr wrap="square" lIns="0" tIns="0" rIns="0" bIns="0" anchor="t">
            <a:spAutoFit/>
          </a:bodyPr>
          <a:lstStyle/>
          <a:p>
            <a:pPr algn="l"/>
            <a:r>
              <a:rPr sz="1600" b="1">
                <a:solidFill>
                  <a:srgbClr val="1B1A4A"/>
                </a:solidFill>
              </a:rPr>
              <a:t>2  Drive time counts double</a:t>
            </a:r>
          </a:p>
        </p:txBody>
      </p:sp>
      <p:sp>
        <p:nvSpPr>
          <p:cNvPr id="26" name="TextBox 25"/>
          <p:cNvSpPr txBox="1"/>
          <p:nvPr/>
        </p:nvSpPr>
        <p:spPr>
          <a:xfrm>
            <a:off x="4633264" y="3177798"/>
            <a:ext cx="2926080" cy="274320"/>
          </a:xfrm>
          <a:prstGeom prst="rect">
            <a:avLst/>
          </a:prstGeom>
          <a:noFill/>
        </p:spPr>
        <p:txBody>
          <a:bodyPr wrap="square" lIns="0" tIns="0" rIns="0" bIns="0" anchor="t">
            <a:spAutoFit/>
          </a:bodyPr>
          <a:lstStyle/>
          <a:p>
            <a:pPr algn="l"/>
            <a:r>
              <a:rPr sz="1200" b="0">
                <a:solidFill>
                  <a:srgbClr val="3B3558"/>
                </a:solidFill>
              </a:rPr>
              <a:t>Clinic and hospital time count more</a:t>
            </a:r>
          </a:p>
        </p:txBody>
      </p:sp>
      <p:sp>
        <p:nvSpPr>
          <p:cNvPr id="27" name="Rectangle 26"/>
          <p:cNvSpPr/>
          <p:nvPr/>
        </p:nvSpPr>
        <p:spPr>
          <a:xfrm>
            <a:off x="4724704" y="3589278"/>
            <a:ext cx="411480" cy="457200"/>
          </a:xfrm>
          <a:prstGeom prst="rect">
            <a:avLst/>
          </a:prstGeom>
          <a:solidFill>
            <a:srgbClr val="1B1A4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FFFFFF"/>
                </a:solidFill>
              </a:rPr>
              <a:t>15%</a:t>
            </a:r>
          </a:p>
        </p:txBody>
      </p:sp>
      <p:sp>
        <p:nvSpPr>
          <p:cNvPr id="28" name="Rectangle 27"/>
          <p:cNvSpPr/>
          <p:nvPr/>
        </p:nvSpPr>
        <p:spPr>
          <a:xfrm>
            <a:off x="5136184" y="3589278"/>
            <a:ext cx="822960" cy="45720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1B1A4A"/>
                </a:solidFill>
              </a:rPr>
              <a:t>30%</a:t>
            </a:r>
          </a:p>
        </p:txBody>
      </p:sp>
      <p:sp>
        <p:nvSpPr>
          <p:cNvPr id="29" name="Rectangle 28"/>
          <p:cNvSpPr/>
          <p:nvPr/>
        </p:nvSpPr>
        <p:spPr>
          <a:xfrm>
            <a:off x="5959144" y="3589278"/>
            <a:ext cx="822960" cy="457200"/>
          </a:xfrm>
          <a:prstGeom prst="rect">
            <a:avLst/>
          </a:prstGeom>
          <a:solidFill>
            <a:srgbClr val="7B4B9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FFFFFF"/>
                </a:solidFill>
              </a:rPr>
              <a:t>30%</a:t>
            </a:r>
          </a:p>
        </p:txBody>
      </p:sp>
      <p:sp>
        <p:nvSpPr>
          <p:cNvPr id="30" name="Rectangle 29"/>
          <p:cNvSpPr/>
          <p:nvPr/>
        </p:nvSpPr>
        <p:spPr>
          <a:xfrm>
            <a:off x="6782104" y="3589278"/>
            <a:ext cx="685800" cy="457200"/>
          </a:xfrm>
          <a:prstGeom prst="rect">
            <a:avLst/>
          </a:prstGeom>
          <a:solidFill>
            <a:srgbClr val="F8D49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1B1A4A"/>
                </a:solidFill>
              </a:rPr>
              <a:t>25%</a:t>
            </a:r>
          </a:p>
        </p:txBody>
      </p:sp>
      <p:sp>
        <p:nvSpPr>
          <p:cNvPr id="31" name="TextBox 30"/>
          <p:cNvSpPr txBox="1"/>
          <p:nvPr/>
        </p:nvSpPr>
        <p:spPr>
          <a:xfrm>
            <a:off x="4633264" y="4412238"/>
            <a:ext cx="2926080" cy="457200"/>
          </a:xfrm>
          <a:prstGeom prst="rect">
            <a:avLst/>
          </a:prstGeom>
          <a:noFill/>
        </p:spPr>
        <p:txBody>
          <a:bodyPr wrap="square" lIns="0" tIns="0" rIns="0" bIns="0" anchor="t">
            <a:spAutoFit/>
          </a:bodyPr>
          <a:lstStyle/>
          <a:p>
            <a:pPr algn="ctr"/>
            <a:r>
              <a:rPr sz="1700" b="1">
                <a:solidFill>
                  <a:srgbClr val="1B1A4A"/>
                </a:solidFill>
              </a:rPr>
              <a:t>Top 20: all the same</a:t>
            </a:r>
          </a:p>
        </p:txBody>
      </p:sp>
      <p:sp>
        <p:nvSpPr>
          <p:cNvPr id="32" name="TextBox 31"/>
          <p:cNvSpPr txBox="1"/>
          <p:nvPr/>
        </p:nvSpPr>
        <p:spPr>
          <a:xfrm>
            <a:off x="4633264" y="4915158"/>
            <a:ext cx="2926080" cy="274320"/>
          </a:xfrm>
          <a:prstGeom prst="rect">
            <a:avLst/>
          </a:prstGeom>
          <a:noFill/>
        </p:spPr>
        <p:txBody>
          <a:bodyPr wrap="square" lIns="0" tIns="0" rIns="0" bIns="0" anchor="t">
            <a:spAutoFit/>
          </a:bodyPr>
          <a:lstStyle/>
          <a:p>
            <a:pPr algn="ctr"/>
            <a:r>
              <a:rPr sz="1300" b="0">
                <a:solidFill>
                  <a:srgbClr val="3B3558"/>
                </a:solidFill>
              </a:rPr>
              <a:t>99% agreement (ρ = 0.991)</a:t>
            </a:r>
          </a:p>
        </p:txBody>
      </p:sp>
      <p:sp>
        <p:nvSpPr>
          <p:cNvPr id="33" name="Rounded Rectangle 32"/>
          <p:cNvSpPr/>
          <p:nvPr/>
        </p:nvSpPr>
        <p:spPr>
          <a:xfrm>
            <a:off x="8016544" y="2674878"/>
            <a:ext cx="3291840" cy="292608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99424" y="2812038"/>
            <a:ext cx="2926080" cy="365760"/>
          </a:xfrm>
          <a:prstGeom prst="rect">
            <a:avLst/>
          </a:prstGeom>
          <a:noFill/>
        </p:spPr>
        <p:txBody>
          <a:bodyPr wrap="square" lIns="0" tIns="0" rIns="0" bIns="0" anchor="t">
            <a:spAutoFit/>
          </a:bodyPr>
          <a:lstStyle/>
          <a:p>
            <a:pPr algn="l"/>
            <a:r>
              <a:rPr sz="1600" b="1">
                <a:solidFill>
                  <a:srgbClr val="1B1A4A"/>
                </a:solidFill>
              </a:rPr>
              <a:t>3  Coverage counts double</a:t>
            </a:r>
          </a:p>
        </p:txBody>
      </p:sp>
      <p:sp>
        <p:nvSpPr>
          <p:cNvPr id="35" name="TextBox 34"/>
          <p:cNvSpPr txBox="1"/>
          <p:nvPr/>
        </p:nvSpPr>
        <p:spPr>
          <a:xfrm>
            <a:off x="8199424" y="3177798"/>
            <a:ext cx="2926080" cy="274320"/>
          </a:xfrm>
          <a:prstGeom prst="rect">
            <a:avLst/>
          </a:prstGeom>
          <a:noFill/>
        </p:spPr>
        <p:txBody>
          <a:bodyPr wrap="square" lIns="0" tIns="0" rIns="0" bIns="0" anchor="t">
            <a:spAutoFit/>
          </a:bodyPr>
          <a:lstStyle/>
          <a:p>
            <a:pPr algn="l"/>
            <a:r>
              <a:rPr sz="1200" b="0">
                <a:solidFill>
                  <a:srgbClr val="3B3558"/>
                </a:solidFill>
              </a:rPr>
              <a:t>Coverage counts more</a:t>
            </a:r>
          </a:p>
        </p:txBody>
      </p:sp>
      <p:sp>
        <p:nvSpPr>
          <p:cNvPr id="36" name="Rectangle 35"/>
          <p:cNvSpPr/>
          <p:nvPr/>
        </p:nvSpPr>
        <p:spPr>
          <a:xfrm>
            <a:off x="8290864" y="3589278"/>
            <a:ext cx="1097280" cy="457200"/>
          </a:xfrm>
          <a:prstGeom prst="rect">
            <a:avLst/>
          </a:prstGeom>
          <a:solidFill>
            <a:srgbClr val="1B1A4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FFFFFF"/>
                </a:solidFill>
              </a:rPr>
              <a:t>40%</a:t>
            </a:r>
          </a:p>
        </p:txBody>
      </p:sp>
      <p:sp>
        <p:nvSpPr>
          <p:cNvPr id="37" name="Rectangle 36"/>
          <p:cNvSpPr/>
          <p:nvPr/>
        </p:nvSpPr>
        <p:spPr>
          <a:xfrm>
            <a:off x="9388144" y="3589278"/>
            <a:ext cx="548640" cy="457200"/>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1B1A4A"/>
                </a:solidFill>
              </a:rPr>
              <a:t>20%</a:t>
            </a:r>
          </a:p>
        </p:txBody>
      </p:sp>
      <p:sp>
        <p:nvSpPr>
          <p:cNvPr id="38" name="Rectangle 37"/>
          <p:cNvSpPr/>
          <p:nvPr/>
        </p:nvSpPr>
        <p:spPr>
          <a:xfrm>
            <a:off x="9936784" y="3589278"/>
            <a:ext cx="548640" cy="457200"/>
          </a:xfrm>
          <a:prstGeom prst="rect">
            <a:avLst/>
          </a:prstGeom>
          <a:solidFill>
            <a:srgbClr val="7B4B9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FFFFFF"/>
                </a:solidFill>
              </a:rPr>
              <a:t>20%</a:t>
            </a:r>
          </a:p>
        </p:txBody>
      </p:sp>
      <p:sp>
        <p:nvSpPr>
          <p:cNvPr id="39" name="Rectangle 38"/>
          <p:cNvSpPr/>
          <p:nvPr/>
        </p:nvSpPr>
        <p:spPr>
          <a:xfrm>
            <a:off x="10485424" y="3589278"/>
            <a:ext cx="548640" cy="457200"/>
          </a:xfrm>
          <a:prstGeom prst="rect">
            <a:avLst/>
          </a:prstGeom>
          <a:solidFill>
            <a:srgbClr val="F8D49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200" b="1">
                <a:solidFill>
                  <a:srgbClr val="1B1A4A"/>
                </a:solidFill>
              </a:rPr>
              <a:t>20%</a:t>
            </a:r>
          </a:p>
        </p:txBody>
      </p:sp>
      <p:sp>
        <p:nvSpPr>
          <p:cNvPr id="40" name="TextBox 39"/>
          <p:cNvSpPr txBox="1"/>
          <p:nvPr/>
        </p:nvSpPr>
        <p:spPr>
          <a:xfrm>
            <a:off x="8199424" y="4412238"/>
            <a:ext cx="2926080" cy="457200"/>
          </a:xfrm>
          <a:prstGeom prst="rect">
            <a:avLst/>
          </a:prstGeom>
          <a:noFill/>
        </p:spPr>
        <p:txBody>
          <a:bodyPr wrap="square" lIns="0" tIns="0" rIns="0" bIns="0" anchor="t">
            <a:spAutoFit/>
          </a:bodyPr>
          <a:lstStyle/>
          <a:p>
            <a:pPr algn="ctr"/>
            <a:r>
              <a:rPr sz="1700" b="1">
                <a:solidFill>
                  <a:srgbClr val="1B1A4A"/>
                </a:solidFill>
              </a:rPr>
              <a:t>Top 20: all the same</a:t>
            </a:r>
          </a:p>
        </p:txBody>
      </p:sp>
      <p:sp>
        <p:nvSpPr>
          <p:cNvPr id="41" name="TextBox 40"/>
          <p:cNvSpPr txBox="1"/>
          <p:nvPr/>
        </p:nvSpPr>
        <p:spPr>
          <a:xfrm>
            <a:off x="8199424" y="4915158"/>
            <a:ext cx="2926080" cy="274320"/>
          </a:xfrm>
          <a:prstGeom prst="rect">
            <a:avLst/>
          </a:prstGeom>
          <a:noFill/>
        </p:spPr>
        <p:txBody>
          <a:bodyPr wrap="square" lIns="0" tIns="0" rIns="0" bIns="0" anchor="t">
            <a:spAutoFit/>
          </a:bodyPr>
          <a:lstStyle/>
          <a:p>
            <a:pPr algn="ctr"/>
            <a:r>
              <a:rPr sz="1300" b="0">
                <a:solidFill>
                  <a:srgbClr val="3B3558"/>
                </a:solidFill>
              </a:rPr>
              <a:t>99.7% agreement (ρ = 0.997)</a:t>
            </a:r>
          </a:p>
        </p:txBody>
      </p:sp>
      <p:sp>
        <p:nvSpPr>
          <p:cNvPr id="44" name="TextBox 43">
            <a:extLst>
              <a:ext uri="{FF2B5EF4-FFF2-40B4-BE49-F238E27FC236}">
                <a16:creationId xmlns:a16="http://schemas.microsoft.com/office/drawing/2014/main" id="{11734E67-50FF-1DD1-4639-86CE22CB6169}"/>
              </a:ext>
            </a:extLst>
          </p:cNvPr>
          <p:cNvSpPr txBox="1"/>
          <p:nvPr/>
        </p:nvSpPr>
        <p:spPr>
          <a:xfrm>
            <a:off x="2956864" y="5854462"/>
            <a:ext cx="6096000" cy="338554"/>
          </a:xfrm>
          <a:prstGeom prst="rect">
            <a:avLst/>
          </a:prstGeom>
          <a:noFill/>
        </p:spPr>
        <p:txBody>
          <a:bodyPr wrap="square">
            <a:spAutoFit/>
          </a:bodyPr>
          <a:lstStyle/>
          <a:p>
            <a:r>
              <a:rPr lang="en-US" sz="1600" b="0" dirty="0">
                <a:solidFill>
                  <a:srgbClr val="5C4E78"/>
                </a:solidFill>
              </a:rPr>
              <a:t>The same 20 communities came out on top of the risk tier every time.</a:t>
            </a:r>
            <a:endParaRPr lang="en-A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bg_content.png"/>
          <p:cNvPicPr>
            <a:picLocks noChangeAspect="1"/>
          </p:cNvPicPr>
          <p:nvPr/>
        </p:nvPicPr>
        <p:blipFill>
          <a:blip r:embed="rId3"/>
          <a:stretch>
            <a:fillRect/>
          </a:stretch>
        </p:blipFill>
        <p:spPr>
          <a:xfrm>
            <a:off x="0" y="0"/>
            <a:ext cx="12192000" cy="6858000"/>
          </a:xfrm>
          <a:prstGeom prst="rect">
            <a:avLst/>
          </a:prstGeom>
        </p:spPr>
      </p:pic>
      <p:sp>
        <p:nvSpPr>
          <p:cNvPr id="11" name="Rounded Rectangle 10"/>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lstStyle/>
          <a:p>
            <a:pPr algn="l"/>
            <a:r>
              <a:rPr sz="3000" b="1">
                <a:solidFill>
                  <a:srgbClr val="FFFFFF"/>
                </a:solidFill>
              </a:rPr>
              <a:t>Who is most at risk?</a:t>
            </a: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4224" y="1188720"/>
            <a:ext cx="10424160" cy="411480"/>
          </a:xfrm>
          <a:prstGeom prst="rect">
            <a:avLst/>
          </a:prstGeom>
          <a:noFill/>
        </p:spPr>
        <p:txBody>
          <a:bodyPr wrap="square" lIns="0" tIns="0" rIns="0" bIns="0" anchor="t">
            <a:spAutoFit/>
          </a:bodyPr>
          <a:lstStyle/>
          <a:p>
            <a:pPr algn="l"/>
            <a:r>
              <a:rPr sz="1600" b="0" dirty="0">
                <a:solidFill>
                  <a:srgbClr val="F3DDB0"/>
                </a:solidFill>
              </a:rPr>
              <a:t>We split all 782 communities into four equal risk tiers, then looked at the top.</a:t>
            </a: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10</a:t>
            </a:r>
          </a:p>
        </p:txBody>
      </p:sp>
      <p:pic>
        <p:nvPicPr>
          <p:cNvPr id="7" name="Picture 6" descr="tier.png"/>
          <p:cNvPicPr>
            <a:picLocks noChangeAspect="1"/>
          </p:cNvPicPr>
          <p:nvPr/>
        </p:nvPicPr>
        <p:blipFill>
          <a:blip r:embed="rId4"/>
          <a:stretch>
            <a:fillRect/>
          </a:stretch>
        </p:blipFill>
        <p:spPr>
          <a:xfrm>
            <a:off x="1069182" y="1737360"/>
            <a:ext cx="4567843" cy="3017520"/>
          </a:xfrm>
          <a:prstGeom prst="rect">
            <a:avLst/>
          </a:prstGeom>
          <a:ln w="12700">
            <a:solidFill>
              <a:srgbClr val="E6DCC8"/>
            </a:solidFill>
          </a:ln>
        </p:spPr>
      </p:pic>
      <p:sp>
        <p:nvSpPr>
          <p:cNvPr id="8" name="TextBox 7"/>
          <p:cNvSpPr txBox="1"/>
          <p:nvPr/>
        </p:nvSpPr>
        <p:spPr>
          <a:xfrm>
            <a:off x="884224" y="4742378"/>
            <a:ext cx="4937760" cy="1292662"/>
          </a:xfrm>
          <a:prstGeom prst="rect">
            <a:avLst/>
          </a:prstGeom>
          <a:noFill/>
        </p:spPr>
        <p:txBody>
          <a:bodyPr wrap="square" lIns="0" tIns="0" rIns="0" bIns="0" anchor="t">
            <a:spAutoFit/>
          </a:bodyPr>
          <a:lstStyle/>
          <a:p>
            <a:pPr algn="l"/>
            <a:endParaRPr lang="en-US" sz="1400" b="1" dirty="0">
              <a:solidFill>
                <a:srgbClr val="1B1A4A"/>
              </a:solidFill>
            </a:endParaRPr>
          </a:p>
          <a:p>
            <a:pPr marL="285750" indent="-285750" algn="l">
              <a:buFont typeface="Wingdings" panose="05000000000000000000" pitchFamily="2" charset="2"/>
              <a:buChar char="à"/>
            </a:pPr>
            <a:r>
              <a:rPr sz="1400" b="1" dirty="0">
                <a:solidFill>
                  <a:srgbClr val="1B1A4A"/>
                </a:solidFill>
              </a:rPr>
              <a:t>About 195 communities in each tier, from Low to Critical.</a:t>
            </a:r>
            <a:endParaRPr lang="en-US" sz="1400" b="1" dirty="0">
              <a:solidFill>
                <a:srgbClr val="1B1A4A"/>
              </a:solidFill>
            </a:endParaRPr>
          </a:p>
          <a:p>
            <a:pPr marL="285750" indent="-285750" algn="l">
              <a:buFont typeface="Wingdings" panose="05000000000000000000" pitchFamily="2" charset="2"/>
              <a:buChar char="à"/>
            </a:pPr>
            <a:endParaRPr sz="1400" b="1" dirty="0">
              <a:solidFill>
                <a:srgbClr val="1B1A4A"/>
              </a:solidFill>
            </a:endParaRPr>
          </a:p>
          <a:p>
            <a:pPr marL="285750" indent="-285750" algn="l">
              <a:buFont typeface="Wingdings" panose="05000000000000000000" pitchFamily="2" charset="2"/>
              <a:buChar char="à"/>
            </a:pPr>
            <a:r>
              <a:rPr sz="1400" b="0" dirty="0">
                <a:solidFill>
                  <a:srgbClr val="3B3558"/>
                </a:solidFill>
              </a:rPr>
              <a:t>98% of the Critical tier are family outstations. </a:t>
            </a:r>
            <a:endParaRPr lang="en-US" sz="1400" b="0" dirty="0">
              <a:solidFill>
                <a:srgbClr val="3B3558"/>
              </a:solidFill>
            </a:endParaRPr>
          </a:p>
          <a:p>
            <a:pPr marL="285750" indent="-285750" algn="l">
              <a:buFont typeface="Wingdings" panose="05000000000000000000" pitchFamily="2" charset="2"/>
              <a:buChar char="à"/>
            </a:pPr>
            <a:endParaRPr lang="en-US" sz="1400" b="0" dirty="0">
              <a:solidFill>
                <a:srgbClr val="3B3558"/>
              </a:solidFill>
            </a:endParaRPr>
          </a:p>
          <a:p>
            <a:pPr algn="l"/>
            <a:r>
              <a:rPr lang="en-US" sz="1400" dirty="0">
                <a:solidFill>
                  <a:srgbClr val="3B3558"/>
                </a:solidFill>
                <a:sym typeface="Wingdings" panose="05000000000000000000" pitchFamily="2" charset="2"/>
              </a:rPr>
              <a:t> 16</a:t>
            </a:r>
            <a:r>
              <a:rPr sz="1400" b="0" dirty="0">
                <a:solidFill>
                  <a:srgbClr val="3B3558"/>
                </a:solidFill>
              </a:rPr>
              <a:t> places tie at the maximum score of 1.0.</a:t>
            </a:r>
          </a:p>
        </p:txBody>
      </p:sp>
      <p:pic>
        <p:nvPicPr>
          <p:cNvPr id="9" name="Picture 8" descr="top.png"/>
          <p:cNvPicPr>
            <a:picLocks noChangeAspect="1"/>
          </p:cNvPicPr>
          <p:nvPr/>
        </p:nvPicPr>
        <p:blipFill>
          <a:blip r:embed="rId5"/>
          <a:stretch>
            <a:fillRect/>
          </a:stretch>
        </p:blipFill>
        <p:spPr>
          <a:xfrm>
            <a:off x="6387501" y="1691640"/>
            <a:ext cx="4611398" cy="4617720"/>
          </a:xfrm>
          <a:prstGeom prst="rect">
            <a:avLst/>
          </a:prstGeom>
          <a:ln w="12700">
            <a:solidFill>
              <a:srgbClr val="E6DCC8"/>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bg_content.png"/>
          <p:cNvPicPr>
            <a:picLocks noChangeAspect="1"/>
          </p:cNvPicPr>
          <p:nvPr/>
        </p:nvPicPr>
        <p:blipFill>
          <a:blip r:embed="rId3"/>
          <a:stretch>
            <a:fillRect/>
          </a:stretch>
        </p:blipFill>
        <p:spPr>
          <a:xfrm>
            <a:off x="0" y="0"/>
            <a:ext cx="12192000" cy="6858000"/>
          </a:xfrm>
          <a:prstGeom prst="rect">
            <a:avLst/>
          </a:prstGeom>
        </p:spPr>
      </p:pic>
      <p:sp>
        <p:nvSpPr>
          <p:cNvPr id="24" name="Rounded Rectangle 23"/>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lstStyle/>
          <a:p>
            <a:pPr algn="l"/>
            <a:r>
              <a:rPr sz="3000" b="1">
                <a:solidFill>
                  <a:srgbClr val="FFFFFF"/>
                </a:solidFill>
              </a:rPr>
              <a:t>The offline dashboard</a:t>
            </a: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4224" y="1188720"/>
            <a:ext cx="10424160" cy="411480"/>
          </a:xfrm>
          <a:prstGeom prst="rect">
            <a:avLst/>
          </a:prstGeom>
          <a:noFill/>
        </p:spPr>
        <p:txBody>
          <a:bodyPr wrap="square" lIns="0" tIns="0" rIns="0" bIns="0" anchor="t">
            <a:spAutoFit/>
          </a:bodyPr>
          <a:lstStyle/>
          <a:p>
            <a:pPr algn="l"/>
            <a:r>
              <a:rPr sz="1600" b="0">
                <a:solidFill>
                  <a:srgbClr val="F3DDB0"/>
                </a:solidFill>
              </a:rPr>
              <a:t>A working prototype: one file that runs in any browser with no internet.</a:t>
            </a: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11</a:t>
            </a:r>
          </a:p>
        </p:txBody>
      </p:sp>
      <p:sp>
        <p:nvSpPr>
          <p:cNvPr id="7" name="Oval 6"/>
          <p:cNvSpPr/>
          <p:nvPr/>
        </p:nvSpPr>
        <p:spPr>
          <a:xfrm>
            <a:off x="884224" y="1993392"/>
            <a:ext cx="201168" cy="201168"/>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40840" y="1920240"/>
            <a:ext cx="3566160" cy="640080"/>
          </a:xfrm>
          <a:prstGeom prst="rect">
            <a:avLst/>
          </a:prstGeom>
          <a:noFill/>
        </p:spPr>
        <p:txBody>
          <a:bodyPr wrap="square" lIns="0" tIns="0" rIns="0" bIns="0" anchor="t">
            <a:spAutoFit/>
          </a:bodyPr>
          <a:lstStyle/>
          <a:p>
            <a:pPr algn="l"/>
            <a:r>
              <a:rPr sz="1600" b="1">
                <a:solidFill>
                  <a:srgbClr val="1B1A4A"/>
                </a:solidFill>
              </a:rPr>
              <a:t>Search any community or clinic</a:t>
            </a:r>
          </a:p>
        </p:txBody>
      </p:sp>
      <p:sp>
        <p:nvSpPr>
          <p:cNvPr id="9" name="Oval 8"/>
          <p:cNvSpPr/>
          <p:nvPr/>
        </p:nvSpPr>
        <p:spPr>
          <a:xfrm>
            <a:off x="884224" y="2664360"/>
            <a:ext cx="201168" cy="201168"/>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40840" y="2591208"/>
            <a:ext cx="3566160" cy="640080"/>
          </a:xfrm>
          <a:prstGeom prst="rect">
            <a:avLst/>
          </a:prstGeom>
          <a:noFill/>
        </p:spPr>
        <p:txBody>
          <a:bodyPr wrap="square" lIns="0" tIns="0" rIns="0" bIns="0" anchor="t">
            <a:spAutoFit/>
          </a:bodyPr>
          <a:lstStyle/>
          <a:p>
            <a:pPr algn="l"/>
            <a:r>
              <a:rPr sz="1600" b="1" dirty="0">
                <a:solidFill>
                  <a:srgbClr val="1B1A4A"/>
                </a:solidFill>
              </a:rPr>
              <a:t>See coverage, drive times and risk tier</a:t>
            </a:r>
          </a:p>
        </p:txBody>
      </p:sp>
      <p:sp>
        <p:nvSpPr>
          <p:cNvPr id="11" name="Oval 10"/>
          <p:cNvSpPr/>
          <p:nvPr/>
        </p:nvSpPr>
        <p:spPr>
          <a:xfrm>
            <a:off x="884224" y="3421835"/>
            <a:ext cx="201168" cy="201168"/>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40840" y="3348683"/>
            <a:ext cx="3566160" cy="640080"/>
          </a:xfrm>
          <a:prstGeom prst="rect">
            <a:avLst/>
          </a:prstGeom>
          <a:noFill/>
        </p:spPr>
        <p:txBody>
          <a:bodyPr wrap="square" lIns="0" tIns="0" rIns="0" bIns="0" anchor="t">
            <a:spAutoFit/>
          </a:bodyPr>
          <a:lstStyle/>
          <a:p>
            <a:pPr algn="l"/>
            <a:r>
              <a:rPr sz="1600" b="1">
                <a:solidFill>
                  <a:srgbClr val="1B1A4A"/>
                </a:solidFill>
              </a:rPr>
              <a:t>Get the clinic phone, hours and 24/7 status</a:t>
            </a:r>
          </a:p>
        </p:txBody>
      </p:sp>
      <p:sp>
        <p:nvSpPr>
          <p:cNvPr id="13" name="Oval 12"/>
          <p:cNvSpPr/>
          <p:nvPr/>
        </p:nvSpPr>
        <p:spPr>
          <a:xfrm>
            <a:off x="884224" y="4216372"/>
            <a:ext cx="201168" cy="201168"/>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40840" y="4143220"/>
            <a:ext cx="3566160" cy="246221"/>
          </a:xfrm>
          <a:prstGeom prst="rect">
            <a:avLst/>
          </a:prstGeom>
          <a:noFill/>
        </p:spPr>
        <p:txBody>
          <a:bodyPr wrap="square" lIns="0" tIns="0" rIns="0" bIns="0" anchor="t">
            <a:spAutoFit/>
          </a:bodyPr>
          <a:lstStyle/>
          <a:p>
            <a:pPr algn="l"/>
            <a:r>
              <a:rPr sz="1600" b="1" dirty="0">
                <a:solidFill>
                  <a:srgbClr val="1B1A4A"/>
                </a:solidFill>
              </a:rPr>
              <a:t>No install, no</a:t>
            </a:r>
            <a:r>
              <a:rPr lang="en-US" sz="1600" b="1" dirty="0">
                <a:solidFill>
                  <a:srgbClr val="1B1A4A"/>
                </a:solidFill>
              </a:rPr>
              <a:t> server</a:t>
            </a:r>
            <a:endParaRPr sz="1600" b="1" dirty="0">
              <a:solidFill>
                <a:srgbClr val="1B1A4A"/>
              </a:solidFill>
            </a:endParaRPr>
          </a:p>
        </p:txBody>
      </p:sp>
      <p:sp>
        <p:nvSpPr>
          <p:cNvPr id="15" name="Oval 14"/>
          <p:cNvSpPr/>
          <p:nvPr/>
        </p:nvSpPr>
        <p:spPr>
          <a:xfrm>
            <a:off x="884224" y="5468112"/>
            <a:ext cx="201168" cy="201168"/>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40839" y="5505620"/>
            <a:ext cx="3566160" cy="640080"/>
          </a:xfrm>
          <a:prstGeom prst="rect">
            <a:avLst/>
          </a:prstGeom>
          <a:noFill/>
        </p:spPr>
        <p:txBody>
          <a:bodyPr wrap="square" lIns="0" tIns="0" rIns="0" bIns="0" anchor="t">
            <a:spAutoFit/>
          </a:bodyPr>
          <a:lstStyle/>
          <a:p>
            <a:pPr algn="l"/>
            <a:r>
              <a:rPr sz="1600" b="1">
                <a:solidFill>
                  <a:srgbClr val="1B1A4A"/>
                </a:solidFill>
              </a:rPr>
              <a:t>Works where signal is weakest</a:t>
            </a:r>
          </a:p>
        </p:txBody>
      </p:sp>
      <p:pic>
        <p:nvPicPr>
          <p:cNvPr id="17" name="Picture 16" descr="dash.png"/>
          <p:cNvPicPr>
            <a:picLocks noChangeAspect="1"/>
          </p:cNvPicPr>
          <p:nvPr/>
        </p:nvPicPr>
        <p:blipFill>
          <a:blip r:embed="rId4"/>
          <a:stretch>
            <a:fillRect/>
          </a:stretch>
        </p:blipFill>
        <p:spPr>
          <a:xfrm>
            <a:off x="5757976" y="1725930"/>
            <a:ext cx="5541264" cy="3463290"/>
          </a:xfrm>
          <a:prstGeom prst="rect">
            <a:avLst/>
          </a:prstGeom>
          <a:ln w="38100">
            <a:solidFill>
              <a:srgbClr val="E8731A"/>
            </a:solidFill>
          </a:ln>
        </p:spPr>
      </p:pic>
      <p:sp>
        <p:nvSpPr>
          <p:cNvPr id="20" name="TextBox 19">
            <a:extLst>
              <a:ext uri="{FF2B5EF4-FFF2-40B4-BE49-F238E27FC236}">
                <a16:creationId xmlns:a16="http://schemas.microsoft.com/office/drawing/2014/main" id="{C156C326-3C99-518C-0B19-6479CC1E7A7A}"/>
              </a:ext>
            </a:extLst>
          </p:cNvPr>
          <p:cNvSpPr txBox="1"/>
          <p:nvPr/>
        </p:nvSpPr>
        <p:spPr>
          <a:xfrm>
            <a:off x="7385002" y="5530334"/>
            <a:ext cx="3167668" cy="369332"/>
          </a:xfrm>
          <a:prstGeom prst="rect">
            <a:avLst/>
          </a:prstGeom>
          <a:noFill/>
        </p:spPr>
        <p:txBody>
          <a:bodyPr wrap="square">
            <a:spAutoFit/>
          </a:bodyPr>
          <a:lstStyle/>
          <a:p>
            <a:r>
              <a:rPr lang="en-AU" dirty="0">
                <a:hlinkClick r:id="rId5"/>
              </a:rPr>
              <a:t>The Long Way to Care</a:t>
            </a:r>
            <a:endParaRPr lang="en-AU" dirty="0"/>
          </a:p>
        </p:txBody>
      </p:sp>
      <p:sp>
        <p:nvSpPr>
          <p:cNvPr id="21" name="Oval 20">
            <a:extLst>
              <a:ext uri="{FF2B5EF4-FFF2-40B4-BE49-F238E27FC236}">
                <a16:creationId xmlns:a16="http://schemas.microsoft.com/office/drawing/2014/main" id="{71FEFADE-3DD9-1A1A-67B6-927BFC583FAE}"/>
              </a:ext>
            </a:extLst>
          </p:cNvPr>
          <p:cNvSpPr/>
          <p:nvPr/>
        </p:nvSpPr>
        <p:spPr>
          <a:xfrm>
            <a:off x="900697" y="4875406"/>
            <a:ext cx="201168" cy="201168"/>
          </a:xfrm>
          <a:prstGeom prst="ellips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57289FDF-A615-C43C-82C8-7F6D4B6BADA8}"/>
              </a:ext>
            </a:extLst>
          </p:cNvPr>
          <p:cNvSpPr txBox="1"/>
          <p:nvPr/>
        </p:nvSpPr>
        <p:spPr>
          <a:xfrm>
            <a:off x="1257313" y="4802254"/>
            <a:ext cx="3566160" cy="246221"/>
          </a:xfrm>
          <a:prstGeom prst="rect">
            <a:avLst/>
          </a:prstGeom>
          <a:noFill/>
        </p:spPr>
        <p:txBody>
          <a:bodyPr wrap="square" lIns="0" tIns="0" rIns="0" bIns="0" anchor="t">
            <a:spAutoFit/>
          </a:bodyPr>
          <a:lstStyle/>
          <a:p>
            <a:pPr algn="l"/>
            <a:r>
              <a:rPr lang="en-US" sz="1600" b="1" dirty="0">
                <a:solidFill>
                  <a:srgbClr val="1B1A4A"/>
                </a:solidFill>
              </a:rPr>
              <a:t>Log/report signal information </a:t>
            </a:r>
            <a:r>
              <a:rPr lang="en-US" sz="1600" b="1">
                <a:solidFill>
                  <a:srgbClr val="1B1A4A"/>
                </a:solidFill>
              </a:rPr>
              <a:t>in your area</a:t>
            </a:r>
            <a:endParaRPr sz="1600" b="1" dirty="0">
              <a:solidFill>
                <a:srgbClr val="1B1A4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bg_content.png"/>
          <p:cNvPicPr>
            <a:picLocks noChangeAspect="1"/>
          </p:cNvPicPr>
          <p:nvPr/>
        </p:nvPicPr>
        <p:blipFill>
          <a:blip r:embed="rId3"/>
          <a:stretch>
            <a:fillRect/>
          </a:stretch>
        </p:blipFill>
        <p:spPr>
          <a:xfrm>
            <a:off x="0" y="0"/>
            <a:ext cx="12192000" cy="6858000"/>
          </a:xfrm>
          <a:prstGeom prst="rect">
            <a:avLst/>
          </a:prstGeom>
        </p:spPr>
      </p:pic>
      <p:sp>
        <p:nvSpPr>
          <p:cNvPr id="20" name="Rounded Rectangle 19"/>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lstStyle/>
          <a:p>
            <a:pPr algn="l"/>
            <a:r>
              <a:rPr lang="en-US" sz="3000" b="1" dirty="0">
                <a:solidFill>
                  <a:srgbClr val="FFFFFF"/>
                </a:solidFill>
              </a:rPr>
              <a:t>Recommendations</a:t>
            </a:r>
            <a:endParaRPr sz="3000" b="1" dirty="0">
              <a:solidFill>
                <a:srgbClr val="1B1A4A"/>
              </a:solidFill>
            </a:endParaRP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4224" y="1188720"/>
            <a:ext cx="10424160" cy="411480"/>
          </a:xfrm>
          <a:prstGeom prst="rect">
            <a:avLst/>
          </a:prstGeom>
          <a:noFill/>
        </p:spPr>
        <p:txBody>
          <a:bodyPr wrap="square" lIns="0" tIns="0" rIns="0" bIns="0" anchor="t">
            <a:spAutoFit/>
          </a:bodyPr>
          <a:lstStyle/>
          <a:p>
            <a:pPr algn="l"/>
            <a:r>
              <a:rPr sz="1600" b="0">
                <a:solidFill>
                  <a:srgbClr val="F3DDB0"/>
                </a:solidFill>
              </a:rPr>
              <a:t>Three actions, in order of priority.</a:t>
            </a: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12</a:t>
            </a:r>
          </a:p>
        </p:txBody>
      </p:sp>
      <p:sp>
        <p:nvSpPr>
          <p:cNvPr id="7" name="Pentagon 6"/>
          <p:cNvSpPr/>
          <p:nvPr/>
        </p:nvSpPr>
        <p:spPr>
          <a:xfrm>
            <a:off x="884224" y="1920240"/>
            <a:ext cx="3291840" cy="822960"/>
          </a:xfrm>
          <a:prstGeom prst="homePlat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B1A4A"/>
                </a:solidFill>
              </a:rPr>
              <a:t>1  CONNECT</a:t>
            </a:r>
          </a:p>
        </p:txBody>
      </p:sp>
      <p:sp>
        <p:nvSpPr>
          <p:cNvPr id="8" name="Rounded Rectangle 7"/>
          <p:cNvSpPr/>
          <p:nvPr/>
        </p:nvSpPr>
        <p:spPr>
          <a:xfrm>
            <a:off x="884224" y="2971800"/>
            <a:ext cx="3291840" cy="265176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85392" y="3154680"/>
            <a:ext cx="2889504" cy="553998"/>
          </a:xfrm>
          <a:prstGeom prst="rect">
            <a:avLst/>
          </a:prstGeom>
          <a:noFill/>
        </p:spPr>
        <p:txBody>
          <a:bodyPr wrap="square" lIns="0" tIns="0" rIns="0" bIns="0" anchor="t">
            <a:spAutoFit/>
          </a:bodyPr>
          <a:lstStyle/>
          <a:p>
            <a:pPr algn="l"/>
            <a:r>
              <a:rPr lang="en-US" sz="1800" b="1" dirty="0">
                <a:solidFill>
                  <a:srgbClr val="1B1A4A"/>
                </a:solidFill>
              </a:rPr>
              <a:t>Stakeholders; </a:t>
            </a:r>
          </a:p>
          <a:p>
            <a:pPr algn="l"/>
            <a:r>
              <a:rPr sz="1800" b="1" dirty="0">
                <a:solidFill>
                  <a:srgbClr val="1B1A4A"/>
                </a:solidFill>
              </a:rPr>
              <a:t>Connect the Critical tier first</a:t>
            </a:r>
          </a:p>
        </p:txBody>
      </p:sp>
      <p:sp>
        <p:nvSpPr>
          <p:cNvPr id="10" name="TextBox 9"/>
          <p:cNvSpPr txBox="1"/>
          <p:nvPr/>
        </p:nvSpPr>
        <p:spPr>
          <a:xfrm>
            <a:off x="1085392" y="3931920"/>
            <a:ext cx="2889504" cy="1645920"/>
          </a:xfrm>
          <a:prstGeom prst="rect">
            <a:avLst/>
          </a:prstGeom>
          <a:noFill/>
        </p:spPr>
        <p:txBody>
          <a:bodyPr wrap="square" lIns="0" tIns="0" rIns="0" bIns="0" anchor="t">
            <a:spAutoFit/>
          </a:bodyPr>
          <a:lstStyle/>
          <a:p>
            <a:pPr algn="l"/>
            <a:r>
              <a:rPr sz="1500" b="0">
                <a:solidFill>
                  <a:srgbClr val="3B3558"/>
                </a:solidFill>
              </a:rPr>
              <a:t>Start with family outstations: prioritise coverage and a confirmed way to call for help.</a:t>
            </a:r>
          </a:p>
        </p:txBody>
      </p:sp>
      <p:sp>
        <p:nvSpPr>
          <p:cNvPr id="11" name="Pentagon 10"/>
          <p:cNvSpPr/>
          <p:nvPr/>
        </p:nvSpPr>
        <p:spPr>
          <a:xfrm>
            <a:off x="4450384" y="1920240"/>
            <a:ext cx="3291840" cy="822960"/>
          </a:xfrm>
          <a:prstGeom prst="homePlat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B1A4A"/>
                </a:solidFill>
              </a:rPr>
              <a:t>2  CLOSE</a:t>
            </a:r>
          </a:p>
        </p:txBody>
      </p:sp>
      <p:sp>
        <p:nvSpPr>
          <p:cNvPr id="12" name="Rounded Rectangle 11"/>
          <p:cNvSpPr/>
          <p:nvPr/>
        </p:nvSpPr>
        <p:spPr>
          <a:xfrm>
            <a:off x="4450384" y="2971800"/>
            <a:ext cx="3291840" cy="265176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51552" y="3154680"/>
            <a:ext cx="2889504" cy="553998"/>
          </a:xfrm>
          <a:prstGeom prst="rect">
            <a:avLst/>
          </a:prstGeom>
          <a:noFill/>
        </p:spPr>
        <p:txBody>
          <a:bodyPr wrap="square" lIns="0" tIns="0" rIns="0" bIns="0" anchor="t">
            <a:spAutoFit/>
          </a:bodyPr>
          <a:lstStyle/>
          <a:p>
            <a:pPr algn="l"/>
            <a:r>
              <a:rPr lang="en-US" sz="1800" b="1" dirty="0">
                <a:solidFill>
                  <a:srgbClr val="1B1A4A"/>
                </a:solidFill>
              </a:rPr>
              <a:t>Stake</a:t>
            </a:r>
            <a:r>
              <a:rPr lang="en-US" b="1" dirty="0">
                <a:solidFill>
                  <a:srgbClr val="1B1A4A"/>
                </a:solidFill>
              </a:rPr>
              <a:t>holders</a:t>
            </a:r>
            <a:r>
              <a:rPr lang="en-US" sz="1800" b="1" dirty="0">
                <a:solidFill>
                  <a:srgbClr val="1B1A4A"/>
                </a:solidFill>
              </a:rPr>
              <a:t>; </a:t>
            </a:r>
          </a:p>
          <a:p>
            <a:pPr algn="l"/>
            <a:r>
              <a:rPr sz="1800" b="1" dirty="0">
                <a:solidFill>
                  <a:srgbClr val="1B1A4A"/>
                </a:solidFill>
              </a:rPr>
              <a:t>Close the 24/7 gap</a:t>
            </a:r>
          </a:p>
        </p:txBody>
      </p:sp>
      <p:sp>
        <p:nvSpPr>
          <p:cNvPr id="14" name="TextBox 13"/>
          <p:cNvSpPr txBox="1"/>
          <p:nvPr/>
        </p:nvSpPr>
        <p:spPr>
          <a:xfrm>
            <a:off x="4651552" y="3931920"/>
            <a:ext cx="2889504" cy="1645920"/>
          </a:xfrm>
          <a:prstGeom prst="rect">
            <a:avLst/>
          </a:prstGeom>
          <a:noFill/>
        </p:spPr>
        <p:txBody>
          <a:bodyPr wrap="square" lIns="0" tIns="0" rIns="0" bIns="0" anchor="t">
            <a:spAutoFit/>
          </a:bodyPr>
          <a:lstStyle/>
          <a:p>
            <a:pPr algn="l"/>
            <a:r>
              <a:rPr sz="1500" b="0">
                <a:solidFill>
                  <a:srgbClr val="3B3558"/>
                </a:solidFill>
              </a:rPr>
              <a:t>Start with the 210 communities that cannot call and whose nearest clinic lists no 24/7 service.</a:t>
            </a:r>
          </a:p>
        </p:txBody>
      </p:sp>
      <p:sp>
        <p:nvSpPr>
          <p:cNvPr id="15" name="Pentagon 14"/>
          <p:cNvSpPr/>
          <p:nvPr/>
        </p:nvSpPr>
        <p:spPr>
          <a:xfrm>
            <a:off x="8016544" y="1920240"/>
            <a:ext cx="3291840" cy="822960"/>
          </a:xfrm>
          <a:prstGeom prst="homePlate">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B1A4A"/>
                </a:solidFill>
              </a:rPr>
              <a:t>3  SHARE</a:t>
            </a:r>
          </a:p>
        </p:txBody>
      </p:sp>
      <p:sp>
        <p:nvSpPr>
          <p:cNvPr id="16" name="Rounded Rectangle 15"/>
          <p:cNvSpPr/>
          <p:nvPr/>
        </p:nvSpPr>
        <p:spPr>
          <a:xfrm>
            <a:off x="8016544" y="2971800"/>
            <a:ext cx="3291840" cy="265176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17712" y="3154680"/>
            <a:ext cx="2889504" cy="830997"/>
          </a:xfrm>
          <a:prstGeom prst="rect">
            <a:avLst/>
          </a:prstGeom>
          <a:noFill/>
        </p:spPr>
        <p:txBody>
          <a:bodyPr wrap="square" lIns="0" tIns="0" rIns="0" bIns="0" anchor="t">
            <a:spAutoFit/>
          </a:bodyPr>
          <a:lstStyle/>
          <a:p>
            <a:pPr algn="l"/>
            <a:r>
              <a:rPr lang="en-US" sz="1800" b="1" dirty="0">
                <a:solidFill>
                  <a:srgbClr val="1B1A4A"/>
                </a:solidFill>
              </a:rPr>
              <a:t>Stakeholders; </a:t>
            </a:r>
          </a:p>
          <a:p>
            <a:pPr algn="l"/>
            <a:r>
              <a:rPr sz="1800" b="1" dirty="0">
                <a:solidFill>
                  <a:srgbClr val="1B1A4A"/>
                </a:solidFill>
              </a:rPr>
              <a:t>Put the dashboard in local hands</a:t>
            </a:r>
          </a:p>
        </p:txBody>
      </p:sp>
      <p:sp>
        <p:nvSpPr>
          <p:cNvPr id="18" name="TextBox 17"/>
          <p:cNvSpPr txBox="1"/>
          <p:nvPr/>
        </p:nvSpPr>
        <p:spPr>
          <a:xfrm>
            <a:off x="8217712" y="3931920"/>
            <a:ext cx="2889504" cy="1645920"/>
          </a:xfrm>
          <a:prstGeom prst="rect">
            <a:avLst/>
          </a:prstGeom>
          <a:noFill/>
        </p:spPr>
        <p:txBody>
          <a:bodyPr wrap="square" lIns="0" tIns="0" rIns="0" bIns="0" anchor="t">
            <a:spAutoFit/>
          </a:bodyPr>
          <a:lstStyle/>
          <a:p>
            <a:pPr algn="l"/>
            <a:r>
              <a:rPr sz="1500" b="0">
                <a:solidFill>
                  <a:srgbClr val="3B3558"/>
                </a:solidFill>
              </a:rPr>
              <a:t>Through remote health services and Aboriginal community-controlled health organisations, so coverage can be checked with communities.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bg_content.png"/>
          <p:cNvPicPr>
            <a:picLocks noChangeAspect="1"/>
          </p:cNvPicPr>
          <p:nvPr/>
        </p:nvPicPr>
        <p:blipFill>
          <a:blip r:embed="rId3"/>
          <a:stretch>
            <a:fillRect/>
          </a:stretch>
        </p:blipFill>
        <p:spPr>
          <a:xfrm>
            <a:off x="0" y="0"/>
            <a:ext cx="12192000" cy="6858000"/>
          </a:xfrm>
          <a:prstGeom prst="rect">
            <a:avLst/>
          </a:prstGeom>
        </p:spPr>
      </p:pic>
      <p:sp>
        <p:nvSpPr>
          <p:cNvPr id="8" name="Rounded Rectangle 7"/>
          <p:cNvSpPr/>
          <p:nvPr/>
        </p:nvSpPr>
        <p:spPr>
          <a:xfrm>
            <a:off x="572813" y="1894050"/>
            <a:ext cx="11277295" cy="2764454"/>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6968" y="457200"/>
            <a:ext cx="10424160" cy="731520"/>
          </a:xfrm>
        </p:spPr>
        <p:txBody>
          <a:bodyPr wrap="square" lIns="0" anchor="ctr"/>
          <a:lstStyle/>
          <a:p>
            <a:pPr algn="l"/>
            <a:r>
              <a:rPr sz="3000" b="1">
                <a:solidFill>
                  <a:srgbClr val="FFFFFF"/>
                </a:solidFill>
              </a:rPr>
              <a:t>Limitations</a:t>
            </a:r>
          </a:p>
        </p:txBody>
      </p:sp>
      <p:sp>
        <p:nvSpPr>
          <p:cNvPr id="3" name="Rectangle 2"/>
          <p:cNvSpPr/>
          <p:nvPr/>
        </p:nvSpPr>
        <p:spPr>
          <a:xfrm>
            <a:off x="886968"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1188720"/>
            <a:ext cx="10424160" cy="411480"/>
          </a:xfrm>
          <a:prstGeom prst="rect">
            <a:avLst/>
          </a:prstGeom>
          <a:noFill/>
        </p:spPr>
        <p:txBody>
          <a:bodyPr wrap="square" lIns="0" tIns="0" rIns="0" bIns="0" anchor="t">
            <a:spAutoFit/>
          </a:bodyPr>
          <a:lstStyle/>
          <a:p>
            <a:pPr algn="l"/>
            <a:r>
              <a:rPr sz="1600" b="0" dirty="0">
                <a:solidFill>
                  <a:srgbClr val="F3DDB0"/>
                </a:solidFill>
              </a:rPr>
              <a:t>What this analysis cannot tell us, and how we handled it.</a:t>
            </a:r>
          </a:p>
        </p:txBody>
      </p:sp>
      <p:sp>
        <p:nvSpPr>
          <p:cNvPr id="5" name="TextBox 4"/>
          <p:cNvSpPr txBox="1"/>
          <p:nvPr/>
        </p:nvSpPr>
        <p:spPr>
          <a:xfrm>
            <a:off x="886968"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21824" y="6446520"/>
            <a:ext cx="1280160" cy="274320"/>
          </a:xfrm>
          <a:prstGeom prst="rect">
            <a:avLst/>
          </a:prstGeom>
          <a:noFill/>
        </p:spPr>
        <p:txBody>
          <a:bodyPr wrap="square" lIns="0" tIns="0" rIns="0" bIns="0" anchor="t">
            <a:spAutoFit/>
          </a:bodyPr>
          <a:lstStyle/>
          <a:p>
            <a:pPr algn="r"/>
            <a:r>
              <a:rPr sz="1000" b="0">
                <a:solidFill>
                  <a:srgbClr val="F6ECCB"/>
                </a:solidFill>
              </a:rPr>
              <a:t>13</a:t>
            </a:r>
          </a:p>
        </p:txBody>
      </p:sp>
      <p:sp>
        <p:nvSpPr>
          <p:cNvPr id="9" name="Rounded Rectangle 8"/>
          <p:cNvSpPr/>
          <p:nvPr/>
        </p:nvSpPr>
        <p:spPr>
          <a:xfrm>
            <a:off x="886968" y="2131794"/>
            <a:ext cx="3337560" cy="2176272"/>
          </a:xfrm>
          <a:prstGeom prst="roundRect">
            <a:avLst>
              <a:gd name="adj" fmla="val 5000"/>
            </a:avLst>
          </a:prstGeom>
          <a:solidFill>
            <a:srgbClr val="FBF0DA"/>
          </a:solidFill>
          <a:ln w="9525">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69848" y="2296386"/>
            <a:ext cx="502920" cy="73152"/>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9848" y="2460978"/>
            <a:ext cx="2971800" cy="457200"/>
          </a:xfrm>
          <a:prstGeom prst="rect">
            <a:avLst/>
          </a:prstGeom>
          <a:noFill/>
        </p:spPr>
        <p:txBody>
          <a:bodyPr wrap="square" lIns="0" tIns="0" rIns="0" bIns="0" anchor="t">
            <a:spAutoFit/>
          </a:bodyPr>
          <a:lstStyle/>
          <a:p>
            <a:pPr algn="l"/>
            <a:r>
              <a:rPr sz="1450" b="1">
                <a:solidFill>
                  <a:srgbClr val="1B1A4A"/>
                </a:solidFill>
              </a:rPr>
              <a:t>Coverage is unconfirmed</a:t>
            </a:r>
          </a:p>
        </p:txBody>
      </p:sp>
      <p:sp>
        <p:nvSpPr>
          <p:cNvPr id="12" name="TextBox 11"/>
          <p:cNvSpPr txBox="1"/>
          <p:nvPr/>
        </p:nvSpPr>
        <p:spPr>
          <a:xfrm>
            <a:off x="1069848" y="2973042"/>
            <a:ext cx="2971800" cy="685800"/>
          </a:xfrm>
          <a:prstGeom prst="rect">
            <a:avLst/>
          </a:prstGeom>
          <a:noFill/>
        </p:spPr>
        <p:txBody>
          <a:bodyPr wrap="square" lIns="0" tIns="0" rIns="0" bIns="0" anchor="t">
            <a:spAutoFit/>
          </a:bodyPr>
          <a:lstStyle/>
          <a:p>
            <a:pPr algn="l"/>
            <a:r>
              <a:rPr sz="1200" b="0">
                <a:solidFill>
                  <a:srgbClr val="3B3558"/>
                </a:solidFill>
              </a:rPr>
              <a:t>'Never recorded' means nobody has confirmed a signal. Some of the 423 places may have one.</a:t>
            </a:r>
          </a:p>
        </p:txBody>
      </p:sp>
      <p:sp>
        <p:nvSpPr>
          <p:cNvPr id="13" name="TextBox 12"/>
          <p:cNvSpPr txBox="1"/>
          <p:nvPr/>
        </p:nvSpPr>
        <p:spPr>
          <a:xfrm>
            <a:off x="1069848" y="3667986"/>
            <a:ext cx="2971800" cy="566928"/>
          </a:xfrm>
          <a:prstGeom prst="rect">
            <a:avLst/>
          </a:prstGeom>
          <a:noFill/>
        </p:spPr>
        <p:txBody>
          <a:bodyPr wrap="square" lIns="0" tIns="0" rIns="0" bIns="0" anchor="t">
            <a:spAutoFit/>
          </a:bodyPr>
          <a:lstStyle/>
          <a:p>
            <a:pPr algn="l"/>
            <a:r>
              <a:rPr sz="1150" b="1">
                <a:solidFill>
                  <a:srgbClr val="5C4E78"/>
                </a:solidFill>
              </a:rPr>
              <a:t>How we handled it: </a:t>
            </a:r>
            <a:r>
              <a:rPr sz="1150" b="0">
                <a:solidFill>
                  <a:srgbClr val="5C4E78"/>
                </a:solidFill>
              </a:rPr>
              <a:t>We say 'no confirmed way to call' and recommend local checks.</a:t>
            </a:r>
          </a:p>
        </p:txBody>
      </p:sp>
      <p:sp>
        <p:nvSpPr>
          <p:cNvPr id="14" name="Rounded Rectangle 13"/>
          <p:cNvSpPr/>
          <p:nvPr/>
        </p:nvSpPr>
        <p:spPr>
          <a:xfrm>
            <a:off x="4430268" y="2131794"/>
            <a:ext cx="3337560" cy="2176272"/>
          </a:xfrm>
          <a:prstGeom prst="roundRect">
            <a:avLst>
              <a:gd name="adj" fmla="val 5000"/>
            </a:avLst>
          </a:prstGeom>
          <a:solidFill>
            <a:srgbClr val="FBF0DA"/>
          </a:solidFill>
          <a:ln w="9525">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613148" y="2296386"/>
            <a:ext cx="502920" cy="73152"/>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13148" y="2460978"/>
            <a:ext cx="2971800" cy="457200"/>
          </a:xfrm>
          <a:prstGeom prst="rect">
            <a:avLst/>
          </a:prstGeom>
          <a:noFill/>
        </p:spPr>
        <p:txBody>
          <a:bodyPr wrap="square" lIns="0" tIns="0" rIns="0" bIns="0" anchor="t">
            <a:spAutoFit/>
          </a:bodyPr>
          <a:lstStyle/>
          <a:p>
            <a:pPr algn="l"/>
            <a:r>
              <a:rPr sz="1450" b="1">
                <a:solidFill>
                  <a:srgbClr val="1B1A4A"/>
                </a:solidFill>
              </a:rPr>
              <a:t>Missing routes are assumed</a:t>
            </a:r>
          </a:p>
        </p:txBody>
      </p:sp>
      <p:sp>
        <p:nvSpPr>
          <p:cNvPr id="17" name="TextBox 16"/>
          <p:cNvSpPr txBox="1"/>
          <p:nvPr/>
        </p:nvSpPr>
        <p:spPr>
          <a:xfrm>
            <a:off x="4613148" y="2973042"/>
            <a:ext cx="2971800" cy="685800"/>
          </a:xfrm>
          <a:prstGeom prst="rect">
            <a:avLst/>
          </a:prstGeom>
          <a:noFill/>
        </p:spPr>
        <p:txBody>
          <a:bodyPr wrap="square" lIns="0" tIns="0" rIns="0" bIns="0" anchor="t">
            <a:spAutoFit/>
          </a:bodyPr>
          <a:lstStyle/>
          <a:p>
            <a:pPr algn="l"/>
            <a:r>
              <a:rPr sz="1200" b="0">
                <a:solidFill>
                  <a:srgbClr val="3B3558"/>
                </a:solidFill>
              </a:rPr>
              <a:t>Where no road route could be mapped, the place was scored worst case, so 16 places tie at 1.0.</a:t>
            </a:r>
          </a:p>
        </p:txBody>
      </p:sp>
      <p:sp>
        <p:nvSpPr>
          <p:cNvPr id="18" name="TextBox 17"/>
          <p:cNvSpPr txBox="1"/>
          <p:nvPr/>
        </p:nvSpPr>
        <p:spPr>
          <a:xfrm>
            <a:off x="4613148" y="3667986"/>
            <a:ext cx="2971800" cy="566928"/>
          </a:xfrm>
          <a:prstGeom prst="rect">
            <a:avLst/>
          </a:prstGeom>
          <a:noFill/>
        </p:spPr>
        <p:txBody>
          <a:bodyPr wrap="square" lIns="0" tIns="0" rIns="0" bIns="0" anchor="t">
            <a:spAutoFit/>
          </a:bodyPr>
          <a:lstStyle/>
          <a:p>
            <a:pPr algn="l"/>
            <a:r>
              <a:rPr sz="1150" b="1">
                <a:solidFill>
                  <a:srgbClr val="5C4E78"/>
                </a:solidFill>
              </a:rPr>
              <a:t>How we handled it: </a:t>
            </a:r>
            <a:r>
              <a:rPr sz="1150" b="0">
                <a:solidFill>
                  <a:srgbClr val="5C4E78"/>
                </a:solidFill>
              </a:rPr>
              <a:t>Read the very top of the list as 'most cut off', not a precise rank.</a:t>
            </a:r>
          </a:p>
        </p:txBody>
      </p:sp>
      <p:sp>
        <p:nvSpPr>
          <p:cNvPr id="19" name="Rounded Rectangle 18"/>
          <p:cNvSpPr/>
          <p:nvPr/>
        </p:nvSpPr>
        <p:spPr>
          <a:xfrm>
            <a:off x="7973568" y="2131794"/>
            <a:ext cx="3337560" cy="2176272"/>
          </a:xfrm>
          <a:prstGeom prst="roundRect">
            <a:avLst>
              <a:gd name="adj" fmla="val 5000"/>
            </a:avLst>
          </a:prstGeom>
          <a:solidFill>
            <a:srgbClr val="FBF0DA"/>
          </a:solidFill>
          <a:ln w="9525">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56448" y="2296386"/>
            <a:ext cx="502920" cy="73152"/>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56448" y="2460978"/>
            <a:ext cx="2971800" cy="457200"/>
          </a:xfrm>
          <a:prstGeom prst="rect">
            <a:avLst/>
          </a:prstGeom>
          <a:noFill/>
        </p:spPr>
        <p:txBody>
          <a:bodyPr wrap="square" lIns="0" tIns="0" rIns="0" bIns="0" anchor="t">
            <a:spAutoFit/>
          </a:bodyPr>
          <a:lstStyle/>
          <a:p>
            <a:pPr algn="l"/>
            <a:r>
              <a:rPr sz="1450" b="1">
                <a:solidFill>
                  <a:srgbClr val="1B1A4A"/>
                </a:solidFill>
              </a:rPr>
              <a:t>Dry-season, best-case travel</a:t>
            </a:r>
          </a:p>
        </p:txBody>
      </p:sp>
      <p:sp>
        <p:nvSpPr>
          <p:cNvPr id="22" name="TextBox 21"/>
          <p:cNvSpPr txBox="1"/>
          <p:nvPr/>
        </p:nvSpPr>
        <p:spPr>
          <a:xfrm>
            <a:off x="8156448" y="2973042"/>
            <a:ext cx="2971800" cy="685800"/>
          </a:xfrm>
          <a:prstGeom prst="rect">
            <a:avLst/>
          </a:prstGeom>
          <a:noFill/>
        </p:spPr>
        <p:txBody>
          <a:bodyPr wrap="square" lIns="0" tIns="0" rIns="0" bIns="0" anchor="t">
            <a:spAutoFit/>
          </a:bodyPr>
          <a:lstStyle/>
          <a:p>
            <a:pPr algn="l"/>
            <a:r>
              <a:rPr sz="1200" b="0">
                <a:solidFill>
                  <a:srgbClr val="3B3558"/>
                </a:solidFill>
              </a:rPr>
              <a:t>Wet-season closures and road conditions are not captured, so real trips can be longer.</a:t>
            </a:r>
          </a:p>
        </p:txBody>
      </p:sp>
      <p:sp>
        <p:nvSpPr>
          <p:cNvPr id="23" name="TextBox 22"/>
          <p:cNvSpPr txBox="1"/>
          <p:nvPr/>
        </p:nvSpPr>
        <p:spPr>
          <a:xfrm>
            <a:off x="8156448" y="3667986"/>
            <a:ext cx="2971800" cy="566928"/>
          </a:xfrm>
          <a:prstGeom prst="rect">
            <a:avLst/>
          </a:prstGeom>
          <a:noFill/>
        </p:spPr>
        <p:txBody>
          <a:bodyPr wrap="square" lIns="0" tIns="0" rIns="0" bIns="0" anchor="t">
            <a:spAutoFit/>
          </a:bodyPr>
          <a:lstStyle/>
          <a:p>
            <a:pPr algn="l"/>
            <a:r>
              <a:rPr sz="1150" b="1">
                <a:solidFill>
                  <a:srgbClr val="5C4E78"/>
                </a:solidFill>
              </a:rPr>
              <a:t>How we handled it: </a:t>
            </a:r>
            <a:r>
              <a:rPr sz="1150" b="0">
                <a:solidFill>
                  <a:srgbClr val="5C4E78"/>
                </a:solidFill>
              </a:rPr>
              <a:t>Unsealed-road distance is shown so wet-season risk is visible.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bg_content.png"/>
          <p:cNvPicPr>
            <a:picLocks noChangeAspect="1"/>
          </p:cNvPicPr>
          <p:nvPr/>
        </p:nvPicPr>
        <p:blipFill>
          <a:blip r:embed="rId3"/>
          <a:stretch>
            <a:fillRect/>
          </a:stretch>
        </p:blipFill>
        <p:spPr>
          <a:xfrm>
            <a:off x="0" y="0"/>
            <a:ext cx="12192000" cy="6858000"/>
          </a:xfrm>
          <a:prstGeom prst="rect">
            <a:avLst/>
          </a:prstGeom>
        </p:spPr>
      </p:pic>
      <p:sp>
        <p:nvSpPr>
          <p:cNvPr id="24" name="Rounded Rectangle 23"/>
          <p:cNvSpPr/>
          <p:nvPr/>
        </p:nvSpPr>
        <p:spPr>
          <a:xfrm>
            <a:off x="457200" y="1645920"/>
            <a:ext cx="11277295" cy="4736592"/>
          </a:xfrm>
          <a:prstGeom prst="roundRect">
            <a:avLst>
              <a:gd name="adj" fmla="val 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84224" y="457200"/>
            <a:ext cx="10424160" cy="731520"/>
          </a:xfrm>
        </p:spPr>
        <p:txBody>
          <a:bodyPr wrap="square" lIns="0" anchor="ctr"/>
          <a:lstStyle/>
          <a:p>
            <a:pPr algn="l"/>
            <a:r>
              <a:rPr sz="3000" b="1">
                <a:solidFill>
                  <a:srgbClr val="FFFFFF"/>
                </a:solidFill>
              </a:rPr>
              <a:t>Summary</a:t>
            </a:r>
          </a:p>
        </p:txBody>
      </p:sp>
      <p:sp>
        <p:nvSpPr>
          <p:cNvPr id="3" name="Rectangle 2"/>
          <p:cNvSpPr/>
          <p:nvPr/>
        </p:nvSpPr>
        <p:spPr>
          <a:xfrm>
            <a:off x="884224" y="384048"/>
            <a:ext cx="822960" cy="64008"/>
          </a:xfrm>
          <a:prstGeom prst="rect">
            <a:avLst/>
          </a:prstGeom>
          <a:solidFill>
            <a:srgbClr val="F6B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4224" y="6446520"/>
            <a:ext cx="5486400" cy="274320"/>
          </a:xfrm>
          <a:prstGeom prst="rect">
            <a:avLst/>
          </a:prstGeom>
          <a:noFill/>
        </p:spPr>
        <p:txBody>
          <a:bodyPr wrap="square" lIns="0" tIns="0" rIns="0" bIns="0" anchor="t">
            <a:spAutoFit/>
          </a:bodyPr>
          <a:lstStyle/>
          <a:p>
            <a:pPr algn="l"/>
            <a:r>
              <a:rPr sz="1000" b="0">
                <a:solidFill>
                  <a:srgbClr val="F6ECCB"/>
                </a:solidFill>
              </a:rPr>
              <a:t>The Long Way to Care  ·  Team DIC 031</a:t>
            </a:r>
          </a:p>
        </p:txBody>
      </p:sp>
      <p:sp>
        <p:nvSpPr>
          <p:cNvPr id="6" name="TextBox 5"/>
          <p:cNvSpPr txBox="1"/>
          <p:nvPr/>
        </p:nvSpPr>
        <p:spPr>
          <a:xfrm>
            <a:off x="10019080" y="6446520"/>
            <a:ext cx="1280160" cy="274320"/>
          </a:xfrm>
          <a:prstGeom prst="rect">
            <a:avLst/>
          </a:prstGeom>
          <a:noFill/>
        </p:spPr>
        <p:txBody>
          <a:bodyPr wrap="square" lIns="0" tIns="0" rIns="0" bIns="0" anchor="t">
            <a:spAutoFit/>
          </a:bodyPr>
          <a:lstStyle/>
          <a:p>
            <a:pPr algn="r"/>
            <a:r>
              <a:rPr sz="1000" b="0">
                <a:solidFill>
                  <a:srgbClr val="F6ECCB"/>
                </a:solidFill>
              </a:rPr>
              <a:t>14</a:t>
            </a:r>
          </a:p>
        </p:txBody>
      </p:sp>
      <p:sp>
        <p:nvSpPr>
          <p:cNvPr id="7" name="Rounded Rectangle 6"/>
          <p:cNvSpPr/>
          <p:nvPr/>
        </p:nvSpPr>
        <p:spPr>
          <a:xfrm>
            <a:off x="884224" y="1783080"/>
            <a:ext cx="5074920" cy="192024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12824" y="2011680"/>
            <a:ext cx="640080" cy="73152"/>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2824" y="2194560"/>
            <a:ext cx="4663440" cy="548640"/>
          </a:xfrm>
          <a:prstGeom prst="rect">
            <a:avLst/>
          </a:prstGeom>
          <a:noFill/>
        </p:spPr>
        <p:txBody>
          <a:bodyPr wrap="square" lIns="0" tIns="0" rIns="0" bIns="0" anchor="t">
            <a:spAutoFit/>
          </a:bodyPr>
          <a:lstStyle/>
          <a:p>
            <a:pPr algn="l"/>
            <a:r>
              <a:rPr sz="2600" b="1">
                <a:solidFill>
                  <a:srgbClr val="1B1A4A"/>
                </a:solidFill>
                <a:latin typeface="Georgia"/>
              </a:rPr>
              <a:t>429 of 782</a:t>
            </a:r>
          </a:p>
        </p:txBody>
      </p:sp>
      <p:sp>
        <p:nvSpPr>
          <p:cNvPr id="10" name="TextBox 9"/>
          <p:cNvSpPr txBox="1"/>
          <p:nvPr/>
        </p:nvSpPr>
        <p:spPr>
          <a:xfrm>
            <a:off x="1112824" y="2788920"/>
            <a:ext cx="4617720" cy="822960"/>
          </a:xfrm>
          <a:prstGeom prst="rect">
            <a:avLst/>
          </a:prstGeom>
          <a:noFill/>
        </p:spPr>
        <p:txBody>
          <a:bodyPr wrap="square" lIns="0" tIns="0" rIns="0" bIns="0" anchor="t">
            <a:spAutoFit/>
          </a:bodyPr>
          <a:lstStyle/>
          <a:p>
            <a:pPr algn="l"/>
            <a:r>
              <a:rPr sz="1400" b="0" dirty="0">
                <a:solidFill>
                  <a:srgbClr val="3B3558"/>
                </a:solidFill>
              </a:rPr>
              <a:t>remote communities have no confirmed way to call for help, and care can be hours away by road.</a:t>
            </a:r>
          </a:p>
        </p:txBody>
      </p:sp>
      <p:sp>
        <p:nvSpPr>
          <p:cNvPr id="11" name="Rounded Rectangle 10"/>
          <p:cNvSpPr/>
          <p:nvPr/>
        </p:nvSpPr>
        <p:spPr>
          <a:xfrm>
            <a:off x="6233464" y="1783080"/>
            <a:ext cx="5074920" cy="192024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62064" y="2011680"/>
            <a:ext cx="640080" cy="73152"/>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2064" y="2194560"/>
            <a:ext cx="4663440" cy="548640"/>
          </a:xfrm>
          <a:prstGeom prst="rect">
            <a:avLst/>
          </a:prstGeom>
          <a:noFill/>
        </p:spPr>
        <p:txBody>
          <a:bodyPr wrap="square" lIns="0" tIns="0" rIns="0" bIns="0" anchor="t">
            <a:spAutoFit/>
          </a:bodyPr>
          <a:lstStyle/>
          <a:p>
            <a:pPr algn="l"/>
            <a:r>
              <a:rPr sz="2600" b="1">
                <a:solidFill>
                  <a:srgbClr val="1B1A4A"/>
                </a:solidFill>
                <a:latin typeface="Georgia"/>
              </a:rPr>
              <a:t>Hardest hit</a:t>
            </a:r>
          </a:p>
        </p:txBody>
      </p:sp>
      <p:sp>
        <p:nvSpPr>
          <p:cNvPr id="14" name="TextBox 13"/>
          <p:cNvSpPr txBox="1"/>
          <p:nvPr/>
        </p:nvSpPr>
        <p:spPr>
          <a:xfrm>
            <a:off x="6462064" y="2788920"/>
            <a:ext cx="4617720" cy="822960"/>
          </a:xfrm>
          <a:prstGeom prst="rect">
            <a:avLst/>
          </a:prstGeom>
          <a:noFill/>
        </p:spPr>
        <p:txBody>
          <a:bodyPr wrap="square" lIns="0" tIns="0" rIns="0" bIns="0" anchor="t">
            <a:spAutoFit/>
          </a:bodyPr>
          <a:lstStyle/>
          <a:p>
            <a:pPr algn="l"/>
            <a:r>
              <a:rPr sz="1400" b="0">
                <a:solidFill>
                  <a:srgbClr val="3B3558"/>
                </a:solidFill>
              </a:rPr>
              <a:t>Small family outstations: 2 in 3 cannot call and almost none have a sealed road.</a:t>
            </a:r>
          </a:p>
        </p:txBody>
      </p:sp>
      <p:sp>
        <p:nvSpPr>
          <p:cNvPr id="15" name="Rounded Rectangle 14"/>
          <p:cNvSpPr/>
          <p:nvPr/>
        </p:nvSpPr>
        <p:spPr>
          <a:xfrm>
            <a:off x="884224" y="3931920"/>
            <a:ext cx="5074920" cy="192024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12824" y="4160520"/>
            <a:ext cx="640080" cy="73152"/>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12824" y="4343400"/>
            <a:ext cx="4663440" cy="400110"/>
          </a:xfrm>
          <a:prstGeom prst="rect">
            <a:avLst/>
          </a:prstGeom>
          <a:noFill/>
        </p:spPr>
        <p:txBody>
          <a:bodyPr wrap="square" lIns="0" tIns="0" rIns="0" bIns="0" anchor="t">
            <a:spAutoFit/>
          </a:bodyPr>
          <a:lstStyle/>
          <a:p>
            <a:pPr algn="l"/>
            <a:r>
              <a:rPr lang="en-US" sz="2600" b="1" dirty="0">
                <a:solidFill>
                  <a:srgbClr val="1B1A4A"/>
                </a:solidFill>
                <a:latin typeface="Georgia"/>
              </a:rPr>
              <a:t>Model </a:t>
            </a:r>
            <a:r>
              <a:rPr sz="2600" b="1" dirty="0">
                <a:solidFill>
                  <a:srgbClr val="1B1A4A"/>
                </a:solidFill>
                <a:latin typeface="Georgia"/>
              </a:rPr>
              <a:t>Reliab</a:t>
            </a:r>
            <a:r>
              <a:rPr lang="en-US" sz="2600" b="1" dirty="0">
                <a:solidFill>
                  <a:srgbClr val="1B1A4A"/>
                </a:solidFill>
                <a:latin typeface="Georgia"/>
              </a:rPr>
              <a:t>ility</a:t>
            </a:r>
            <a:endParaRPr sz="2600" b="1" dirty="0">
              <a:solidFill>
                <a:srgbClr val="1B1A4A"/>
              </a:solidFill>
              <a:latin typeface="Georgia"/>
            </a:endParaRPr>
          </a:p>
        </p:txBody>
      </p:sp>
      <p:sp>
        <p:nvSpPr>
          <p:cNvPr id="18" name="TextBox 17"/>
          <p:cNvSpPr txBox="1"/>
          <p:nvPr/>
        </p:nvSpPr>
        <p:spPr>
          <a:xfrm>
            <a:off x="1112824" y="4937760"/>
            <a:ext cx="4617720" cy="822960"/>
          </a:xfrm>
          <a:prstGeom prst="rect">
            <a:avLst/>
          </a:prstGeom>
          <a:noFill/>
        </p:spPr>
        <p:txBody>
          <a:bodyPr wrap="square" lIns="0" tIns="0" rIns="0" bIns="0" anchor="t">
            <a:spAutoFit/>
          </a:bodyPr>
          <a:lstStyle/>
          <a:p>
            <a:pPr algn="l"/>
            <a:r>
              <a:rPr sz="1400" b="0">
                <a:solidFill>
                  <a:srgbClr val="3B3558"/>
                </a:solidFill>
              </a:rPr>
              <a:t>Different weightings give the same top 20, and the tests show the gaps are not chance.</a:t>
            </a:r>
          </a:p>
        </p:txBody>
      </p:sp>
      <p:sp>
        <p:nvSpPr>
          <p:cNvPr id="19" name="Rounded Rectangle 18"/>
          <p:cNvSpPr/>
          <p:nvPr/>
        </p:nvSpPr>
        <p:spPr>
          <a:xfrm>
            <a:off x="6233464" y="3931920"/>
            <a:ext cx="5074920" cy="1920240"/>
          </a:xfrm>
          <a:prstGeom prst="roundRect">
            <a:avLst>
              <a:gd name="adj" fmla="val 5000"/>
            </a:avLst>
          </a:prstGeom>
          <a:solidFill>
            <a:srgbClr val="FBF0DA"/>
          </a:solidFill>
          <a:ln w="12700">
            <a:solidFill>
              <a:srgbClr val="E9C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62064" y="4160520"/>
            <a:ext cx="640080" cy="73152"/>
          </a:xfrm>
          <a:prstGeom prst="rect">
            <a:avLst/>
          </a:prstGeom>
          <a:solidFill>
            <a:srgbClr val="E8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62064" y="4343400"/>
            <a:ext cx="4663440" cy="400110"/>
          </a:xfrm>
          <a:prstGeom prst="rect">
            <a:avLst/>
          </a:prstGeom>
          <a:noFill/>
        </p:spPr>
        <p:txBody>
          <a:bodyPr wrap="square" lIns="0" tIns="0" rIns="0" bIns="0" anchor="t">
            <a:spAutoFit/>
          </a:bodyPr>
          <a:lstStyle/>
          <a:p>
            <a:pPr algn="l"/>
            <a:r>
              <a:rPr lang="en-US" sz="2600" b="1" dirty="0">
                <a:solidFill>
                  <a:srgbClr val="1B1A4A"/>
                </a:solidFill>
                <a:latin typeface="Georgia"/>
              </a:rPr>
              <a:t>Ethical Consideration</a:t>
            </a:r>
            <a:endParaRPr sz="2600" b="1" dirty="0">
              <a:solidFill>
                <a:srgbClr val="1B1A4A"/>
              </a:solidFill>
              <a:latin typeface="Georgia"/>
            </a:endParaRPr>
          </a:p>
        </p:txBody>
      </p:sp>
      <p:sp>
        <p:nvSpPr>
          <p:cNvPr id="22" name="TextBox 21"/>
          <p:cNvSpPr txBox="1"/>
          <p:nvPr/>
        </p:nvSpPr>
        <p:spPr>
          <a:xfrm>
            <a:off x="6462064" y="4937760"/>
            <a:ext cx="4617720" cy="822960"/>
          </a:xfrm>
          <a:prstGeom prst="rect">
            <a:avLst/>
          </a:prstGeom>
          <a:noFill/>
        </p:spPr>
        <p:txBody>
          <a:bodyPr wrap="square" lIns="0" tIns="0" rIns="0" bIns="0" anchor="t">
            <a:spAutoFit/>
          </a:bodyPr>
          <a:lstStyle/>
          <a:p>
            <a:pPr algn="l"/>
            <a:r>
              <a:rPr sz="1400" b="0">
                <a:solidFill>
                  <a:srgbClr val="3B3558"/>
                </a:solidFill>
              </a:rPr>
              <a:t>No personal or health data. Results are for checking with communities, not judging them.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1A4A"/>
        </a:solidFill>
        <a:effectLst/>
      </p:bgPr>
    </p:bg>
    <p:spTree>
      <p:nvGrpSpPr>
        <p:cNvPr id="1" name=""/>
        <p:cNvGrpSpPr/>
        <p:nvPr/>
      </p:nvGrpSpPr>
      <p:grpSpPr>
        <a:xfrm>
          <a:off x="0" y="0"/>
          <a:ext cx="0" cy="0"/>
          <a:chOff x="0" y="0"/>
          <a:chExt cx="0" cy="0"/>
        </a:xfrm>
      </p:grpSpPr>
      <p:pic>
        <p:nvPicPr>
          <p:cNvPr id="4" name="Picture 3" descr="bg_close.png"/>
          <p:cNvPicPr>
            <a:picLocks noChangeAspect="1"/>
          </p:cNvPicPr>
          <p:nvPr/>
        </p:nvPicPr>
        <p:blipFill>
          <a:blip r:embed="rId3"/>
          <a:stretch>
            <a:fillRect/>
          </a:stretch>
        </p:blipFill>
        <p:spPr>
          <a:xfrm>
            <a:off x="0" y="0"/>
            <a:ext cx="12192000" cy="6858000"/>
          </a:xfrm>
          <a:prstGeom prst="rect">
            <a:avLst/>
          </a:prstGeom>
        </p:spPr>
      </p:pic>
      <p:sp>
        <p:nvSpPr>
          <p:cNvPr id="5" name="Rounded Rectangle 4"/>
          <p:cNvSpPr/>
          <p:nvPr/>
        </p:nvSpPr>
        <p:spPr>
          <a:xfrm>
            <a:off x="1371600" y="548640"/>
            <a:ext cx="7635240" cy="5394960"/>
          </a:xfrm>
          <a:prstGeom prst="roundRect">
            <a:avLst>
              <a:gd name="adj" fmla="val 4000"/>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a:p>
        </p:txBody>
      </p:sp>
      <p:sp>
        <p:nvSpPr>
          <p:cNvPr id="2" name="Title 1"/>
          <p:cNvSpPr>
            <a:spLocks noGrp="1"/>
          </p:cNvSpPr>
          <p:nvPr>
            <p:ph type="title"/>
          </p:nvPr>
        </p:nvSpPr>
        <p:spPr>
          <a:xfrm>
            <a:off x="3248749" y="752540"/>
            <a:ext cx="4706530" cy="1280160"/>
          </a:xfrm>
        </p:spPr>
        <p:txBody>
          <a:bodyPr wrap="square" lIns="0" anchor="ctr"/>
          <a:lstStyle/>
          <a:p>
            <a:pPr algn="l"/>
            <a:r>
              <a:rPr sz="5400" b="1" dirty="0">
                <a:solidFill>
                  <a:srgbClr val="1B1A4A"/>
                </a:solidFill>
              </a:rPr>
              <a:t>Thank you</a:t>
            </a:r>
          </a:p>
        </p:txBody>
      </p:sp>
      <p:sp>
        <p:nvSpPr>
          <p:cNvPr id="3" name="TextBox 2"/>
          <p:cNvSpPr txBox="1"/>
          <p:nvPr/>
        </p:nvSpPr>
        <p:spPr>
          <a:xfrm>
            <a:off x="1817765" y="2377440"/>
            <a:ext cx="6726620" cy="3200876"/>
          </a:xfrm>
          <a:prstGeom prst="rect">
            <a:avLst/>
          </a:prstGeom>
          <a:noFill/>
        </p:spPr>
        <p:txBody>
          <a:bodyPr wrap="square" lIns="0" tIns="0" rIns="0" bIns="0" anchor="t">
            <a:spAutoFit/>
          </a:bodyPr>
          <a:lstStyle/>
          <a:p>
            <a:pPr algn="ctr"/>
            <a:r>
              <a:rPr sz="3200" b="1" u="sng" dirty="0">
                <a:solidFill>
                  <a:srgbClr val="1B1A4A"/>
                </a:solidFill>
                <a:latin typeface="Amasis MT Pro Light" panose="020F0502020204030204" pitchFamily="18" charset="0"/>
              </a:rPr>
              <a:t>Team DIC 031</a:t>
            </a:r>
            <a:endParaRPr lang="en-US" sz="3200" b="1" u="sng" dirty="0">
              <a:solidFill>
                <a:srgbClr val="FFFFFF"/>
              </a:solidFill>
              <a:latin typeface="Amasis MT Pro Light" panose="020F0502020204030204" pitchFamily="18" charset="0"/>
            </a:endParaRPr>
          </a:p>
          <a:p>
            <a:pPr algn="ctr"/>
            <a:endParaRPr lang="en-US" sz="3200" b="1" u="sng" dirty="0">
              <a:solidFill>
                <a:srgbClr val="FFFFFF"/>
              </a:solidFill>
              <a:latin typeface="Amasis MT Pro Light" panose="020F0502020204030204" pitchFamily="18" charset="0"/>
            </a:endParaRPr>
          </a:p>
          <a:p>
            <a:pPr algn="ctr"/>
            <a:r>
              <a:rPr sz="2800" b="0" dirty="0">
                <a:solidFill>
                  <a:srgbClr val="3B3558"/>
                </a:solidFill>
                <a:latin typeface="Amasis MT Pro Light" panose="020F0502020204030204" pitchFamily="18" charset="0"/>
              </a:rPr>
              <a:t>Chepngenoh Chepkwony</a:t>
            </a:r>
          </a:p>
          <a:p>
            <a:pPr algn="ctr"/>
            <a:r>
              <a:rPr sz="2800" b="0" dirty="0">
                <a:solidFill>
                  <a:srgbClr val="3B3558"/>
                </a:solidFill>
                <a:latin typeface="Amasis MT Pro Light" panose="020F0502020204030204" pitchFamily="18" charset="0"/>
              </a:rPr>
              <a:t>Cynthia Ebele </a:t>
            </a:r>
            <a:r>
              <a:rPr sz="3200" b="0" dirty="0" err="1">
                <a:solidFill>
                  <a:srgbClr val="3B3558"/>
                </a:solidFill>
                <a:latin typeface="Amasis MT Pro Light" panose="020F0502020204030204" pitchFamily="18" charset="0"/>
              </a:rPr>
              <a:t>Ikegbunam</a:t>
            </a:r>
            <a:endParaRPr sz="2800" b="0" dirty="0">
              <a:solidFill>
                <a:srgbClr val="E6DCC8"/>
              </a:solidFill>
              <a:latin typeface="Amasis MT Pro Light" panose="020F0502020204030204" pitchFamily="18" charset="0"/>
            </a:endParaRPr>
          </a:p>
          <a:p>
            <a:pPr algn="ctr"/>
            <a:endParaRPr sz="2800" b="0" dirty="0">
              <a:solidFill>
                <a:srgbClr val="E6DCC8"/>
              </a:solidFill>
              <a:latin typeface="Amasis MT Pro Light" panose="020F0502020204030204" pitchFamily="18" charset="0"/>
            </a:endParaRPr>
          </a:p>
          <a:p>
            <a:pPr algn="ctr"/>
            <a:endParaRPr lang="en-US" sz="2800" b="1" dirty="0">
              <a:solidFill>
                <a:srgbClr val="F8D49A"/>
              </a:solidFill>
              <a:latin typeface="Amasis MT Pro Light" panose="020F0502020204030204" pitchFamily="18" charset="0"/>
            </a:endParaRPr>
          </a:p>
          <a:p>
            <a:pPr algn="ctr"/>
            <a:r>
              <a:rPr sz="2800" b="1" dirty="0">
                <a:solidFill>
                  <a:srgbClr val="B03619"/>
                </a:solidFill>
                <a:latin typeface="Amasis MT Pro Light" panose="020F0502020204030204" pitchFamily="18" charset="0"/>
              </a:rPr>
              <a:t>The Long Way to Care</a:t>
            </a:r>
          </a:p>
        </p:txBody>
      </p:sp>
    </p:spTree>
  </p:cSld>
  <p:clrMapOvr>
    <a:masterClrMapping/>
  </p:clrMapOvr>
</p:sld>
</file>

<file path=ppt/theme/theme1.xml><?xml version="1.0" encoding="utf-8"?>
<a:theme xmlns:a="http://schemas.openxmlformats.org/drawingml/2006/main" name="Navy and Orange">
  <a:themeElements>
    <a:clrScheme name="DotPainting">
      <a:dk1>
        <a:srgbClr val="1B1A4A"/>
      </a:dk1>
      <a:lt1>
        <a:srgbClr val="FFFFFF"/>
      </a:lt1>
      <a:dk2>
        <a:srgbClr val="1B1A4A"/>
      </a:dk2>
      <a:lt2>
        <a:srgbClr val="FBF0DA"/>
      </a:lt2>
      <a:accent1>
        <a:srgbClr val="E8731A"/>
      </a:accent1>
      <a:accent2>
        <a:srgbClr val="1B1A4A"/>
      </a:accent2>
      <a:accent3>
        <a:srgbClr val="7B4B94"/>
      </a:accent3>
      <a:accent4>
        <a:srgbClr val="F8D49A"/>
      </a:accent4>
      <a:accent5>
        <a:srgbClr val="3B3558"/>
      </a:accent5>
      <a:accent6>
        <a:srgbClr val="E6DCC8"/>
      </a:accent6>
      <a:hlink>
        <a:srgbClr val="1B1A4A"/>
      </a:hlink>
      <a:folHlink>
        <a:srgbClr val="7B4B94"/>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1512</TotalTime>
  <Words>1377</Words>
  <Application>Microsoft Office PowerPoint</Application>
  <PresentationFormat>Widescreen</PresentationFormat>
  <Paragraphs>196</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Amasis MT Pro Light</vt:lpstr>
      <vt:lpstr>Arial</vt:lpstr>
      <vt:lpstr>Calibri</vt:lpstr>
      <vt:lpstr>Georgia</vt:lpstr>
      <vt:lpstr>Wingdings</vt:lpstr>
      <vt:lpstr>Navy and Orange</vt:lpstr>
      <vt:lpstr>The Long Way to Care</vt:lpstr>
      <vt:lpstr>The problem</vt:lpstr>
      <vt:lpstr>Where the data comes from</vt:lpstr>
      <vt:lpstr>How we measured it: Gap Index</vt:lpstr>
      <vt:lpstr>Every region is affected</vt:lpstr>
      <vt:lpstr>Small family outstations are hit hardest</vt:lpstr>
      <vt:lpstr>Far from care, and cut off by road</vt:lpstr>
      <vt:lpstr>Are we counting the same thing twice?</vt:lpstr>
      <vt:lpstr>Would different weights change the answer?</vt:lpstr>
      <vt:lpstr>Who is most at risk?</vt:lpstr>
      <vt:lpstr>The offline dashboard</vt:lpstr>
      <vt:lpstr>Recommendations</vt:lpstr>
      <vt:lpstr>Limitations</vt:lpstr>
      <vt:lpstr>Summary</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Cynthia Ikegbunam</dc:creator>
  <cp:keywords/>
  <dc:description>generated using python-pptx</dc:description>
  <cp:lastModifiedBy>Cynthia Ikegbunam</cp:lastModifiedBy>
  <cp:revision>5</cp:revision>
  <dcterms:created xsi:type="dcterms:W3CDTF">2013-01-27T09:14:16Z</dcterms:created>
  <dcterms:modified xsi:type="dcterms:W3CDTF">2026-10-08T01:50:52Z</dcterms:modified>
  <cp:category/>
</cp:coreProperties>
</file>