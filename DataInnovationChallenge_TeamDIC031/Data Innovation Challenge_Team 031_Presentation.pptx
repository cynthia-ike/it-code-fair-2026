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handoutMasterIdLst>
    <p:handoutMasterId r:id="rId15"/>
  </p:handoutMasterIdLst>
  <p:sldIdLst>
    <p:sldId id="257" r:id="rId5"/>
    <p:sldId id="287" r:id="rId6"/>
    <p:sldId id="258" r:id="rId7"/>
    <p:sldId id="284" r:id="rId8"/>
    <p:sldId id="268" r:id="rId9"/>
    <p:sldId id="261" r:id="rId10"/>
    <p:sldId id="285" r:id="rId11"/>
    <p:sldId id="281" r:id="rId12"/>
    <p:sldId id="277" r:id="rId1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336">
          <p15:clr>
            <a:srgbClr val="A4A3A4"/>
          </p15:clr>
        </p15:guide>
        <p15:guide id="5" orient="horz" pos="1920">
          <p15:clr>
            <a:srgbClr val="A4A3A4"/>
          </p15:clr>
        </p15:guide>
        <p15:guide id="6" orient="horz" pos="3984">
          <p15:clr>
            <a:srgbClr val="A4A3A4"/>
          </p15:clr>
        </p15:guide>
        <p15:guide id="7" orient="horz" pos="1152">
          <p15:clr>
            <a:srgbClr val="A4A3A4"/>
          </p15:clr>
        </p15:guide>
        <p15:guide id="8" pos="3839">
          <p15:clr>
            <a:srgbClr val="A4A3A4"/>
          </p15:clr>
        </p15:guide>
        <p15:guide id="9" pos="671">
          <p15:clr>
            <a:srgbClr val="A4A3A4"/>
          </p15:clr>
        </p15:guide>
        <p15:guide id="10" pos="7007">
          <p15:clr>
            <a:srgbClr val="A4A3A4"/>
          </p15:clr>
        </p15:guide>
        <p15:guide id="11" pos="6143">
          <p15:clr>
            <a:srgbClr val="A4A3A4"/>
          </p15:clr>
        </p15:guide>
        <p15:guide id="12" pos="3263">
          <p15:clr>
            <a:srgbClr val="A4A3A4"/>
          </p15:clr>
        </p15:guide>
        <p15:guide id="13" pos="7391">
          <p15:clr>
            <a:srgbClr val="A4A3A4"/>
          </p15:clr>
        </p15:guide>
        <p15:guide id="14" pos="369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79" autoAdjust="0"/>
  </p:normalViewPr>
  <p:slideViewPr>
    <p:cSldViewPr showGuides="1">
      <p:cViewPr varScale="1">
        <p:scale>
          <a:sx n="70" d="100"/>
          <a:sy n="70" d="100"/>
        </p:scale>
        <p:origin x="536" y="52"/>
      </p:cViewPr>
      <p:guideLst>
        <p:guide orient="horz" pos="2160"/>
        <p:guide orient="horz" pos="1008"/>
        <p:guide orient="horz" pos="3792"/>
        <p:guide orient="horz" pos="336"/>
        <p:guide orient="horz" pos="1920"/>
        <p:guide orient="horz" pos="3984"/>
        <p:guide orient="horz" pos="1152"/>
        <p:guide pos="3839"/>
        <p:guide pos="671"/>
        <p:guide pos="7007"/>
        <p:guide pos="6143"/>
        <p:guide pos="3263"/>
        <p:guide pos="7391"/>
        <p:guide pos="369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73" d="100"/>
          <a:sy n="73" d="100"/>
        </p:scale>
        <p:origin x="2126" y="2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242852"/>
                </a:solidFill>
              </a:rPr>
              <a:t>Mobile coverage status, 782 remote NT communities</a:t>
            </a:r>
          </a:p>
        </c:rich>
      </c:tx>
      <c:overlay val="0"/>
    </c:title>
    <c:autoTitleDeleted val="0"/>
    <c:plotArea>
      <c:layout/>
      <c:barChart>
        <c:barDir val="bar"/>
        <c:grouping val="clustered"/>
        <c:varyColors val="1"/>
        <c:ser>
          <c:idx val="0"/>
          <c:order val="0"/>
          <c:tx>
            <c:strRef>
              <c:f>Sheet1!$B$1</c:f>
              <c:strCache>
                <c:ptCount val="1"/>
                <c:pt idx="0">
                  <c:v>Communities</c:v>
                </c:pt>
              </c:strCache>
            </c:strRef>
          </c:tx>
          <c:invertIfNegative val="1"/>
          <c:dPt>
            <c:idx val="0"/>
            <c:invertIfNegative val="1"/>
            <c:bubble3D val="0"/>
            <c:spPr>
              <a:solidFill>
                <a:srgbClr val="4A66AC"/>
              </a:solidFill>
            </c:spPr>
            <c:extLst>
              <c:ext xmlns:c16="http://schemas.microsoft.com/office/drawing/2014/chart" uri="{C3380CC4-5D6E-409C-BE32-E72D297353CC}">
                <c16:uniqueId val="{00000001-1256-4F07-8D89-2AC0D9FD1899}"/>
              </c:ext>
            </c:extLst>
          </c:dPt>
          <c:dPt>
            <c:idx val="1"/>
            <c:invertIfNegative val="1"/>
            <c:bubble3D val="0"/>
            <c:spPr>
              <a:solidFill>
                <a:srgbClr val="4A66AC"/>
              </a:solidFill>
            </c:spPr>
            <c:extLst>
              <c:ext xmlns:c16="http://schemas.microsoft.com/office/drawing/2014/chart" uri="{C3380CC4-5D6E-409C-BE32-E72D297353CC}">
                <c16:uniqueId val="{00000003-1256-4F07-8D89-2AC0D9FD1899}"/>
              </c:ext>
            </c:extLst>
          </c:dPt>
          <c:dPt>
            <c:idx val="2"/>
            <c:invertIfNegative val="1"/>
            <c:bubble3D val="0"/>
            <c:spPr>
              <a:solidFill>
                <a:srgbClr val="4A66AC"/>
              </a:solidFill>
            </c:spPr>
            <c:extLst>
              <c:ext xmlns:c16="http://schemas.microsoft.com/office/drawing/2014/chart" uri="{C3380CC4-5D6E-409C-BE32-E72D297353CC}">
                <c16:uniqueId val="{00000005-1256-4F07-8D89-2AC0D9FD1899}"/>
              </c:ext>
            </c:extLst>
          </c:dPt>
          <c:dPt>
            <c:idx val="3"/>
            <c:invertIfNegative val="1"/>
            <c:bubble3D val="0"/>
            <c:spPr>
              <a:solidFill>
                <a:srgbClr val="4A66AC"/>
              </a:solidFill>
            </c:spPr>
            <c:extLst>
              <c:ext xmlns:c16="http://schemas.microsoft.com/office/drawing/2014/chart" uri="{C3380CC4-5D6E-409C-BE32-E72D297353CC}">
                <c16:uniqueId val="{00000007-1256-4F07-8D89-2AC0D9FD1899}"/>
              </c:ext>
            </c:extLst>
          </c:dPt>
          <c:dPt>
            <c:idx val="4"/>
            <c:invertIfNegative val="1"/>
            <c:bubble3D val="0"/>
            <c:spPr>
              <a:solidFill>
                <a:srgbClr val="B5443C"/>
              </a:solidFill>
            </c:spPr>
            <c:extLst>
              <c:ext xmlns:c16="http://schemas.microsoft.com/office/drawing/2014/chart" uri="{C3380CC4-5D6E-409C-BE32-E72D297353CC}">
                <c16:uniqueId val="{00000009-1256-4F07-8D89-2AC0D9FD1899}"/>
              </c:ext>
            </c:extLst>
          </c:dPt>
          <c:dPt>
            <c:idx val="5"/>
            <c:invertIfNegative val="1"/>
            <c:bubble3D val="0"/>
            <c:spPr>
              <a:solidFill>
                <a:srgbClr val="B5443C"/>
              </a:solidFill>
            </c:spPr>
            <c:extLst>
              <c:ext xmlns:c16="http://schemas.microsoft.com/office/drawing/2014/chart" uri="{C3380CC4-5D6E-409C-BE32-E72D297353CC}">
                <c16:uniqueId val="{0000000B-1256-4F07-8D89-2AC0D9FD1899}"/>
              </c:ext>
            </c:extLst>
          </c:dPt>
          <c:dLbls>
            <c:spPr>
              <a:noFill/>
              <a:ln>
                <a:noFill/>
              </a:ln>
              <a:effectLst/>
            </c:spPr>
            <c:txPr>
              <a:bodyPr/>
              <a:lstStyle/>
              <a:p>
                <a:pPr>
                  <a:defRPr sz="1100" b="1">
                    <a:solidFill>
                      <a:srgbClr val="242852"/>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Macro cell nearby</c:v>
                </c:pt>
                <c:pt idx="1">
                  <c:v>Small cell or near a cell</c:v>
                </c:pt>
                <c:pt idx="2">
                  <c:v>Tower within 15 km (2025)</c:v>
                </c:pt>
                <c:pt idx="3">
                  <c:v>Listed: has coverage (2021)</c:v>
                </c:pt>
                <c:pt idx="4">
                  <c:v>Listed: no coverage</c:v>
                </c:pt>
                <c:pt idx="5">
                  <c:v>Never recorded</c:v>
                </c:pt>
              </c:strCache>
            </c:strRef>
          </c:cat>
          <c:val>
            <c:numRef>
              <c:f>Sheet1!$B$2:$B$7</c:f>
              <c:numCache>
                <c:formatCode>General</c:formatCode>
                <c:ptCount val="6"/>
                <c:pt idx="0">
                  <c:v>161</c:v>
                </c:pt>
                <c:pt idx="1">
                  <c:v>14</c:v>
                </c:pt>
                <c:pt idx="2">
                  <c:v>177</c:v>
                </c:pt>
                <c:pt idx="3">
                  <c:v>1</c:v>
                </c:pt>
                <c:pt idx="4">
                  <c:v>6</c:v>
                </c:pt>
                <c:pt idx="5">
                  <c:v>423</c:v>
                </c:pt>
              </c:numCache>
            </c:numRef>
          </c:val>
          <c:extLst>
            <c:ext xmlns:c16="http://schemas.microsoft.com/office/drawing/2014/chart" uri="{C3380CC4-5D6E-409C-BE32-E72D297353CC}">
              <c16:uniqueId val="{0000000C-1256-4F07-8D89-2AC0D9FD1899}"/>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BBBBB"/>
            </a:solidFill>
          </a:ln>
        </c:spPr>
        <c:txPr>
          <a:bodyPr/>
          <a:lstStyle/>
          <a:p>
            <a:pPr>
              <a:defRPr sz="1100">
                <a:solidFill>
                  <a:srgbClr val="333333"/>
                </a:solidFill>
              </a:defRPr>
            </a:pPr>
            <a:endParaRPr lang="en-US"/>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242852"/>
                </a:solidFill>
              </a:rPr>
              <a:t>Road time to nearest hospital (number of places)</a:t>
            </a:r>
          </a:p>
        </c:rich>
      </c:tx>
      <c:overlay val="0"/>
    </c:title>
    <c:autoTitleDeleted val="0"/>
    <c:plotArea>
      <c:layout/>
      <c:barChart>
        <c:barDir val="col"/>
        <c:grouping val="clustered"/>
        <c:varyColors val="1"/>
        <c:ser>
          <c:idx val="0"/>
          <c:order val="0"/>
          <c:tx>
            <c:strRef>
              <c:f>Sheet1!$B$1</c:f>
              <c:strCache>
                <c:ptCount val="1"/>
                <c:pt idx="0">
                  <c:v>Communities</c:v>
                </c:pt>
              </c:strCache>
            </c:strRef>
          </c:tx>
          <c:invertIfNegative val="1"/>
          <c:dPt>
            <c:idx val="0"/>
            <c:invertIfNegative val="1"/>
            <c:bubble3D val="0"/>
            <c:spPr>
              <a:solidFill>
                <a:srgbClr val="4A66AC"/>
              </a:solidFill>
            </c:spPr>
            <c:extLst>
              <c:ext xmlns:c16="http://schemas.microsoft.com/office/drawing/2014/chart" uri="{C3380CC4-5D6E-409C-BE32-E72D297353CC}">
                <c16:uniqueId val="{00000001-BE9C-4167-9F67-B6D7528D693F}"/>
              </c:ext>
            </c:extLst>
          </c:dPt>
          <c:dPt>
            <c:idx val="1"/>
            <c:invertIfNegative val="1"/>
            <c:bubble3D val="0"/>
            <c:spPr>
              <a:solidFill>
                <a:srgbClr val="4A66AC"/>
              </a:solidFill>
            </c:spPr>
            <c:extLst>
              <c:ext xmlns:c16="http://schemas.microsoft.com/office/drawing/2014/chart" uri="{C3380CC4-5D6E-409C-BE32-E72D297353CC}">
                <c16:uniqueId val="{00000003-BE9C-4167-9F67-B6D7528D693F}"/>
              </c:ext>
            </c:extLst>
          </c:dPt>
          <c:dPt>
            <c:idx val="2"/>
            <c:invertIfNegative val="1"/>
            <c:bubble3D val="0"/>
            <c:spPr>
              <a:solidFill>
                <a:srgbClr val="4A66AC"/>
              </a:solidFill>
            </c:spPr>
            <c:extLst>
              <c:ext xmlns:c16="http://schemas.microsoft.com/office/drawing/2014/chart" uri="{C3380CC4-5D6E-409C-BE32-E72D297353CC}">
                <c16:uniqueId val="{00000005-BE9C-4167-9F67-B6D7528D693F}"/>
              </c:ext>
            </c:extLst>
          </c:dPt>
          <c:dPt>
            <c:idx val="3"/>
            <c:invertIfNegative val="1"/>
            <c:bubble3D val="0"/>
            <c:spPr>
              <a:solidFill>
                <a:srgbClr val="4A66AC"/>
              </a:solidFill>
            </c:spPr>
            <c:extLst>
              <c:ext xmlns:c16="http://schemas.microsoft.com/office/drawing/2014/chart" uri="{C3380CC4-5D6E-409C-BE32-E72D297353CC}">
                <c16:uniqueId val="{00000007-BE9C-4167-9F67-B6D7528D693F}"/>
              </c:ext>
            </c:extLst>
          </c:dPt>
          <c:dPt>
            <c:idx val="4"/>
            <c:invertIfNegative val="1"/>
            <c:bubble3D val="0"/>
            <c:spPr>
              <a:solidFill>
                <a:srgbClr val="B5443C"/>
              </a:solidFill>
            </c:spPr>
            <c:extLst>
              <c:ext xmlns:c16="http://schemas.microsoft.com/office/drawing/2014/chart" uri="{C3380CC4-5D6E-409C-BE32-E72D297353CC}">
                <c16:uniqueId val="{00000009-BE9C-4167-9F67-B6D7528D693F}"/>
              </c:ext>
            </c:extLst>
          </c:dPt>
          <c:dPt>
            <c:idx val="5"/>
            <c:invertIfNegative val="1"/>
            <c:bubble3D val="0"/>
            <c:spPr>
              <a:solidFill>
                <a:srgbClr val="B5443C"/>
              </a:solidFill>
            </c:spPr>
            <c:extLst>
              <c:ext xmlns:c16="http://schemas.microsoft.com/office/drawing/2014/chart" uri="{C3380CC4-5D6E-409C-BE32-E72D297353CC}">
                <c16:uniqueId val="{0000000B-BE9C-4167-9F67-B6D7528D693F}"/>
              </c:ext>
            </c:extLst>
          </c:dPt>
          <c:dPt>
            <c:idx val="6"/>
            <c:invertIfNegative val="1"/>
            <c:bubble3D val="0"/>
            <c:spPr>
              <a:solidFill>
                <a:srgbClr val="555B6E"/>
              </a:solidFill>
            </c:spPr>
            <c:extLst>
              <c:ext xmlns:c16="http://schemas.microsoft.com/office/drawing/2014/chart" uri="{C3380CC4-5D6E-409C-BE32-E72D297353CC}">
                <c16:uniqueId val="{0000000D-BE9C-4167-9F67-B6D7528D693F}"/>
              </c:ext>
            </c:extLst>
          </c:dPt>
          <c:dLbls>
            <c:spPr>
              <a:noFill/>
              <a:ln>
                <a:noFill/>
              </a:ln>
              <a:effectLst/>
            </c:spPr>
            <c:txPr>
              <a:bodyPr/>
              <a:lstStyle/>
              <a:p>
                <a:pPr>
                  <a:defRPr sz="1100" b="1">
                    <a:solidFill>
                      <a:srgbClr val="242852"/>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Under 1h</c:v>
                </c:pt>
                <c:pt idx="1">
                  <c:v>1 to 2h</c:v>
                </c:pt>
                <c:pt idx="2">
                  <c:v>2 to 3h</c:v>
                </c:pt>
                <c:pt idx="3">
                  <c:v>3 to 4h</c:v>
                </c:pt>
                <c:pt idx="4">
                  <c:v>4 to 6h</c:v>
                </c:pt>
                <c:pt idx="5">
                  <c:v>Over 6h</c:v>
                </c:pt>
                <c:pt idx="6">
                  <c:v>No mapped road</c:v>
                </c:pt>
              </c:strCache>
            </c:strRef>
          </c:cat>
          <c:val>
            <c:numRef>
              <c:f>Sheet1!$B$2:$B$8</c:f>
              <c:numCache>
                <c:formatCode>General</c:formatCode>
                <c:ptCount val="7"/>
                <c:pt idx="0">
                  <c:v>101</c:v>
                </c:pt>
                <c:pt idx="1">
                  <c:v>81</c:v>
                </c:pt>
                <c:pt idx="2">
                  <c:v>83</c:v>
                </c:pt>
                <c:pt idx="3">
                  <c:v>92</c:v>
                </c:pt>
                <c:pt idx="4">
                  <c:v>149</c:v>
                </c:pt>
                <c:pt idx="5">
                  <c:v>191</c:v>
                </c:pt>
                <c:pt idx="6">
                  <c:v>85</c:v>
                </c:pt>
              </c:numCache>
            </c:numRef>
          </c:val>
          <c:extLst>
            <c:ext xmlns:c16="http://schemas.microsoft.com/office/drawing/2014/chart" uri="{C3380CC4-5D6E-409C-BE32-E72D297353CC}">
              <c16:uniqueId val="{0000000E-BE9C-4167-9F67-B6D7528D693F}"/>
            </c:ext>
          </c:extLst>
        </c:ser>
        <c:dLbls>
          <c:dLblPos val="outEnd"/>
          <c:showLegendKey val="0"/>
          <c:showVal val="1"/>
          <c:showCatName val="0"/>
          <c:showSerName val="0"/>
          <c:showPercent val="0"/>
          <c:showBubbleSize val="0"/>
        </c:dLbls>
        <c:gapWidth val="3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BBBBB"/>
            </a:solidFill>
          </a:ln>
        </c:spPr>
        <c:txPr>
          <a:bodyPr/>
          <a:lstStyle/>
          <a:p>
            <a:pPr>
              <a:defRPr sz="1100">
                <a:solidFill>
                  <a:srgbClr val="333333"/>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A24E01-5535-46B9-A9A1-A9A07E639A88}" type="doc">
      <dgm:prSet loTypeId="urn:microsoft.com/office/officeart/2017/3/layout/DropPinTimeline" loCatId="timeline" qsTypeId="urn:microsoft.com/office/officeart/2005/8/quickstyle/simple1#1" qsCatId="simple" csTypeId="urn:microsoft.com/office/officeart/2005/8/colors/accent1_2#1" csCatId="accent1" phldr="1"/>
      <dgm:spPr/>
      <dgm:t>
        <a:bodyPr/>
        <a:lstStyle/>
        <a:p>
          <a:endParaRPr lang="en-US"/>
        </a:p>
      </dgm:t>
    </dgm:pt>
    <dgm:pt modelId="{58FF46FB-368D-4E9C-A650-0513B8879DA8}">
      <dgm:prSet phldr="0" custT="1"/>
      <dgm:spPr/>
      <dgm:t>
        <a:bodyPr/>
        <a:lstStyle/>
        <a:p>
          <a:pPr>
            <a:defRPr b="1"/>
          </a:pPr>
          <a:r>
            <a:rPr lang="en-US" sz="1400" b="1" i="0" kern="1200" cap="none" spc="0" baseline="0" dirty="0">
              <a:latin typeface="+mn-lt"/>
              <a:ea typeface="+mn-ea"/>
              <a:cs typeface="+mn-cs"/>
            </a:rPr>
            <a:t>Connect</a:t>
          </a:r>
        </a:p>
      </dgm:t>
    </dgm:pt>
    <dgm:pt modelId="{11DFA284-5E99-474D-BF05-364A45269DC7}" type="parTrans" cxnId="{C5645B39-CB65-4A0A-B369-E455C3B827C3}">
      <dgm:prSet/>
      <dgm:spPr/>
      <dgm:t>
        <a:bodyPr/>
        <a:lstStyle/>
        <a:p>
          <a:endParaRPr lang="en-US">
            <a:solidFill>
              <a:schemeClr val="tx2"/>
            </a:solidFill>
          </a:endParaRPr>
        </a:p>
      </dgm:t>
    </dgm:pt>
    <dgm:pt modelId="{CFA40740-0682-470C-AD5A-CFF53CD12BD2}" type="sibTrans" cxnId="{C5645B39-CB65-4A0A-B369-E455C3B827C3}">
      <dgm:prSet/>
      <dgm:spPr/>
      <dgm:t>
        <a:bodyPr/>
        <a:lstStyle/>
        <a:p>
          <a:endParaRPr lang="en-US">
            <a:solidFill>
              <a:schemeClr val="tx2"/>
            </a:solidFill>
          </a:endParaRPr>
        </a:p>
      </dgm:t>
    </dgm:pt>
    <dgm:pt modelId="{9A875394-CA1E-4432-AEEB-9054FCFF5E0E}">
      <dgm:prSet phldr="0" custT="1"/>
      <dgm:spPr/>
      <dgm:t>
        <a:bodyPr/>
        <a:lstStyle/>
        <a:p>
          <a:r>
            <a:rPr lang="en-US" sz="1200" dirty="0"/>
            <a:t>Cover the Critical </a:t>
          </a:r>
          <a:br>
            <a:rPr lang="en-US" sz="1200" dirty="0"/>
          </a:br>
          <a:r>
            <a:rPr lang="en-US" sz="1200" dirty="0"/>
            <a:t>tier first</a:t>
          </a:r>
          <a:endParaRPr lang="en-US" sz="1200" b="0" dirty="0">
            <a:latin typeface="+mn-lt"/>
          </a:endParaRPr>
        </a:p>
      </dgm:t>
    </dgm:pt>
    <dgm:pt modelId="{FCC92BDD-6EA3-421D-9DA8-7D3A12D003B6}" type="parTrans" cxnId="{B659504B-18E4-4D89-A17C-34ABB280AE52}">
      <dgm:prSet/>
      <dgm:spPr/>
      <dgm:t>
        <a:bodyPr/>
        <a:lstStyle/>
        <a:p>
          <a:endParaRPr lang="en-US">
            <a:solidFill>
              <a:schemeClr val="tx2"/>
            </a:solidFill>
          </a:endParaRPr>
        </a:p>
      </dgm:t>
    </dgm:pt>
    <dgm:pt modelId="{0314452B-82A0-42F4-9551-DF00CFFC3580}" type="sibTrans" cxnId="{B659504B-18E4-4D89-A17C-34ABB280AE52}">
      <dgm:prSet/>
      <dgm:spPr/>
      <dgm:t>
        <a:bodyPr/>
        <a:lstStyle/>
        <a:p>
          <a:endParaRPr lang="en-US">
            <a:solidFill>
              <a:schemeClr val="tx2"/>
            </a:solidFill>
          </a:endParaRPr>
        </a:p>
      </dgm:t>
    </dgm:pt>
    <dgm:pt modelId="{D05E1923-5021-40F7-B4EF-E582E23A699D}">
      <dgm:prSet phldr="0" custT="1"/>
      <dgm:spPr/>
      <dgm:t>
        <a:bodyPr/>
        <a:lstStyle/>
        <a:p>
          <a:pPr>
            <a:defRPr b="1"/>
          </a:pPr>
          <a:r>
            <a:rPr lang="en-US" sz="1400" b="1" i="0" kern="1200" cap="none" spc="0" baseline="0" dirty="0">
              <a:latin typeface="Century Gothic"/>
              <a:ea typeface="+mn-ea"/>
              <a:cs typeface="+mn-cs"/>
            </a:rPr>
            <a:t>Close</a:t>
          </a:r>
        </a:p>
      </dgm:t>
    </dgm:pt>
    <dgm:pt modelId="{FD6C5CD2-9CED-4BE6-89CD-A5A5CCE63B3E}" type="parTrans" cxnId="{72C4D6D9-419A-42C1-A76D-84599F65BB08}">
      <dgm:prSet/>
      <dgm:spPr/>
      <dgm:t>
        <a:bodyPr/>
        <a:lstStyle/>
        <a:p>
          <a:endParaRPr lang="en-US">
            <a:solidFill>
              <a:schemeClr val="tx2"/>
            </a:solidFill>
          </a:endParaRPr>
        </a:p>
      </dgm:t>
    </dgm:pt>
    <dgm:pt modelId="{F020958C-EF86-4274-85F9-318F2792F7B6}" type="sibTrans" cxnId="{72C4D6D9-419A-42C1-A76D-84599F65BB08}">
      <dgm:prSet/>
      <dgm:spPr/>
      <dgm:t>
        <a:bodyPr/>
        <a:lstStyle/>
        <a:p>
          <a:endParaRPr lang="en-US">
            <a:solidFill>
              <a:schemeClr val="tx2"/>
            </a:solidFill>
          </a:endParaRPr>
        </a:p>
      </dgm:t>
    </dgm:pt>
    <dgm:pt modelId="{579089A8-5362-4BA4-9163-D19228C1808F}">
      <dgm:prSet phldr="0" custT="1"/>
      <dgm:spPr/>
      <dgm:t>
        <a:bodyPr/>
        <a:lstStyle/>
        <a:p>
          <a:r>
            <a:rPr lang="en-US" sz="1200" dirty="0"/>
            <a:t>Fix the 24/7 gap for 210 communities</a:t>
          </a:r>
          <a:endParaRPr lang="en-US" sz="1200" b="0" dirty="0">
            <a:latin typeface="+mn-lt"/>
          </a:endParaRPr>
        </a:p>
      </dgm:t>
    </dgm:pt>
    <dgm:pt modelId="{FB2DEB6E-B29F-4E51-960A-23ECC62EBF38}" type="parTrans" cxnId="{4876CF51-F110-4E25-8FD4-08D25B4B0AB8}">
      <dgm:prSet/>
      <dgm:spPr/>
      <dgm:t>
        <a:bodyPr/>
        <a:lstStyle/>
        <a:p>
          <a:endParaRPr lang="en-US">
            <a:solidFill>
              <a:schemeClr val="tx2"/>
            </a:solidFill>
          </a:endParaRPr>
        </a:p>
      </dgm:t>
    </dgm:pt>
    <dgm:pt modelId="{1C5328B1-AC18-4CF7-A034-BB0592F4A2A1}" type="sibTrans" cxnId="{4876CF51-F110-4E25-8FD4-08D25B4B0AB8}">
      <dgm:prSet/>
      <dgm:spPr/>
      <dgm:t>
        <a:bodyPr/>
        <a:lstStyle/>
        <a:p>
          <a:endParaRPr lang="en-US">
            <a:solidFill>
              <a:schemeClr val="tx2"/>
            </a:solidFill>
          </a:endParaRPr>
        </a:p>
      </dgm:t>
    </dgm:pt>
    <dgm:pt modelId="{FA8F44BD-C8C7-462C-9756-1EC498E86842}">
      <dgm:prSet phldr="0" custT="1"/>
      <dgm:spPr/>
      <dgm:t>
        <a:bodyPr/>
        <a:lstStyle/>
        <a:p>
          <a:pPr>
            <a:defRPr b="1"/>
          </a:pPr>
          <a:r>
            <a:rPr lang="en-US" sz="1400" b="1" i="0" kern="1200" cap="none" spc="0" baseline="0" dirty="0">
              <a:latin typeface="Century Gothic"/>
              <a:ea typeface="+mn-ea"/>
              <a:cs typeface="+mn-cs"/>
            </a:rPr>
            <a:t>Share</a:t>
          </a:r>
        </a:p>
      </dgm:t>
    </dgm:pt>
    <dgm:pt modelId="{F47063EE-4B58-4EDE-A4F2-A4BD81B82F21}" type="parTrans" cxnId="{0D51BD2E-4619-469B-B233-EBAC3D4D0BA6}">
      <dgm:prSet/>
      <dgm:spPr/>
      <dgm:t>
        <a:bodyPr/>
        <a:lstStyle/>
        <a:p>
          <a:endParaRPr lang="en-US">
            <a:solidFill>
              <a:schemeClr val="tx2"/>
            </a:solidFill>
          </a:endParaRPr>
        </a:p>
      </dgm:t>
    </dgm:pt>
    <dgm:pt modelId="{8C8A9736-03DA-4B1C-A590-10B4AD89452B}" type="sibTrans" cxnId="{0D51BD2E-4619-469B-B233-EBAC3D4D0BA6}">
      <dgm:prSet/>
      <dgm:spPr/>
      <dgm:t>
        <a:bodyPr/>
        <a:lstStyle/>
        <a:p>
          <a:endParaRPr lang="en-US">
            <a:solidFill>
              <a:schemeClr val="tx2"/>
            </a:solidFill>
          </a:endParaRPr>
        </a:p>
      </dgm:t>
    </dgm:pt>
    <dgm:pt modelId="{EFEB4D61-3A9C-4140-977F-3C3F5C9EE9D1}">
      <dgm:prSet phldr="0" custT="1"/>
      <dgm:spPr/>
      <dgm:t>
        <a:bodyPr/>
        <a:lstStyle/>
        <a:p>
          <a:r>
            <a:rPr lang="en-US" sz="1200" dirty="0"/>
            <a:t>Put the dashboard in local health services</a:t>
          </a:r>
          <a:endParaRPr lang="en-US" sz="1200" b="0" dirty="0">
            <a:latin typeface="+mn-lt"/>
          </a:endParaRPr>
        </a:p>
      </dgm:t>
    </dgm:pt>
    <dgm:pt modelId="{57D352E4-0431-4F68-B8F1-61BFA34799AA}" type="parTrans" cxnId="{1B32EF2C-9DB5-4504-A9DA-B4956CC00208}">
      <dgm:prSet/>
      <dgm:spPr/>
      <dgm:t>
        <a:bodyPr/>
        <a:lstStyle/>
        <a:p>
          <a:endParaRPr lang="en-US">
            <a:solidFill>
              <a:schemeClr val="tx2"/>
            </a:solidFill>
          </a:endParaRPr>
        </a:p>
      </dgm:t>
    </dgm:pt>
    <dgm:pt modelId="{0ECC32B6-1E7C-4AA4-9DBF-D69B7C5E64A9}" type="sibTrans" cxnId="{1B32EF2C-9DB5-4504-A9DA-B4956CC00208}">
      <dgm:prSet/>
      <dgm:spPr/>
      <dgm:t>
        <a:bodyPr/>
        <a:lstStyle/>
        <a:p>
          <a:endParaRPr lang="en-US">
            <a:solidFill>
              <a:schemeClr val="tx2"/>
            </a:solidFill>
          </a:endParaRPr>
        </a:p>
      </dgm:t>
    </dgm:pt>
    <dgm:pt modelId="{6E9F3C9B-13CA-43A8-8836-0B2B41D07DEF}" type="pres">
      <dgm:prSet presAssocID="{05A24E01-5535-46B9-A9A1-A9A07E639A88}" presName="root" presStyleCnt="0">
        <dgm:presLayoutVars>
          <dgm:chMax/>
          <dgm:chPref/>
          <dgm:animLvl val="lvl"/>
        </dgm:presLayoutVars>
      </dgm:prSet>
      <dgm:spPr/>
    </dgm:pt>
    <dgm:pt modelId="{E8AACCBB-6709-4071-B389-3BB226B3A586}" type="pres">
      <dgm:prSet presAssocID="{05A24E01-5535-46B9-A9A1-A9A07E639A88}" presName="divider" presStyleLbl="fgAcc1" presStyleIdx="0" presStyleCnt="4"/>
      <dgm:spPr>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gm:spPr>
    </dgm:pt>
    <dgm:pt modelId="{E6F74CED-5217-4282-85F1-1C12DC84731C}" type="pres">
      <dgm:prSet presAssocID="{05A24E01-5535-46B9-A9A1-A9A07E639A88}" presName="nodes" presStyleCnt="0">
        <dgm:presLayoutVars>
          <dgm:chMax/>
          <dgm:chPref/>
          <dgm:animLvl val="lvl"/>
        </dgm:presLayoutVars>
      </dgm:prSet>
      <dgm:spPr/>
    </dgm:pt>
    <dgm:pt modelId="{AC377099-4DAE-451C-ADE9-98036E2679B5}" type="pres">
      <dgm:prSet presAssocID="{58FF46FB-368D-4E9C-A650-0513B8879DA8}" presName="composite" presStyleCnt="0"/>
      <dgm:spPr/>
    </dgm:pt>
    <dgm:pt modelId="{B6C94ECD-6415-4250-B4AD-F67BF5BECFB8}" type="pres">
      <dgm:prSet presAssocID="{58FF46FB-368D-4E9C-A650-0513B8879DA8}" presName="ConnectorPoint" presStyleLbl="lnNode1" presStyleIdx="0" presStyleCnt="3"/>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0E99BB09-1B86-4308-A570-3981E6DD3A06}" type="pres">
      <dgm:prSet presAssocID="{58FF46FB-368D-4E9C-A650-0513B8879DA8}" presName="DropPinPlaceHolder" presStyleCnt="0"/>
      <dgm:spPr/>
    </dgm:pt>
    <dgm:pt modelId="{0ED6E8D6-BD44-4400-BC14-1BC75CB979A3}" type="pres">
      <dgm:prSet presAssocID="{58FF46FB-368D-4E9C-A650-0513B8879DA8}" presName="DropPin" presStyleLbl="alignNode1" presStyleIdx="0" presStyleCnt="3" custLinFactNeighborX="65647"/>
      <dgm:spPr>
        <a:xfrm rot="8100000">
          <a:off x="48752" y="319863"/>
          <a:ext cx="204134" cy="204134"/>
        </a:xfrm>
        <a:prstGeom prst="teardrop">
          <a:avLst>
            <a:gd name="adj" fmla="val 115000"/>
          </a:avLst>
        </a:prstGeom>
      </dgm:spPr>
    </dgm:pt>
    <dgm:pt modelId="{5B7FC7CF-F58D-48D5-8BCC-38D6EE87890B}" type="pres">
      <dgm:prSet presAssocID="{58FF46FB-368D-4E9C-A650-0513B8879DA8}" presName="Ellipse" presStyleLbl="fgAcc1" presStyleIdx="1" presStyleCnt="4"/>
      <dgm:spPr>
        <a:solidFill>
          <a:schemeClr val="lt1">
            <a:alpha val="90000"/>
            <a:hueOff val="0"/>
            <a:satOff val="0"/>
            <a:lumOff val="0"/>
            <a:alphaOff val="0"/>
          </a:schemeClr>
        </a:solidFill>
        <a:ln w="12700" cap="flat" cmpd="sng" algn="ctr">
          <a:noFill/>
          <a:prstDash val="solid"/>
          <a:miter lim="800000"/>
        </a:ln>
        <a:effectLst/>
      </dgm:spPr>
    </dgm:pt>
    <dgm:pt modelId="{D2143A46-815A-49BF-9455-C0385022444F}" type="pres">
      <dgm:prSet presAssocID="{58FF46FB-368D-4E9C-A650-0513B8879DA8}" presName="L2TextContainer" presStyleLbl="revTx" presStyleIdx="0" presStyleCnt="6">
        <dgm:presLayoutVars>
          <dgm:bulletEnabled val="1"/>
        </dgm:presLayoutVars>
      </dgm:prSet>
      <dgm:spPr/>
    </dgm:pt>
    <dgm:pt modelId="{8E3FB235-DF38-476B-9A0E-B1E583D50944}" type="pres">
      <dgm:prSet presAssocID="{58FF46FB-368D-4E9C-A650-0513B8879DA8}" presName="L1TextContainer" presStyleLbl="revTx" presStyleIdx="1" presStyleCnt="6" custScaleX="81789" custLinFactNeighborX="8021">
        <dgm:presLayoutVars>
          <dgm:chMax val="1"/>
          <dgm:chPref val="1"/>
          <dgm:bulletEnabled val="1"/>
        </dgm:presLayoutVars>
      </dgm:prSet>
      <dgm:spPr/>
    </dgm:pt>
    <dgm:pt modelId="{9AA05CE5-209F-4AD9-BE2C-2A69F76DA8F4}" type="pres">
      <dgm:prSet presAssocID="{58FF46FB-368D-4E9C-A650-0513B8879DA8}" presName="ConnectLine" presStyleLbl="sibTrans1D1" presStyleIdx="0" presStyleCnt="3" custLinFactX="314414" custLinFactNeighborX="400000"/>
      <dgm:spPr>
        <a:noFill/>
        <a:ln w="12700" cap="flat" cmpd="sng" algn="ctr">
          <a:solidFill>
            <a:schemeClr val="accent1">
              <a:hueOff val="0"/>
              <a:satOff val="0"/>
              <a:lumOff val="0"/>
              <a:alphaOff val="0"/>
            </a:schemeClr>
          </a:solidFill>
          <a:prstDash val="dash"/>
          <a:miter lim="800000"/>
        </a:ln>
        <a:effectLst/>
      </dgm:spPr>
    </dgm:pt>
    <dgm:pt modelId="{17350C28-DA10-4F3B-9FA2-0FE7C12A4ABE}" type="pres">
      <dgm:prSet presAssocID="{58FF46FB-368D-4E9C-A650-0513B8879DA8}" presName="EmptyPlaceHolder" presStyleCnt="0"/>
      <dgm:spPr/>
    </dgm:pt>
    <dgm:pt modelId="{6DA7B85E-9DC6-4F3B-A2BF-09CDEEDB43BC}" type="pres">
      <dgm:prSet presAssocID="{CFA40740-0682-470C-AD5A-CFF53CD12BD2}" presName="spaceBetweenRectangles" presStyleCnt="0"/>
      <dgm:spPr/>
    </dgm:pt>
    <dgm:pt modelId="{CF519A69-9940-494F-8406-D0D876E3CD26}" type="pres">
      <dgm:prSet presAssocID="{D05E1923-5021-40F7-B4EF-E582E23A699D}" presName="composite" presStyleCnt="0"/>
      <dgm:spPr/>
    </dgm:pt>
    <dgm:pt modelId="{714429FF-AAA3-4358-8C5F-1A7F29AA2B7B}" type="pres">
      <dgm:prSet presAssocID="{D05E1923-5021-40F7-B4EF-E582E23A699D}" presName="ConnectorPoint" presStyleLbl="lnNode1" presStyleIdx="1" presStyleCnt="3"/>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B8B1E8E-162B-4E3E-9E31-BA5CFBD3ED9D}" type="pres">
      <dgm:prSet presAssocID="{D05E1923-5021-40F7-B4EF-E582E23A699D}" presName="DropPinPlaceHolder" presStyleCnt="0"/>
      <dgm:spPr/>
    </dgm:pt>
    <dgm:pt modelId="{358CAA11-0A87-4861-8B4E-913B1EAD1334}" type="pres">
      <dgm:prSet presAssocID="{D05E1923-5021-40F7-B4EF-E582E23A699D}" presName="DropPin" presStyleLbl="alignNode1" presStyleIdx="1" presStyleCnt="3" custLinFactX="9543" custLinFactNeighborX="100000"/>
      <dgm:spPr>
        <a:xfrm rot="18900000">
          <a:off x="1526266" y="2251860"/>
          <a:ext cx="204134" cy="204134"/>
        </a:xfrm>
        <a:prstGeom prst="teardrop">
          <a:avLst>
            <a:gd name="adj" fmla="val 115000"/>
          </a:avLst>
        </a:prstGeom>
      </dgm:spPr>
    </dgm:pt>
    <dgm:pt modelId="{B1A1A837-F261-404B-A808-B2F4154CE8A2}" type="pres">
      <dgm:prSet presAssocID="{D05E1923-5021-40F7-B4EF-E582E23A699D}" presName="Ellipse" presStyleLbl="fgAcc1" presStyleIdx="2" presStyleCnt="4"/>
      <dgm:spPr>
        <a:solidFill>
          <a:schemeClr val="lt1">
            <a:alpha val="90000"/>
            <a:hueOff val="0"/>
            <a:satOff val="0"/>
            <a:lumOff val="0"/>
            <a:alphaOff val="0"/>
          </a:schemeClr>
        </a:solidFill>
        <a:ln w="12700" cap="flat" cmpd="sng" algn="ctr">
          <a:noFill/>
          <a:prstDash val="solid"/>
          <a:miter lim="800000"/>
        </a:ln>
        <a:effectLst/>
      </dgm:spPr>
    </dgm:pt>
    <dgm:pt modelId="{B5F3F650-2E42-488A-AD4F-C4BD47D19A84}" type="pres">
      <dgm:prSet presAssocID="{D05E1923-5021-40F7-B4EF-E582E23A699D}" presName="L2TextContainer" presStyleLbl="revTx" presStyleIdx="2" presStyleCnt="6">
        <dgm:presLayoutVars>
          <dgm:bulletEnabled val="1"/>
        </dgm:presLayoutVars>
      </dgm:prSet>
      <dgm:spPr/>
    </dgm:pt>
    <dgm:pt modelId="{223C5207-4FA2-4A6C-8F43-20BD55767C99}" type="pres">
      <dgm:prSet presAssocID="{D05E1923-5021-40F7-B4EF-E582E23A699D}" presName="L1TextContainer" presStyleLbl="revTx" presStyleIdx="3" presStyleCnt="6" custLinFactNeighborX="25451">
        <dgm:presLayoutVars>
          <dgm:chMax val="1"/>
          <dgm:chPref val="1"/>
          <dgm:bulletEnabled val="1"/>
        </dgm:presLayoutVars>
      </dgm:prSet>
      <dgm:spPr/>
    </dgm:pt>
    <dgm:pt modelId="{4FE5EB5D-4CEF-4D0D-9394-0534E61844BE}" type="pres">
      <dgm:prSet presAssocID="{D05E1923-5021-40F7-B4EF-E582E23A699D}" presName="ConnectLine" presStyleLbl="sibTrans1D1" presStyleIdx="1" presStyleCnt="3" custLinFactX="600000" custLinFactNeighborX="605708"/>
      <dgm:spPr>
        <a:noFill/>
        <a:ln w="12700" cap="flat" cmpd="sng" algn="ctr">
          <a:solidFill>
            <a:schemeClr val="accent1">
              <a:hueOff val="0"/>
              <a:satOff val="0"/>
              <a:lumOff val="0"/>
              <a:alphaOff val="0"/>
            </a:schemeClr>
          </a:solidFill>
          <a:prstDash val="dash"/>
          <a:miter lim="800000"/>
        </a:ln>
        <a:effectLst/>
      </dgm:spPr>
    </dgm:pt>
    <dgm:pt modelId="{EC869059-0AEC-4D98-8C46-CB603A342C72}" type="pres">
      <dgm:prSet presAssocID="{D05E1923-5021-40F7-B4EF-E582E23A699D}" presName="EmptyPlaceHolder" presStyleCnt="0"/>
      <dgm:spPr/>
    </dgm:pt>
    <dgm:pt modelId="{408BA715-9739-461D-BFDE-88EDAE355E60}" type="pres">
      <dgm:prSet presAssocID="{F020958C-EF86-4274-85F9-318F2792F7B6}" presName="spaceBetweenRectangles" presStyleCnt="0"/>
      <dgm:spPr/>
    </dgm:pt>
    <dgm:pt modelId="{D512C7F9-87A6-4BA9-AFAC-03FF1578D945}" type="pres">
      <dgm:prSet presAssocID="{FA8F44BD-C8C7-462C-9756-1EC498E86842}" presName="composite" presStyleCnt="0"/>
      <dgm:spPr/>
    </dgm:pt>
    <dgm:pt modelId="{152AD014-AFD0-4700-A468-4D562874339A}" type="pres">
      <dgm:prSet presAssocID="{FA8F44BD-C8C7-462C-9756-1EC498E86842}" presName="ConnectorPoint" presStyleLbl="lnNode1" presStyleIdx="2" presStyleCnt="3"/>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6CE2C4D8-4380-442D-A6C2-0B468BF3C74C}" type="pres">
      <dgm:prSet presAssocID="{FA8F44BD-C8C7-462C-9756-1EC498E86842}" presName="DropPinPlaceHolder" presStyleCnt="0"/>
      <dgm:spPr/>
    </dgm:pt>
    <dgm:pt modelId="{72C82E90-F103-439C-8371-CFFB0927B9DE}" type="pres">
      <dgm:prSet presAssocID="{FA8F44BD-C8C7-462C-9756-1EC498E86842}" presName="DropPin" presStyleLbl="alignNode1" presStyleIdx="2" presStyleCnt="3" custLinFactX="15526" custLinFactNeighborX="100000"/>
      <dgm:spPr>
        <a:xfrm rot="8100000">
          <a:off x="3003781" y="319863"/>
          <a:ext cx="204134" cy="204134"/>
        </a:xfrm>
        <a:prstGeom prst="teardrop">
          <a:avLst>
            <a:gd name="adj" fmla="val 115000"/>
          </a:avLst>
        </a:prstGeom>
      </dgm:spPr>
    </dgm:pt>
    <dgm:pt modelId="{5D519322-C1DD-47AE-92C0-13575134BC76}" type="pres">
      <dgm:prSet presAssocID="{FA8F44BD-C8C7-462C-9756-1EC498E86842}" presName="Ellipse" presStyleLbl="fgAcc1" presStyleIdx="3" presStyleCnt="4"/>
      <dgm:spPr>
        <a:solidFill>
          <a:schemeClr val="lt1">
            <a:alpha val="90000"/>
            <a:hueOff val="0"/>
            <a:satOff val="0"/>
            <a:lumOff val="0"/>
            <a:alphaOff val="0"/>
          </a:schemeClr>
        </a:solidFill>
        <a:ln w="12700" cap="flat" cmpd="sng" algn="ctr">
          <a:noFill/>
          <a:prstDash val="solid"/>
          <a:miter lim="800000"/>
        </a:ln>
        <a:effectLst/>
      </dgm:spPr>
    </dgm:pt>
    <dgm:pt modelId="{96DDA0FE-83E2-423C-9F13-58A61EB68487}" type="pres">
      <dgm:prSet presAssocID="{FA8F44BD-C8C7-462C-9756-1EC498E86842}" presName="L2TextContainer" presStyleLbl="revTx" presStyleIdx="4" presStyleCnt="6">
        <dgm:presLayoutVars>
          <dgm:bulletEnabled val="1"/>
        </dgm:presLayoutVars>
      </dgm:prSet>
      <dgm:spPr/>
    </dgm:pt>
    <dgm:pt modelId="{2D6C7916-1130-46A8-833B-A6278CBD2192}" type="pres">
      <dgm:prSet presAssocID="{FA8F44BD-C8C7-462C-9756-1EC498E86842}" presName="L1TextContainer" presStyleLbl="revTx" presStyleIdx="5" presStyleCnt="6" custScaleX="78587" custLinFactNeighborX="12310">
        <dgm:presLayoutVars>
          <dgm:chMax val="1"/>
          <dgm:chPref val="1"/>
          <dgm:bulletEnabled val="1"/>
        </dgm:presLayoutVars>
      </dgm:prSet>
      <dgm:spPr/>
    </dgm:pt>
    <dgm:pt modelId="{4D953791-5C2F-4A75-A8F4-6ED7EAB5E015}" type="pres">
      <dgm:prSet presAssocID="{FA8F44BD-C8C7-462C-9756-1EC498E86842}" presName="ConnectLine" presStyleLbl="sibTrans1D1" presStyleIdx="2" presStyleCnt="3" custLinFactX="600000" custLinFactNeighborX="673669"/>
      <dgm:spPr>
        <a:noFill/>
        <a:ln w="12700" cap="flat" cmpd="sng" algn="ctr">
          <a:solidFill>
            <a:schemeClr val="accent1">
              <a:hueOff val="0"/>
              <a:satOff val="0"/>
              <a:lumOff val="0"/>
              <a:alphaOff val="0"/>
            </a:schemeClr>
          </a:solidFill>
          <a:prstDash val="dash"/>
          <a:miter lim="800000"/>
        </a:ln>
        <a:effectLst/>
      </dgm:spPr>
    </dgm:pt>
    <dgm:pt modelId="{22A72E40-4DCC-4F48-AADD-29738FD37A2C}" type="pres">
      <dgm:prSet presAssocID="{FA8F44BD-C8C7-462C-9756-1EC498E86842}" presName="EmptyPlaceHolder" presStyleCnt="0"/>
      <dgm:spPr/>
    </dgm:pt>
  </dgm:ptLst>
  <dgm:cxnLst>
    <dgm:cxn modelId="{C3A1C60D-63BB-4E34-AD47-96AABDB6084E}" type="presOf" srcId="{D05E1923-5021-40F7-B4EF-E582E23A699D}" destId="{223C5207-4FA2-4A6C-8F43-20BD55767C99}" srcOrd="0" destOrd="0" presId="urn:microsoft.com/office/officeart/2017/3/layout/DropPinTimeline"/>
    <dgm:cxn modelId="{1B32EF2C-9DB5-4504-A9DA-B4956CC00208}" srcId="{FA8F44BD-C8C7-462C-9756-1EC498E86842}" destId="{EFEB4D61-3A9C-4140-977F-3C3F5C9EE9D1}" srcOrd="0" destOrd="0" parTransId="{57D352E4-0431-4F68-B8F1-61BFA34799AA}" sibTransId="{0ECC32B6-1E7C-4AA4-9DBF-D69B7C5E64A9}"/>
    <dgm:cxn modelId="{0D51BD2E-4619-469B-B233-EBAC3D4D0BA6}" srcId="{05A24E01-5535-46B9-A9A1-A9A07E639A88}" destId="{FA8F44BD-C8C7-462C-9756-1EC498E86842}" srcOrd="2" destOrd="0" parTransId="{F47063EE-4B58-4EDE-A4F2-A4BD81B82F21}" sibTransId="{8C8A9736-03DA-4B1C-A590-10B4AD89452B}"/>
    <dgm:cxn modelId="{C5645B39-CB65-4A0A-B369-E455C3B827C3}" srcId="{05A24E01-5535-46B9-A9A1-A9A07E639A88}" destId="{58FF46FB-368D-4E9C-A650-0513B8879DA8}" srcOrd="0" destOrd="0" parTransId="{11DFA284-5E99-474D-BF05-364A45269DC7}" sibTransId="{CFA40740-0682-470C-AD5A-CFF53CD12BD2}"/>
    <dgm:cxn modelId="{7DDF5444-F976-4F04-88A9-CF8B15238792}" type="presOf" srcId="{58FF46FB-368D-4E9C-A650-0513B8879DA8}" destId="{8E3FB235-DF38-476B-9A0E-B1E583D50944}" srcOrd="0" destOrd="0" presId="urn:microsoft.com/office/officeart/2017/3/layout/DropPinTimeline"/>
    <dgm:cxn modelId="{1690634A-EBA7-4881-9E5F-0C82421D4CDF}" type="presOf" srcId="{FA8F44BD-C8C7-462C-9756-1EC498E86842}" destId="{2D6C7916-1130-46A8-833B-A6278CBD2192}" srcOrd="0" destOrd="0" presId="urn:microsoft.com/office/officeart/2017/3/layout/DropPinTimeline"/>
    <dgm:cxn modelId="{B659504B-18E4-4D89-A17C-34ABB280AE52}" srcId="{58FF46FB-368D-4E9C-A650-0513B8879DA8}" destId="{9A875394-CA1E-4432-AEEB-9054FCFF5E0E}" srcOrd="0" destOrd="0" parTransId="{FCC92BDD-6EA3-421D-9DA8-7D3A12D003B6}" sibTransId="{0314452B-82A0-42F4-9551-DF00CFFC3580}"/>
    <dgm:cxn modelId="{4876CF51-F110-4E25-8FD4-08D25B4B0AB8}" srcId="{D05E1923-5021-40F7-B4EF-E582E23A699D}" destId="{579089A8-5362-4BA4-9163-D19228C1808F}" srcOrd="0" destOrd="0" parTransId="{FB2DEB6E-B29F-4E51-960A-23ECC62EBF38}" sibTransId="{1C5328B1-AC18-4CF7-A034-BB0592F4A2A1}"/>
    <dgm:cxn modelId="{B9F0B583-D02F-4EF4-83A8-DFD7B32B9433}" type="presOf" srcId="{9A875394-CA1E-4432-AEEB-9054FCFF5E0E}" destId="{D2143A46-815A-49BF-9455-C0385022444F}" srcOrd="0" destOrd="0" presId="urn:microsoft.com/office/officeart/2017/3/layout/DropPinTimeline"/>
    <dgm:cxn modelId="{72C4D6D9-419A-42C1-A76D-84599F65BB08}" srcId="{05A24E01-5535-46B9-A9A1-A9A07E639A88}" destId="{D05E1923-5021-40F7-B4EF-E582E23A699D}" srcOrd="1" destOrd="0" parTransId="{FD6C5CD2-9CED-4BE6-89CD-A5A5CCE63B3E}" sibTransId="{F020958C-EF86-4274-85F9-318F2792F7B6}"/>
    <dgm:cxn modelId="{C6A73EDB-89B0-4756-9ECD-83E9B8AB77E5}" type="presOf" srcId="{EFEB4D61-3A9C-4140-977F-3C3F5C9EE9D1}" destId="{96DDA0FE-83E2-423C-9F13-58A61EB68487}" srcOrd="0" destOrd="0" presId="urn:microsoft.com/office/officeart/2017/3/layout/DropPinTimeline"/>
    <dgm:cxn modelId="{FE7849EA-5B37-43C8-B217-CD4E30A8E545}" type="presOf" srcId="{05A24E01-5535-46B9-A9A1-A9A07E639A88}" destId="{6E9F3C9B-13CA-43A8-8836-0B2B41D07DEF}" srcOrd="0" destOrd="0" presId="urn:microsoft.com/office/officeart/2017/3/layout/DropPinTimeline"/>
    <dgm:cxn modelId="{DC6269F4-0C31-4613-A809-E8E029CAD0D1}" type="presOf" srcId="{579089A8-5362-4BA4-9163-D19228C1808F}" destId="{B5F3F650-2E42-488A-AD4F-C4BD47D19A84}" srcOrd="0" destOrd="0" presId="urn:microsoft.com/office/officeart/2017/3/layout/DropPinTimeline"/>
    <dgm:cxn modelId="{2FED2A5E-98EB-4859-AB3F-062F22EEC890}" type="presParOf" srcId="{6E9F3C9B-13CA-43A8-8836-0B2B41D07DEF}" destId="{E8AACCBB-6709-4071-B389-3BB226B3A586}" srcOrd="0" destOrd="0" presId="urn:microsoft.com/office/officeart/2017/3/layout/DropPinTimeline"/>
    <dgm:cxn modelId="{6DE443D7-8EE2-4FBC-842D-B6B9C44204D0}" type="presParOf" srcId="{6E9F3C9B-13CA-43A8-8836-0B2B41D07DEF}" destId="{E6F74CED-5217-4282-85F1-1C12DC84731C}" srcOrd="1" destOrd="0" presId="urn:microsoft.com/office/officeart/2017/3/layout/DropPinTimeline"/>
    <dgm:cxn modelId="{C773189E-DF31-4C58-A290-F5DFD7DCF8B1}" type="presParOf" srcId="{E6F74CED-5217-4282-85F1-1C12DC84731C}" destId="{AC377099-4DAE-451C-ADE9-98036E2679B5}" srcOrd="0" destOrd="0" presId="urn:microsoft.com/office/officeart/2017/3/layout/DropPinTimeline"/>
    <dgm:cxn modelId="{04D71AD3-A9B8-46E1-AB82-BB594FCE110E}" type="presParOf" srcId="{AC377099-4DAE-451C-ADE9-98036E2679B5}" destId="{B6C94ECD-6415-4250-B4AD-F67BF5BECFB8}" srcOrd="0" destOrd="0" presId="urn:microsoft.com/office/officeart/2017/3/layout/DropPinTimeline"/>
    <dgm:cxn modelId="{4D9D677D-9448-43AF-978B-5C7E7661F4F9}" type="presParOf" srcId="{AC377099-4DAE-451C-ADE9-98036E2679B5}" destId="{0E99BB09-1B86-4308-A570-3981E6DD3A06}" srcOrd="1" destOrd="0" presId="urn:microsoft.com/office/officeart/2017/3/layout/DropPinTimeline"/>
    <dgm:cxn modelId="{C213A57E-D4AE-4C05-AA12-FE8CC1989639}" type="presParOf" srcId="{0E99BB09-1B86-4308-A570-3981E6DD3A06}" destId="{0ED6E8D6-BD44-4400-BC14-1BC75CB979A3}" srcOrd="0" destOrd="0" presId="urn:microsoft.com/office/officeart/2017/3/layout/DropPinTimeline"/>
    <dgm:cxn modelId="{927F0821-BB24-4368-A4D4-046EB89F39DD}" type="presParOf" srcId="{0E99BB09-1B86-4308-A570-3981E6DD3A06}" destId="{5B7FC7CF-F58D-48D5-8BCC-38D6EE87890B}" srcOrd="1" destOrd="0" presId="urn:microsoft.com/office/officeart/2017/3/layout/DropPinTimeline"/>
    <dgm:cxn modelId="{F517DE46-1EA2-46F3-8833-EE234EEF5B09}" type="presParOf" srcId="{AC377099-4DAE-451C-ADE9-98036E2679B5}" destId="{D2143A46-815A-49BF-9455-C0385022444F}" srcOrd="2" destOrd="0" presId="urn:microsoft.com/office/officeart/2017/3/layout/DropPinTimeline"/>
    <dgm:cxn modelId="{75F0F73C-AD49-4A34-842E-A65EF46645BA}" type="presParOf" srcId="{AC377099-4DAE-451C-ADE9-98036E2679B5}" destId="{8E3FB235-DF38-476B-9A0E-B1E583D50944}" srcOrd="3" destOrd="0" presId="urn:microsoft.com/office/officeart/2017/3/layout/DropPinTimeline"/>
    <dgm:cxn modelId="{071A2262-20BC-4D30-AB90-12B0A0FEB6EF}" type="presParOf" srcId="{AC377099-4DAE-451C-ADE9-98036E2679B5}" destId="{9AA05CE5-209F-4AD9-BE2C-2A69F76DA8F4}" srcOrd="4" destOrd="0" presId="urn:microsoft.com/office/officeart/2017/3/layout/DropPinTimeline"/>
    <dgm:cxn modelId="{0D0471BD-C944-46DB-9B0D-12B6F025E4F4}" type="presParOf" srcId="{AC377099-4DAE-451C-ADE9-98036E2679B5}" destId="{17350C28-DA10-4F3B-9FA2-0FE7C12A4ABE}" srcOrd="5" destOrd="0" presId="urn:microsoft.com/office/officeart/2017/3/layout/DropPinTimeline"/>
    <dgm:cxn modelId="{37FF9AEE-1EE5-440D-B822-B54671B03AAC}" type="presParOf" srcId="{E6F74CED-5217-4282-85F1-1C12DC84731C}" destId="{6DA7B85E-9DC6-4F3B-A2BF-09CDEEDB43BC}" srcOrd="1" destOrd="0" presId="urn:microsoft.com/office/officeart/2017/3/layout/DropPinTimeline"/>
    <dgm:cxn modelId="{3FF77B45-DC34-4E18-8B7E-49C274966E23}" type="presParOf" srcId="{E6F74CED-5217-4282-85F1-1C12DC84731C}" destId="{CF519A69-9940-494F-8406-D0D876E3CD26}" srcOrd="2" destOrd="0" presId="urn:microsoft.com/office/officeart/2017/3/layout/DropPinTimeline"/>
    <dgm:cxn modelId="{4E60349A-D4EB-4BFE-9374-0F079D59B1FC}" type="presParOf" srcId="{CF519A69-9940-494F-8406-D0D876E3CD26}" destId="{714429FF-AAA3-4358-8C5F-1A7F29AA2B7B}" srcOrd="0" destOrd="0" presId="urn:microsoft.com/office/officeart/2017/3/layout/DropPinTimeline"/>
    <dgm:cxn modelId="{0B07CD93-B91C-4CAF-B94C-3237B0C6F601}" type="presParOf" srcId="{CF519A69-9940-494F-8406-D0D876E3CD26}" destId="{AB8B1E8E-162B-4E3E-9E31-BA5CFBD3ED9D}" srcOrd="1" destOrd="0" presId="urn:microsoft.com/office/officeart/2017/3/layout/DropPinTimeline"/>
    <dgm:cxn modelId="{BB97917A-2BFB-4D8A-94BD-816B0C62D6F6}" type="presParOf" srcId="{AB8B1E8E-162B-4E3E-9E31-BA5CFBD3ED9D}" destId="{358CAA11-0A87-4861-8B4E-913B1EAD1334}" srcOrd="0" destOrd="0" presId="urn:microsoft.com/office/officeart/2017/3/layout/DropPinTimeline"/>
    <dgm:cxn modelId="{FDC4D318-B3AD-4E39-8663-3AFB57531D79}" type="presParOf" srcId="{AB8B1E8E-162B-4E3E-9E31-BA5CFBD3ED9D}" destId="{B1A1A837-F261-404B-A808-B2F4154CE8A2}" srcOrd="1" destOrd="0" presId="urn:microsoft.com/office/officeart/2017/3/layout/DropPinTimeline"/>
    <dgm:cxn modelId="{7F53703E-9DF0-45E5-AC76-7E0CCD3B06EA}" type="presParOf" srcId="{CF519A69-9940-494F-8406-D0D876E3CD26}" destId="{B5F3F650-2E42-488A-AD4F-C4BD47D19A84}" srcOrd="2" destOrd="0" presId="urn:microsoft.com/office/officeart/2017/3/layout/DropPinTimeline"/>
    <dgm:cxn modelId="{B59937ED-9C59-4BBD-AA3C-5D9159504926}" type="presParOf" srcId="{CF519A69-9940-494F-8406-D0D876E3CD26}" destId="{223C5207-4FA2-4A6C-8F43-20BD55767C99}" srcOrd="3" destOrd="0" presId="urn:microsoft.com/office/officeart/2017/3/layout/DropPinTimeline"/>
    <dgm:cxn modelId="{470C2FBB-9D40-4F2C-8107-12E2CA0E70BE}" type="presParOf" srcId="{CF519A69-9940-494F-8406-D0D876E3CD26}" destId="{4FE5EB5D-4CEF-4D0D-9394-0534E61844BE}" srcOrd="4" destOrd="0" presId="urn:microsoft.com/office/officeart/2017/3/layout/DropPinTimeline"/>
    <dgm:cxn modelId="{C1237DFD-87FD-434B-A5C8-02108EF43081}" type="presParOf" srcId="{CF519A69-9940-494F-8406-D0D876E3CD26}" destId="{EC869059-0AEC-4D98-8C46-CB603A342C72}" srcOrd="5" destOrd="0" presId="urn:microsoft.com/office/officeart/2017/3/layout/DropPinTimeline"/>
    <dgm:cxn modelId="{7A1441D0-A5AA-4E6C-9388-511DA29929BF}" type="presParOf" srcId="{E6F74CED-5217-4282-85F1-1C12DC84731C}" destId="{408BA715-9739-461D-BFDE-88EDAE355E60}" srcOrd="3" destOrd="0" presId="urn:microsoft.com/office/officeart/2017/3/layout/DropPinTimeline"/>
    <dgm:cxn modelId="{087F2A81-CFD9-4BF8-96FC-2D4ABA32462F}" type="presParOf" srcId="{E6F74CED-5217-4282-85F1-1C12DC84731C}" destId="{D512C7F9-87A6-4BA9-AFAC-03FF1578D945}" srcOrd="4" destOrd="0" presId="urn:microsoft.com/office/officeart/2017/3/layout/DropPinTimeline"/>
    <dgm:cxn modelId="{8C6217DA-A763-4946-99A2-03C618C428AF}" type="presParOf" srcId="{D512C7F9-87A6-4BA9-AFAC-03FF1578D945}" destId="{152AD014-AFD0-4700-A468-4D562874339A}" srcOrd="0" destOrd="0" presId="urn:microsoft.com/office/officeart/2017/3/layout/DropPinTimeline"/>
    <dgm:cxn modelId="{A6A34287-F5FF-46EE-9A88-F2ECF73903CE}" type="presParOf" srcId="{D512C7F9-87A6-4BA9-AFAC-03FF1578D945}" destId="{6CE2C4D8-4380-442D-A6C2-0B468BF3C74C}" srcOrd="1" destOrd="0" presId="urn:microsoft.com/office/officeart/2017/3/layout/DropPinTimeline"/>
    <dgm:cxn modelId="{D28BF9CF-F026-4786-A1AC-F4F785C54591}" type="presParOf" srcId="{6CE2C4D8-4380-442D-A6C2-0B468BF3C74C}" destId="{72C82E90-F103-439C-8371-CFFB0927B9DE}" srcOrd="0" destOrd="0" presId="urn:microsoft.com/office/officeart/2017/3/layout/DropPinTimeline"/>
    <dgm:cxn modelId="{E33A6BB5-6D3A-4D44-AEFC-75BAB101C26D}" type="presParOf" srcId="{6CE2C4D8-4380-442D-A6C2-0B468BF3C74C}" destId="{5D519322-C1DD-47AE-92C0-13575134BC76}" srcOrd="1" destOrd="0" presId="urn:microsoft.com/office/officeart/2017/3/layout/DropPinTimeline"/>
    <dgm:cxn modelId="{0BFD1614-5731-4306-81F7-E2C949C32A93}" type="presParOf" srcId="{D512C7F9-87A6-4BA9-AFAC-03FF1578D945}" destId="{96DDA0FE-83E2-423C-9F13-58A61EB68487}" srcOrd="2" destOrd="0" presId="urn:microsoft.com/office/officeart/2017/3/layout/DropPinTimeline"/>
    <dgm:cxn modelId="{06EDED26-E685-42BC-BFC2-75C7EA695E40}" type="presParOf" srcId="{D512C7F9-87A6-4BA9-AFAC-03FF1578D945}" destId="{2D6C7916-1130-46A8-833B-A6278CBD2192}" srcOrd="3" destOrd="0" presId="urn:microsoft.com/office/officeart/2017/3/layout/DropPinTimeline"/>
    <dgm:cxn modelId="{A20C8A5A-2D9A-4EF7-BC83-D5EE4B16698D}" type="presParOf" srcId="{D512C7F9-87A6-4BA9-AFAC-03FF1578D945}" destId="{4D953791-5C2F-4A75-A8F4-6ED7EAB5E015}" srcOrd="4" destOrd="0" presId="urn:microsoft.com/office/officeart/2017/3/layout/DropPinTimeline"/>
    <dgm:cxn modelId="{6780D10C-523A-4885-B5BF-84F303790098}" type="presParOf" srcId="{D512C7F9-87A6-4BA9-AFAC-03FF1578D945}" destId="{22A72E40-4DCC-4F48-AADD-29738FD37A2C}"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AACCBB-6709-4071-B389-3BB226B3A586}">
      <dsp:nvSpPr>
        <dsp:cNvPr id="0" name=""/>
        <dsp:cNvSpPr/>
      </dsp:nvSpPr>
      <dsp:spPr>
        <a:xfrm>
          <a:off x="0" y="1905000"/>
          <a:ext cx="5486400" cy="0"/>
        </a:xfrm>
        <a:prstGeom prst="lin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0ED6E8D6-BD44-4400-BC14-1BC75CB979A3}">
      <dsp:nvSpPr>
        <dsp:cNvPr id="0" name=""/>
        <dsp:cNvSpPr/>
      </dsp:nvSpPr>
      <dsp:spPr>
        <a:xfrm rot="8100000">
          <a:off x="318191" y="439028"/>
          <a:ext cx="280183" cy="280183"/>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7FC7CF-F58D-48D5-8BCC-38D6EE87890B}">
      <dsp:nvSpPr>
        <dsp:cNvPr id="0" name=""/>
        <dsp:cNvSpPr/>
      </dsp:nvSpPr>
      <dsp:spPr>
        <a:xfrm>
          <a:off x="349317" y="470153"/>
          <a:ext cx="217932" cy="217932"/>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2143A46-815A-49BF-9455-C0385022444F}">
      <dsp:nvSpPr>
        <dsp:cNvPr id="0" name=""/>
        <dsp:cNvSpPr/>
      </dsp:nvSpPr>
      <dsp:spPr>
        <a:xfrm>
          <a:off x="787494" y="777239"/>
          <a:ext cx="1868259" cy="112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76200" rIns="76200" bIns="114300" numCol="1" spcCol="1270" anchor="t" anchorCtr="0">
          <a:noAutofit/>
        </a:bodyPr>
        <a:lstStyle/>
        <a:p>
          <a:pPr marL="0" lvl="0" indent="0" algn="l" defTabSz="533400">
            <a:lnSpc>
              <a:spcPct val="90000"/>
            </a:lnSpc>
            <a:spcBef>
              <a:spcPct val="0"/>
            </a:spcBef>
            <a:spcAft>
              <a:spcPct val="35000"/>
            </a:spcAft>
            <a:buNone/>
          </a:pPr>
          <a:r>
            <a:rPr lang="en-US" sz="1200" kern="1200" dirty="0"/>
            <a:t>Cover the Critical </a:t>
          </a:r>
          <a:br>
            <a:rPr lang="en-US" sz="1200" kern="1200" dirty="0"/>
          </a:br>
          <a:r>
            <a:rPr lang="en-US" sz="1200" kern="1200" dirty="0"/>
            <a:t>tier first</a:t>
          </a:r>
          <a:endParaRPr lang="en-US" sz="1200" b="0" kern="1200" dirty="0">
            <a:latin typeface="+mn-lt"/>
          </a:endParaRPr>
        </a:p>
      </dsp:txBody>
      <dsp:txXfrm>
        <a:off x="787494" y="777239"/>
        <a:ext cx="1868259" cy="1127760"/>
      </dsp:txXfrm>
    </dsp:sp>
    <dsp:sp modelId="{8E3FB235-DF38-476B-9A0E-B1E583D50944}">
      <dsp:nvSpPr>
        <dsp:cNvPr id="0" name=""/>
        <dsp:cNvSpPr/>
      </dsp:nvSpPr>
      <dsp:spPr>
        <a:xfrm>
          <a:off x="787494" y="380999"/>
          <a:ext cx="1868259" cy="396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1" i="0" kern="1200" cap="none" spc="0" baseline="0" dirty="0">
              <a:latin typeface="+mn-lt"/>
              <a:ea typeface="+mn-ea"/>
              <a:cs typeface="+mn-cs"/>
            </a:rPr>
            <a:t>Connect</a:t>
          </a:r>
        </a:p>
      </dsp:txBody>
      <dsp:txXfrm>
        <a:off x="787494" y="380999"/>
        <a:ext cx="1868259" cy="396240"/>
      </dsp:txXfrm>
    </dsp:sp>
    <dsp:sp modelId="{9AA05CE5-209F-4AD9-BE2C-2A69F76DA8F4}">
      <dsp:nvSpPr>
        <dsp:cNvPr id="0" name=""/>
        <dsp:cNvSpPr/>
      </dsp:nvSpPr>
      <dsp:spPr>
        <a:xfrm>
          <a:off x="455352" y="777239"/>
          <a:ext cx="0" cy="1127760"/>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6C94ECD-6415-4250-B4AD-F67BF5BECFB8}">
      <dsp:nvSpPr>
        <dsp:cNvPr id="0" name=""/>
        <dsp:cNvSpPr/>
      </dsp:nvSpPr>
      <dsp:spPr>
        <a:xfrm>
          <a:off x="418411" y="1869338"/>
          <a:ext cx="71323" cy="71323"/>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8CAA11-0A87-4861-8B4E-913B1EAD1334}">
      <dsp:nvSpPr>
        <dsp:cNvPr id="0" name=""/>
        <dsp:cNvSpPr/>
      </dsp:nvSpPr>
      <dsp:spPr>
        <a:xfrm rot="18900000">
          <a:off x="1859230" y="3090788"/>
          <a:ext cx="280183" cy="280183"/>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A1A837-F261-404B-A808-B2F4154CE8A2}">
      <dsp:nvSpPr>
        <dsp:cNvPr id="0" name=""/>
        <dsp:cNvSpPr/>
      </dsp:nvSpPr>
      <dsp:spPr>
        <a:xfrm>
          <a:off x="1890356" y="3121913"/>
          <a:ext cx="217932" cy="217932"/>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5F3F650-2E42-488A-AD4F-C4BD47D19A84}">
      <dsp:nvSpPr>
        <dsp:cNvPr id="0" name=""/>
        <dsp:cNvSpPr/>
      </dsp:nvSpPr>
      <dsp:spPr>
        <a:xfrm>
          <a:off x="2344752" y="1905000"/>
          <a:ext cx="2284243" cy="11277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4300" rIns="0" bIns="76200" numCol="1" spcCol="1270" anchor="b" anchorCtr="0">
          <a:noAutofit/>
        </a:bodyPr>
        <a:lstStyle/>
        <a:p>
          <a:pPr marL="0" lvl="0" indent="0" algn="l" defTabSz="533400">
            <a:lnSpc>
              <a:spcPct val="90000"/>
            </a:lnSpc>
            <a:spcBef>
              <a:spcPct val="0"/>
            </a:spcBef>
            <a:spcAft>
              <a:spcPct val="35000"/>
            </a:spcAft>
            <a:buNone/>
          </a:pPr>
          <a:r>
            <a:rPr lang="en-US" sz="1200" kern="1200" dirty="0"/>
            <a:t>Fix the 24/7 gap for 210 communities</a:t>
          </a:r>
          <a:endParaRPr lang="en-US" sz="1200" b="0" kern="1200" dirty="0">
            <a:latin typeface="+mn-lt"/>
          </a:endParaRPr>
        </a:p>
      </dsp:txBody>
      <dsp:txXfrm>
        <a:off x="2344752" y="1905000"/>
        <a:ext cx="2284243" cy="1127759"/>
      </dsp:txXfrm>
    </dsp:sp>
    <dsp:sp modelId="{223C5207-4FA2-4A6C-8F43-20BD55767C99}">
      <dsp:nvSpPr>
        <dsp:cNvPr id="0" name=""/>
        <dsp:cNvSpPr/>
      </dsp:nvSpPr>
      <dsp:spPr>
        <a:xfrm>
          <a:off x="2344752" y="3032759"/>
          <a:ext cx="2284243" cy="396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1" i="0" kern="1200" cap="none" spc="0" baseline="0" dirty="0">
              <a:latin typeface="Century Gothic"/>
              <a:ea typeface="+mn-ea"/>
              <a:cs typeface="+mn-cs"/>
            </a:rPr>
            <a:t>Close</a:t>
          </a:r>
        </a:p>
      </dsp:txBody>
      <dsp:txXfrm>
        <a:off x="2344752" y="3032759"/>
        <a:ext cx="2284243" cy="396240"/>
      </dsp:txXfrm>
    </dsp:sp>
    <dsp:sp modelId="{4FE5EB5D-4CEF-4D0D-9394-0534E61844BE}">
      <dsp:nvSpPr>
        <dsp:cNvPr id="0" name=""/>
        <dsp:cNvSpPr/>
      </dsp:nvSpPr>
      <dsp:spPr>
        <a:xfrm>
          <a:off x="1999324" y="1905000"/>
          <a:ext cx="0" cy="1127759"/>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14429FF-AAA3-4358-8C5F-1A7F29AA2B7B}">
      <dsp:nvSpPr>
        <dsp:cNvPr id="0" name=""/>
        <dsp:cNvSpPr/>
      </dsp:nvSpPr>
      <dsp:spPr>
        <a:xfrm>
          <a:off x="1962383" y="1869338"/>
          <a:ext cx="71323" cy="71323"/>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C82E90-F103-439C-8371-CFFB0927B9DE}">
      <dsp:nvSpPr>
        <dsp:cNvPr id="0" name=""/>
        <dsp:cNvSpPr/>
      </dsp:nvSpPr>
      <dsp:spPr>
        <a:xfrm rot="8100000">
          <a:off x="3250043" y="439028"/>
          <a:ext cx="280183" cy="280183"/>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519322-C1DD-47AE-92C0-13575134BC76}">
      <dsp:nvSpPr>
        <dsp:cNvPr id="0" name=""/>
        <dsp:cNvSpPr/>
      </dsp:nvSpPr>
      <dsp:spPr>
        <a:xfrm>
          <a:off x="3281169" y="470153"/>
          <a:ext cx="217932" cy="217932"/>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6DDA0FE-83E2-423C-9F13-58A61EB68487}">
      <dsp:nvSpPr>
        <dsp:cNvPr id="0" name=""/>
        <dsp:cNvSpPr/>
      </dsp:nvSpPr>
      <dsp:spPr>
        <a:xfrm>
          <a:off x="3656248" y="777239"/>
          <a:ext cx="1795118" cy="112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76200" rIns="76200" bIns="114300" numCol="1" spcCol="1270" anchor="t" anchorCtr="0">
          <a:noAutofit/>
        </a:bodyPr>
        <a:lstStyle/>
        <a:p>
          <a:pPr marL="0" lvl="0" indent="0" algn="l" defTabSz="533400">
            <a:lnSpc>
              <a:spcPct val="90000"/>
            </a:lnSpc>
            <a:spcBef>
              <a:spcPct val="0"/>
            </a:spcBef>
            <a:spcAft>
              <a:spcPct val="35000"/>
            </a:spcAft>
            <a:buNone/>
          </a:pPr>
          <a:r>
            <a:rPr lang="en-US" sz="1200" kern="1200" dirty="0"/>
            <a:t>Put the dashboard in local health services</a:t>
          </a:r>
          <a:endParaRPr lang="en-US" sz="1200" b="0" kern="1200" dirty="0">
            <a:latin typeface="+mn-lt"/>
          </a:endParaRPr>
        </a:p>
      </dsp:txBody>
      <dsp:txXfrm>
        <a:off x="3656248" y="777239"/>
        <a:ext cx="1795118" cy="1127760"/>
      </dsp:txXfrm>
    </dsp:sp>
    <dsp:sp modelId="{2D6C7916-1130-46A8-833B-A6278CBD2192}">
      <dsp:nvSpPr>
        <dsp:cNvPr id="0" name=""/>
        <dsp:cNvSpPr/>
      </dsp:nvSpPr>
      <dsp:spPr>
        <a:xfrm>
          <a:off x="3656248" y="380999"/>
          <a:ext cx="1795118" cy="396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1" i="0" kern="1200" cap="none" spc="0" baseline="0" dirty="0">
              <a:latin typeface="Century Gothic"/>
              <a:ea typeface="+mn-ea"/>
              <a:cs typeface="+mn-cs"/>
            </a:rPr>
            <a:t>Share</a:t>
          </a:r>
        </a:p>
      </dsp:txBody>
      <dsp:txXfrm>
        <a:off x="3656248" y="380999"/>
        <a:ext cx="1795118" cy="396240"/>
      </dsp:txXfrm>
    </dsp:sp>
    <dsp:sp modelId="{4D953791-5C2F-4A75-A8F4-6ED7EAB5E015}">
      <dsp:nvSpPr>
        <dsp:cNvPr id="0" name=""/>
        <dsp:cNvSpPr/>
      </dsp:nvSpPr>
      <dsp:spPr>
        <a:xfrm>
          <a:off x="3390896" y="777239"/>
          <a:ext cx="0" cy="1127760"/>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52AD014-AFD0-4700-A468-4D562874339A}">
      <dsp:nvSpPr>
        <dsp:cNvPr id="0" name=""/>
        <dsp:cNvSpPr/>
      </dsp:nvSpPr>
      <dsp:spPr>
        <a:xfrm>
          <a:off x="3353955" y="1869338"/>
          <a:ext cx="71323" cy="71323"/>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9/30/2026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9/30/2026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to 0:15] Hello everyone, we are Team DIC 031. Our question is simple: in an emergency in a remote Northern Territory community, can you call for help, and can you reach care?</a:t>
            </a:r>
          </a:p>
        </p:txBody>
      </p:sp>
      <p:sp>
        <p:nvSpPr>
          <p:cNvPr id="4" name="Slide Number Placeholder 3"/>
          <p:cNvSpPr>
            <a:spLocks noGrp="1"/>
          </p:cNvSpPr>
          <p:nvPr>
            <p:ph type="sldNum" sz="quarter" idx="10"/>
          </p:nvPr>
        </p:nvSpPr>
        <p:spPr/>
        <p:txBody>
          <a:bodyPr/>
          <a:lstStyle/>
          <a:p>
            <a:fld id="{6BB98AFB-CB0D-4DFE-87B9-B4B0D0DE73CD}" type="slidenum">
              <a:rPr lang="en-US" smtClean="0"/>
              <a:t>1</a:t>
            </a:fld>
            <a:endParaRPr lang="en-US" dirty="0"/>
          </a:p>
        </p:txBody>
      </p:sp>
    </p:spTree>
    <p:extLst>
      <p:ext uri="{BB962C8B-B14F-4D97-AF65-F5344CB8AC3E}">
        <p14:creationId xmlns:p14="http://schemas.microsoft.com/office/powerpoint/2010/main" val="2864014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[0:15 to 0:50] In an emergency you need to call for help, and then reach care. We joined mobile coverage records, road drive times and clinic contact lists for 782 remote communities, outstations and town camps. Look at the chart: 423 communities were never recorded in the NT Government list, and 6 are listed as having no coverage. That is 429, or 54.9 percent, with no confirmed way to call for help. The blue bars are the 353 with some confirmed coverage. 'Never recorded' does not prove there is no signal. It means nobody has confirmed one. That is the gap.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[0:50 to 1:30] We built one transparent score, the Gap Index, from nine sources for 782 places. It has four ingredients: can they call, how far is the nearest clinic, how far is the nearest hospital, and is there a sealed road. Each is rank-scaled from zero to one and averaged with equal weights, then split into four risk tiers, Low to Critical. Where a drive time cannot be calculated because the place is too remote to route, we score it as maximum risk instead of dropping it. We tested other weightings and got the same top twenty communities, with a correlation above 0.99, so we kept it simple.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to 2:30] Here is what the data shows. The median road trip from a remote place to a hospital emergency department is three hours fifty-six minutes, and 340 places are more than four hours away, 191 of them more than six. The chart shows the spread. Eighty-five places have no mapped road to any hospital. 469 places have 20 kilometres or more of unsealed road on their fastest route, so they risk being cut off in the wet season. And clinics are not a full answer: 49 of the 91 remote clinics list no 24/7 emergency service. Put together, 210 communities that cannot call for help have, as their nearest clinic, one with no listed 24/7 service. These drive times assume the dry season, so they are best-case figures.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[2:30 to 3:10] The gap is not spread evenly. 98 percent of Critical-tier communities are Family Outstations, small kin-based homelands, so the service gap follows people home. Sixteen communities tie at the maximum score of 1.000. Compare Tennant Creek at 0.012. Region matters too: East Arnhem's average Gap Index is 0.720. One caution: the official coverage lists are a guide only, so this is a prompt to verify with communities and health services, not a verdict on any community.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[3:10 to 4:00] Analysis only helps if it reaches the people who need it, so we built a working prototype. It is a single offline dashboard file. You search a community or a clinic, see whether a call for help is likely to connect, how far care is, and who to phone, including the clinic's hours and whether it has a 24/7 service. It needs no internet, no server and no installation, so it works in the places the data says have the least signal. There is also a form to report a coverage gap, which saves on the device. [Optional live demo: open dashboard_offline.html, search Kumunu, then a clinic.]</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 to 4:30] Three recommendations. One: government and telecommunications providers should connect the Critical tier first. Two: close the 24/7 gap, starting with the 210 communities that cannot call and whose nearest clinic lists no 24/7 service. Three: put the dashboard in local hands, through remote health services and Aboriginal community-controlled health organisations.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[4:30 to 4:50] To sum up: 429 of 782 remote communities have no confirmed way to call for help, and care can be hours away. On ethics: we used no personal or health records, the unit of analysis is a place's access to help, missing data is scored as maximum risk rather than hidden, and the results are meant to be taken to communities for verification and co-design.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[4:50 to 5:00] The gap is measurable, and now it is visible. Thank you. We would be glad to take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pic>
        <p:nvPicPr>
          <p:cNvPr id="8" name="Picture 7" descr="A white circles on a black background&#10;&#10;Description automatically generated">
            <a:extLst>
              <a:ext uri="{FF2B5EF4-FFF2-40B4-BE49-F238E27FC236}">
                <a16:creationId xmlns:a16="http://schemas.microsoft.com/office/drawing/2014/main" id="{05185B01-840C-72E0-FF30-8EE18CFC5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504" r="4105" b="14441"/>
          <a:stretch/>
        </p:blipFill>
        <p:spPr>
          <a:xfrm>
            <a:off x="3275012" y="0"/>
            <a:ext cx="8913812" cy="6867457"/>
          </a:xfrm>
          <a:prstGeom prst="rect">
            <a:avLst/>
          </a:prstGeom>
        </p:spPr>
      </p:pic>
      <p:sp>
        <p:nvSpPr>
          <p:cNvPr id="2" name="Title 1"/>
          <p:cNvSpPr>
            <a:spLocks noGrp="1"/>
          </p:cNvSpPr>
          <p:nvPr>
            <p:ph type="title"/>
          </p:nvPr>
        </p:nvSpPr>
        <p:spPr>
          <a:xfrm>
            <a:off x="684212" y="1295400"/>
            <a:ext cx="10287000" cy="3886200"/>
          </a:xfrm>
        </p:spPr>
        <p:txBody>
          <a:bodyPr anchor="b">
            <a:normAutofit/>
          </a:bodyPr>
          <a:lstStyle>
            <a:lvl1pPr marL="0" indent="0" algn="l">
              <a:lnSpc>
                <a:spcPct val="100000"/>
              </a:lnSpc>
              <a:defRPr sz="6600"/>
            </a:lvl1pPr>
          </a:lstStyle>
          <a:p>
            <a:r>
              <a:rPr lang="en-US"/>
              <a:t>Click to edit Master title style</a:t>
            </a:r>
            <a:endParaRPr dirty="0"/>
          </a:p>
        </p:txBody>
      </p:sp>
      <p:sp>
        <p:nvSpPr>
          <p:cNvPr id="10" name="Text Placeholder 9">
            <a:extLst>
              <a:ext uri="{FF2B5EF4-FFF2-40B4-BE49-F238E27FC236}">
                <a16:creationId xmlns:a16="http://schemas.microsoft.com/office/drawing/2014/main" id="{695FDDB8-B25B-0452-0EE6-99D1F02803F7}"/>
              </a:ext>
            </a:extLst>
          </p:cNvPr>
          <p:cNvSpPr>
            <a:spLocks noGrp="1"/>
          </p:cNvSpPr>
          <p:nvPr>
            <p:ph type="body" sz="quarter" idx="10"/>
          </p:nvPr>
        </p:nvSpPr>
        <p:spPr>
          <a:xfrm>
            <a:off x="684212" y="5600700"/>
            <a:ext cx="10287000" cy="533400"/>
          </a:xfrm>
        </p:spPr>
        <p:txBody>
          <a:bodyPr anchor="t">
            <a:normAutofit/>
          </a:bodyPr>
          <a:lstStyle>
            <a:lvl1pPr marL="45720" indent="0" algn="l">
              <a:buNone/>
              <a:defRPr sz="2400"/>
            </a:lvl1pPr>
          </a:lstStyle>
          <a:p>
            <a:pPr lvl="0"/>
            <a:r>
              <a:rPr lang="en-US"/>
              <a:t>Click to edit Master text styles</a:t>
            </a:r>
          </a:p>
        </p:txBody>
      </p:sp>
      <p:sp>
        <p:nvSpPr>
          <p:cNvPr id="3" name="Cross 2">
            <a:extLst>
              <a:ext uri="{FF2B5EF4-FFF2-40B4-BE49-F238E27FC236}">
                <a16:creationId xmlns:a16="http://schemas.microsoft.com/office/drawing/2014/main" id="{29F0C076-A364-A8D3-F322-AC2A18341617}"/>
              </a:ext>
            </a:extLst>
          </p:cNvPr>
          <p:cNvSpPr/>
          <p:nvPr userDrawn="1"/>
        </p:nvSpPr>
        <p:spPr>
          <a:xfrm>
            <a:off x="10975566" y="4987103"/>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Cross 3">
            <a:extLst>
              <a:ext uri="{FF2B5EF4-FFF2-40B4-BE49-F238E27FC236}">
                <a16:creationId xmlns:a16="http://schemas.microsoft.com/office/drawing/2014/main" id="{921F5FF9-DFA3-CF00-B31A-21C261392B15}"/>
              </a:ext>
            </a:extLst>
          </p:cNvPr>
          <p:cNvSpPr/>
          <p:nvPr userDrawn="1"/>
        </p:nvSpPr>
        <p:spPr>
          <a:xfrm>
            <a:off x="10118724" y="3581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830241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7777CD-9A1F-DEEA-2595-9E892C952556}"/>
              </a:ext>
            </a:extLst>
          </p:cNvPr>
          <p:cNvSpPr/>
          <p:nvPr userDrawn="1"/>
        </p:nvSpPr>
        <p:spPr>
          <a:xfrm>
            <a:off x="-1" y="0"/>
            <a:ext cx="12188825" cy="6858000"/>
          </a:xfrm>
          <a:prstGeom prst="rect">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DF4D3028-A414-148B-F10C-466ED585BCD9}"/>
              </a:ext>
            </a:extLst>
          </p:cNvPr>
          <p:cNvSpPr/>
          <p:nvPr userDrawn="1"/>
        </p:nvSpPr>
        <p:spPr>
          <a:xfrm>
            <a:off x="-1" y="1586"/>
            <a:ext cx="3428208" cy="6856414"/>
          </a:xfrm>
          <a:custGeom>
            <a:avLst/>
            <a:gdLst>
              <a:gd name="connsiteX0" fmla="*/ 1 w 3428208"/>
              <a:gd name="connsiteY0" fmla="*/ 0 h 6856414"/>
              <a:gd name="connsiteX1" fmla="*/ 3428208 w 3428208"/>
              <a:gd name="connsiteY1" fmla="*/ 3428207 h 6856414"/>
              <a:gd name="connsiteX2" fmla="*/ 1 w 3428208"/>
              <a:gd name="connsiteY2" fmla="*/ 6856414 h 6856414"/>
              <a:gd name="connsiteX3" fmla="*/ 0 w 3428208"/>
              <a:gd name="connsiteY3" fmla="*/ 6856414 h 6856414"/>
              <a:gd name="connsiteX4" fmla="*/ 0 w 3428208"/>
              <a:gd name="connsiteY4" fmla="*/ 0 h 6856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8208" h="6856414">
                <a:moveTo>
                  <a:pt x="1" y="0"/>
                </a:moveTo>
                <a:cubicBezTo>
                  <a:pt x="1893347" y="0"/>
                  <a:pt x="3428208" y="1534861"/>
                  <a:pt x="3428208" y="3428207"/>
                </a:cubicBezTo>
                <a:cubicBezTo>
                  <a:pt x="3428208" y="5321553"/>
                  <a:pt x="1893347" y="6856414"/>
                  <a:pt x="1" y="6856414"/>
                </a:cubicBezTo>
                <a:lnTo>
                  <a:pt x="0" y="6856414"/>
                </a:lnTo>
                <a:lnTo>
                  <a:pt x="0" y="0"/>
                </a:ln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9" name="Title 1">
            <a:extLst>
              <a:ext uri="{FF2B5EF4-FFF2-40B4-BE49-F238E27FC236}">
                <a16:creationId xmlns:a16="http://schemas.microsoft.com/office/drawing/2014/main" id="{0EB111F7-2027-1E41-1C02-BA5AA37EA221}"/>
              </a:ext>
            </a:extLst>
          </p:cNvPr>
          <p:cNvSpPr>
            <a:spLocks noGrp="1"/>
          </p:cNvSpPr>
          <p:nvPr>
            <p:ph type="title"/>
          </p:nvPr>
        </p:nvSpPr>
        <p:spPr>
          <a:xfrm>
            <a:off x="989012" y="723900"/>
            <a:ext cx="4114800" cy="5295900"/>
          </a:xfrm>
        </p:spPr>
        <p:txBody>
          <a:bodyPr anchor="ctr">
            <a:normAutofit/>
          </a:bodyPr>
          <a:lstStyle>
            <a:lvl1pPr algn="r">
              <a:lnSpc>
                <a:spcPct val="100000"/>
              </a:lnSpc>
              <a:defRPr sz="48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Content Placeholder 2"/>
          <p:cNvSpPr>
            <a:spLocks noGrp="1"/>
          </p:cNvSpPr>
          <p:nvPr>
            <p:ph idx="1"/>
          </p:nvPr>
        </p:nvSpPr>
        <p:spPr>
          <a:xfrm>
            <a:off x="6932612" y="1981200"/>
            <a:ext cx="4114800" cy="2854781"/>
          </a:xfrm>
        </p:spPr>
        <p:txBody>
          <a:bodyPr anchor="ctr"/>
          <a:lstStyle>
            <a:lvl1pPr marL="45720" indent="0">
              <a:buNone/>
              <a:defRPr>
                <a:solidFill>
                  <a:schemeClr val="tx1">
                    <a:lumMod val="85000"/>
                    <a:lumOff val="15000"/>
                  </a:schemeClr>
                </a:solidFill>
              </a:defRPr>
            </a:lvl1pPr>
            <a:lvl2pPr marL="365760" indent="0">
              <a:buNone/>
              <a:defRPr>
                <a:solidFill>
                  <a:schemeClr val="tx1">
                    <a:lumMod val="85000"/>
                    <a:lumOff val="15000"/>
                  </a:schemeClr>
                </a:solidFill>
              </a:defRPr>
            </a:lvl2pPr>
            <a:lvl3pPr marL="594360" indent="0">
              <a:buNone/>
              <a:defRPr>
                <a:solidFill>
                  <a:schemeClr val="tx1">
                    <a:lumMod val="85000"/>
                    <a:lumOff val="15000"/>
                  </a:schemeClr>
                </a:solidFill>
              </a:defRPr>
            </a:lvl3pPr>
            <a:lvl4pPr marL="777240" indent="0">
              <a:buNone/>
              <a:defRPr>
                <a:solidFill>
                  <a:schemeClr val="tx1">
                    <a:lumMod val="85000"/>
                    <a:lumOff val="15000"/>
                  </a:schemeClr>
                </a:solidFill>
              </a:defRPr>
            </a:lvl4pPr>
            <a:lvl5pPr marL="960120" indent="0">
              <a:buNone/>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ross 13">
            <a:extLst>
              <a:ext uri="{FF2B5EF4-FFF2-40B4-BE49-F238E27FC236}">
                <a16:creationId xmlns:a16="http://schemas.microsoft.com/office/drawing/2014/main" id="{02A1E7CF-4DB4-D31C-D6AA-D368DA17CD5F}"/>
              </a:ext>
            </a:extLst>
          </p:cNvPr>
          <p:cNvSpPr/>
          <p:nvPr userDrawn="1"/>
        </p:nvSpPr>
        <p:spPr>
          <a:xfrm>
            <a:off x="4837509" y="914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5" name="Cross 14">
            <a:extLst>
              <a:ext uri="{FF2B5EF4-FFF2-40B4-BE49-F238E27FC236}">
                <a16:creationId xmlns:a16="http://schemas.microsoft.com/office/drawing/2014/main" id="{E47E8503-C2AB-07F1-FD1F-A529E414E168}"/>
              </a:ext>
            </a:extLst>
          </p:cNvPr>
          <p:cNvSpPr/>
          <p:nvPr userDrawn="1"/>
        </p:nvSpPr>
        <p:spPr>
          <a:xfrm>
            <a:off x="3085307" y="569595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2" name="Left Brace 1">
            <a:extLst>
              <a:ext uri="{FF2B5EF4-FFF2-40B4-BE49-F238E27FC236}">
                <a16:creationId xmlns:a16="http://schemas.microsoft.com/office/drawing/2014/main" id="{8020F553-E264-0059-F1EB-47039048DC6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48898435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ing with Phone image">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5C0889D-74A2-974C-BB02-FA1F7BE369E2}"/>
              </a:ext>
            </a:extLst>
          </p:cNvPr>
          <p:cNvSpPr/>
          <p:nvPr userDrawn="1"/>
        </p:nvSpPr>
        <p:spPr>
          <a:xfrm>
            <a:off x="6704012" y="1148418"/>
            <a:ext cx="4561165" cy="4561165"/>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8" name="Graphic 7">
            <a:extLst>
              <a:ext uri="{FF2B5EF4-FFF2-40B4-BE49-F238E27FC236}">
                <a16:creationId xmlns:a16="http://schemas.microsoft.com/office/drawing/2014/main" id="{2DAE856D-3749-4D3B-9F33-A46528589F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32079" y="598170"/>
            <a:ext cx="3096221" cy="5661660"/>
          </a:xfrm>
          <a:prstGeom prst="rect">
            <a:avLst/>
          </a:prstGeom>
        </p:spPr>
      </p:pic>
      <p:sp>
        <p:nvSpPr>
          <p:cNvPr id="9" name="Cross 8">
            <a:extLst>
              <a:ext uri="{FF2B5EF4-FFF2-40B4-BE49-F238E27FC236}">
                <a16:creationId xmlns:a16="http://schemas.microsoft.com/office/drawing/2014/main" id="{7A96460A-640C-6025-AAB5-344AB2A405D1}"/>
              </a:ext>
            </a:extLst>
          </p:cNvPr>
          <p:cNvSpPr/>
          <p:nvPr userDrawn="1"/>
        </p:nvSpPr>
        <p:spPr>
          <a:xfrm>
            <a:off x="10818812" y="535307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Cross 10">
            <a:extLst>
              <a:ext uri="{FF2B5EF4-FFF2-40B4-BE49-F238E27FC236}">
                <a16:creationId xmlns:a16="http://schemas.microsoft.com/office/drawing/2014/main" id="{471314FF-EA0B-8DDE-B558-885A876FB0D5}"/>
              </a:ext>
            </a:extLst>
          </p:cNvPr>
          <p:cNvSpPr/>
          <p:nvPr userDrawn="1"/>
        </p:nvSpPr>
        <p:spPr>
          <a:xfrm>
            <a:off x="6335910" y="80551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6372818" cy="4038600"/>
          </a:xfrm>
        </p:spPr>
        <p:txBody>
          <a:bodyPr anchor="b">
            <a:normAutofit/>
          </a:bodyPr>
          <a:lstStyle>
            <a:lvl1pPr marL="0" indent="0" algn="l">
              <a:lnSpc>
                <a:spcPct val="100000"/>
              </a:lnSpc>
              <a:defRPr sz="4800"/>
            </a:lvl1pPr>
          </a:lstStyle>
          <a:p>
            <a:r>
              <a:rPr lang="en-US"/>
              <a:t>Click to edit Master title style</a:t>
            </a:r>
            <a:endParaRPr dirty="0"/>
          </a:p>
        </p:txBody>
      </p:sp>
      <p:sp>
        <p:nvSpPr>
          <p:cNvPr id="5" name="Text Placeholder 9">
            <a:extLst>
              <a:ext uri="{FF2B5EF4-FFF2-40B4-BE49-F238E27FC236}">
                <a16:creationId xmlns:a16="http://schemas.microsoft.com/office/drawing/2014/main" id="{EEFF6782-6ABD-DEB0-6FD1-1263A5469A24}"/>
              </a:ext>
            </a:extLst>
          </p:cNvPr>
          <p:cNvSpPr>
            <a:spLocks noGrp="1"/>
          </p:cNvSpPr>
          <p:nvPr>
            <p:ph type="body" sz="quarter" idx="10"/>
          </p:nvPr>
        </p:nvSpPr>
        <p:spPr>
          <a:xfrm>
            <a:off x="608012" y="4876800"/>
            <a:ext cx="6372817" cy="1104898"/>
          </a:xfrm>
        </p:spPr>
        <p:txBody>
          <a:bodyPr anchor="t">
            <a:normAutofit/>
          </a:bodyPr>
          <a:lstStyle>
            <a:lvl1pPr marL="45720" indent="0" algn="l">
              <a:buNone/>
              <a:defRPr sz="2000"/>
            </a:lvl1pPr>
          </a:lstStyle>
          <a:p>
            <a:pPr lvl="0"/>
            <a:r>
              <a:rPr lang="en-US"/>
              <a:t>Click to edit Master text styles</a:t>
            </a:r>
          </a:p>
        </p:txBody>
      </p:sp>
      <p:sp>
        <p:nvSpPr>
          <p:cNvPr id="16" name="Picture Placeholder 15">
            <a:extLst>
              <a:ext uri="{FF2B5EF4-FFF2-40B4-BE49-F238E27FC236}">
                <a16:creationId xmlns:a16="http://schemas.microsoft.com/office/drawing/2014/main" id="{5BA3F629-2405-DC90-C212-6F3D52B95D9B}"/>
              </a:ext>
            </a:extLst>
          </p:cNvPr>
          <p:cNvSpPr>
            <a:spLocks noGrp="1"/>
          </p:cNvSpPr>
          <p:nvPr>
            <p:ph type="pic" sz="quarter" idx="15"/>
          </p:nvPr>
        </p:nvSpPr>
        <p:spPr>
          <a:xfrm>
            <a:off x="7765046" y="883471"/>
            <a:ext cx="2439096" cy="5091059"/>
          </a:xfrm>
          <a:custGeom>
            <a:avLst/>
            <a:gdLst>
              <a:gd name="connsiteX0" fmla="*/ 340815 w 2439096"/>
              <a:gd name="connsiteY0" fmla="*/ 0 h 5091059"/>
              <a:gd name="connsiteX1" fmla="*/ 2098281 w 2439096"/>
              <a:gd name="connsiteY1" fmla="*/ 0 h 5091059"/>
              <a:gd name="connsiteX2" fmla="*/ 2439096 w 2439096"/>
              <a:gd name="connsiteY2" fmla="*/ 340815 h 5091059"/>
              <a:gd name="connsiteX3" fmla="*/ 2439096 w 2439096"/>
              <a:gd name="connsiteY3" fmla="*/ 495300 h 5091059"/>
              <a:gd name="connsiteX4" fmla="*/ 2439096 w 2439096"/>
              <a:gd name="connsiteY4" fmla="*/ 4750244 h 5091059"/>
              <a:gd name="connsiteX5" fmla="*/ 2098281 w 2439096"/>
              <a:gd name="connsiteY5" fmla="*/ 5091059 h 5091059"/>
              <a:gd name="connsiteX6" fmla="*/ 340815 w 2439096"/>
              <a:gd name="connsiteY6" fmla="*/ 5091059 h 5091059"/>
              <a:gd name="connsiteX7" fmla="*/ 0 w 2439096"/>
              <a:gd name="connsiteY7" fmla="*/ 4750244 h 5091059"/>
              <a:gd name="connsiteX8" fmla="*/ 0 w 2439096"/>
              <a:gd name="connsiteY8" fmla="*/ 495300 h 5091059"/>
              <a:gd name="connsiteX9" fmla="*/ 0 w 2439096"/>
              <a:gd name="connsiteY9" fmla="*/ 340815 h 5091059"/>
              <a:gd name="connsiteX10" fmla="*/ 340815 w 2439096"/>
              <a:gd name="connsiteY10" fmla="*/ 0 h 5091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9096" h="5091059">
                <a:moveTo>
                  <a:pt x="340815" y="0"/>
                </a:moveTo>
                <a:lnTo>
                  <a:pt x="2098281" y="0"/>
                </a:lnTo>
                <a:cubicBezTo>
                  <a:pt x="2286508" y="0"/>
                  <a:pt x="2439096" y="152588"/>
                  <a:pt x="2439096" y="340815"/>
                </a:cubicBezTo>
                <a:lnTo>
                  <a:pt x="2439096" y="495300"/>
                </a:lnTo>
                <a:lnTo>
                  <a:pt x="2439096" y="4750244"/>
                </a:lnTo>
                <a:cubicBezTo>
                  <a:pt x="2439096" y="4938471"/>
                  <a:pt x="2286508" y="5091059"/>
                  <a:pt x="2098281" y="5091059"/>
                </a:cubicBezTo>
                <a:lnTo>
                  <a:pt x="340815" y="5091059"/>
                </a:lnTo>
                <a:cubicBezTo>
                  <a:pt x="152588" y="5091059"/>
                  <a:pt x="0" y="4938471"/>
                  <a:pt x="0" y="4750244"/>
                </a:cubicBezTo>
                <a:lnTo>
                  <a:pt x="0" y="495300"/>
                </a:lnTo>
                <a:lnTo>
                  <a:pt x="0" y="340815"/>
                </a:lnTo>
                <a:cubicBezTo>
                  <a:pt x="0" y="152588"/>
                  <a:pt x="152588" y="0"/>
                  <a:pt x="340815"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504737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C3968AF-EB74-3889-A3BA-E759CFD47B12}"/>
              </a:ext>
            </a:extLst>
          </p:cNvPr>
          <p:cNvSpPr/>
          <p:nvPr userDrawn="1"/>
        </p:nvSpPr>
        <p:spPr>
          <a:xfrm>
            <a:off x="3275012" y="609600"/>
            <a:ext cx="5638800" cy="5638800"/>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itle 1">
            <a:extLst>
              <a:ext uri="{FF2B5EF4-FFF2-40B4-BE49-F238E27FC236}">
                <a16:creationId xmlns:a16="http://schemas.microsoft.com/office/drawing/2014/main" id="{266838CB-A9BC-715A-18FE-06CCE4A9CAFC}"/>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3" name="Text Placeholder 10">
            <a:extLst>
              <a:ext uri="{FF2B5EF4-FFF2-40B4-BE49-F238E27FC236}">
                <a16:creationId xmlns:a16="http://schemas.microsoft.com/office/drawing/2014/main" id="{454B8043-D1DD-E2EA-772B-D8D38CD37D14}"/>
              </a:ext>
            </a:extLst>
          </p:cNvPr>
          <p:cNvSpPr>
            <a:spLocks noGrp="1"/>
          </p:cNvSpPr>
          <p:nvPr>
            <p:ph type="body" sz="quarter" idx="14"/>
          </p:nvPr>
        </p:nvSpPr>
        <p:spPr>
          <a:xfrm>
            <a:off x="6768305" y="2022021"/>
            <a:ext cx="4443413" cy="281396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2743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2pPr>
            <a:lvl3pPr marL="59436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3pPr>
            <a:lvl4pPr marL="77724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4pPr>
            <a:lvl5pPr marL="9601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3242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264E2-719A-1CB0-CD0C-B90AD51C2384}"/>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7A96460A-640C-6025-AAB5-344AB2A405D1}"/>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3" name="Title 1">
            <a:extLst>
              <a:ext uri="{FF2B5EF4-FFF2-40B4-BE49-F238E27FC236}">
                <a16:creationId xmlns:a16="http://schemas.microsoft.com/office/drawing/2014/main" id="{FC60D2C4-E19C-088F-24AA-92F4628799CB}"/>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10" name="Slide Number Placeholder 5">
            <a:extLst>
              <a:ext uri="{FF2B5EF4-FFF2-40B4-BE49-F238E27FC236}">
                <a16:creationId xmlns:a16="http://schemas.microsoft.com/office/drawing/2014/main" id="{908F9375-0CED-7A7E-FAD2-5469CE00A66C}"/>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43" name="Footer Placeholder 4">
            <a:extLst>
              <a:ext uri="{FF2B5EF4-FFF2-40B4-BE49-F238E27FC236}">
                <a16:creationId xmlns:a16="http://schemas.microsoft.com/office/drawing/2014/main" id="{C1791A8D-D5A1-DB56-D6C5-A82DB0F2673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BE9D901E-58D4-3C47-262B-EA276B7F1D6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3" name="Content Placeholder 2"/>
          <p:cNvSpPr>
            <a:spLocks noGrp="1"/>
          </p:cNvSpPr>
          <p:nvPr>
            <p:ph idx="1"/>
          </p:nvPr>
        </p:nvSpPr>
        <p:spPr>
          <a:xfrm>
            <a:off x="1311274" y="2286000"/>
            <a:ext cx="4572000"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ross 14">
            <a:extLst>
              <a:ext uri="{FF2B5EF4-FFF2-40B4-BE49-F238E27FC236}">
                <a16:creationId xmlns:a16="http://schemas.microsoft.com/office/drawing/2014/main" id="{86C1A7B9-E319-130B-0CC8-DCB01B51A087}"/>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Freeform: Shape 4">
            <a:extLst>
              <a:ext uri="{FF2B5EF4-FFF2-40B4-BE49-F238E27FC236}">
                <a16:creationId xmlns:a16="http://schemas.microsoft.com/office/drawing/2014/main" id="{20652475-9C37-D778-F6B2-DE9F50F8571A}"/>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06741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Computer Monitor">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704012" y="838202"/>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97F2A9A7-1093-A563-8A0E-4C8DB0E669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42112" y="1752600"/>
            <a:ext cx="4951066" cy="3810000"/>
          </a:xfrm>
          <a:prstGeom prst="rect">
            <a:avLst/>
          </a:prstGeom>
        </p:spPr>
      </p:pic>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Picture Placeholder 6">
            <a:extLst>
              <a:ext uri="{FF2B5EF4-FFF2-40B4-BE49-F238E27FC236}">
                <a16:creationId xmlns:a16="http://schemas.microsoft.com/office/drawing/2014/main" id="{51F5E297-E771-7AE4-7311-0874043A4B38}"/>
              </a:ext>
            </a:extLst>
          </p:cNvPr>
          <p:cNvSpPr>
            <a:spLocks noGrp="1"/>
          </p:cNvSpPr>
          <p:nvPr>
            <p:ph type="pic" sz="quarter" idx="16"/>
          </p:nvPr>
        </p:nvSpPr>
        <p:spPr>
          <a:xfrm>
            <a:off x="7045945" y="2057400"/>
            <a:ext cx="4343400" cy="2688336"/>
          </a:xfrm>
          <a:custGeom>
            <a:avLst/>
            <a:gdLst>
              <a:gd name="connsiteX0" fmla="*/ 25620 w 4343400"/>
              <a:gd name="connsiteY0" fmla="*/ 0 h 2688336"/>
              <a:gd name="connsiteX1" fmla="*/ 4317780 w 4343400"/>
              <a:gd name="connsiteY1" fmla="*/ 0 h 2688336"/>
              <a:gd name="connsiteX2" fmla="*/ 4343400 w 4343400"/>
              <a:gd name="connsiteY2" fmla="*/ 25620 h 2688336"/>
              <a:gd name="connsiteX3" fmla="*/ 4343400 w 4343400"/>
              <a:gd name="connsiteY3" fmla="*/ 2662716 h 2688336"/>
              <a:gd name="connsiteX4" fmla="*/ 4317780 w 4343400"/>
              <a:gd name="connsiteY4" fmla="*/ 2688336 h 2688336"/>
              <a:gd name="connsiteX5" fmla="*/ 25620 w 4343400"/>
              <a:gd name="connsiteY5" fmla="*/ 2688336 h 2688336"/>
              <a:gd name="connsiteX6" fmla="*/ 0 w 4343400"/>
              <a:gd name="connsiteY6" fmla="*/ 2662716 h 2688336"/>
              <a:gd name="connsiteX7" fmla="*/ 0 w 4343400"/>
              <a:gd name="connsiteY7" fmla="*/ 25620 h 2688336"/>
              <a:gd name="connsiteX8" fmla="*/ 25620 w 4343400"/>
              <a:gd name="connsiteY8" fmla="*/ 0 h 268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2688336">
                <a:moveTo>
                  <a:pt x="25620" y="0"/>
                </a:moveTo>
                <a:lnTo>
                  <a:pt x="4317780" y="0"/>
                </a:lnTo>
                <a:cubicBezTo>
                  <a:pt x="4331930" y="0"/>
                  <a:pt x="4343400" y="11470"/>
                  <a:pt x="4343400" y="25620"/>
                </a:cubicBezTo>
                <a:lnTo>
                  <a:pt x="4343400" y="2662716"/>
                </a:lnTo>
                <a:cubicBezTo>
                  <a:pt x="4343400" y="2676866"/>
                  <a:pt x="4331930" y="2688336"/>
                  <a:pt x="4317780" y="2688336"/>
                </a:cubicBezTo>
                <a:lnTo>
                  <a:pt x="25620" y="2688336"/>
                </a:lnTo>
                <a:cubicBezTo>
                  <a:pt x="11470" y="2688336"/>
                  <a:pt x="0" y="2676866"/>
                  <a:pt x="0" y="2662716"/>
                </a:cubicBezTo>
                <a:lnTo>
                  <a:pt x="0" y="25620"/>
                </a:lnTo>
                <a:cubicBezTo>
                  <a:pt x="0" y="11470"/>
                  <a:pt x="11470" y="0"/>
                  <a:pt x="25620"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14972884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5687336" cy="5288730"/>
          </a:xfrm>
        </p:spPr>
        <p:txBody>
          <a:bodyPr anchor="b">
            <a:normAutofit/>
          </a:bodyPr>
          <a:lstStyle>
            <a:lvl1pPr marL="0" indent="0" algn="l">
              <a:lnSpc>
                <a:spcPct val="100000"/>
              </a:lnSpc>
              <a:defRPr sz="4800"/>
            </a:lvl1pPr>
          </a:lstStyle>
          <a:p>
            <a:r>
              <a:rPr lang="en-US"/>
              <a:t>Click to edit Master title style</a:t>
            </a:r>
            <a:endParaRPr dirty="0"/>
          </a:p>
        </p:txBody>
      </p:sp>
      <p:sp>
        <p:nvSpPr>
          <p:cNvPr id="3" name="Cross 2">
            <a:extLst>
              <a:ext uri="{FF2B5EF4-FFF2-40B4-BE49-F238E27FC236}">
                <a16:creationId xmlns:a16="http://schemas.microsoft.com/office/drawing/2014/main" id="{9D098DB9-0987-4850-3A4E-90EECD01BFED}"/>
              </a:ext>
            </a:extLst>
          </p:cNvPr>
          <p:cNvSpPr/>
          <p:nvPr userDrawn="1"/>
        </p:nvSpPr>
        <p:spPr>
          <a:xfrm>
            <a:off x="7130149" y="39694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pic>
        <p:nvPicPr>
          <p:cNvPr id="4" name="Graphic 3">
            <a:extLst>
              <a:ext uri="{FF2B5EF4-FFF2-40B4-BE49-F238E27FC236}">
                <a16:creationId xmlns:a16="http://schemas.microsoft.com/office/drawing/2014/main" id="{0320F41B-7946-84A8-649E-B8D2394410B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 r="42412"/>
          <a:stretch/>
        </p:blipFill>
        <p:spPr>
          <a:xfrm>
            <a:off x="7134779" y="533400"/>
            <a:ext cx="5054045" cy="5588000"/>
          </a:xfrm>
          <a:prstGeom prst="rect">
            <a:avLst/>
          </a:prstGeom>
        </p:spPr>
      </p:pic>
      <p:sp>
        <p:nvSpPr>
          <p:cNvPr id="6" name="Cross 5">
            <a:extLst>
              <a:ext uri="{FF2B5EF4-FFF2-40B4-BE49-F238E27FC236}">
                <a16:creationId xmlns:a16="http://schemas.microsoft.com/office/drawing/2014/main" id="{D3F324A7-F228-C486-182B-84D6C27A93B8}"/>
              </a:ext>
            </a:extLst>
          </p:cNvPr>
          <p:cNvSpPr/>
          <p:nvPr userDrawn="1"/>
        </p:nvSpPr>
        <p:spPr>
          <a:xfrm>
            <a:off x="6368151" y="24073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Picture Placeholder 20">
            <a:extLst>
              <a:ext uri="{FF2B5EF4-FFF2-40B4-BE49-F238E27FC236}">
                <a16:creationId xmlns:a16="http://schemas.microsoft.com/office/drawing/2014/main" id="{0EE33DD4-E993-7039-2B48-6FAFAE32A9FE}"/>
              </a:ext>
            </a:extLst>
          </p:cNvPr>
          <p:cNvSpPr>
            <a:spLocks noGrp="1"/>
          </p:cNvSpPr>
          <p:nvPr>
            <p:ph type="pic" sz="quarter" idx="15"/>
          </p:nvPr>
        </p:nvSpPr>
        <p:spPr>
          <a:xfrm>
            <a:off x="8119745" y="990600"/>
            <a:ext cx="4069080" cy="4384979"/>
          </a:xfrm>
          <a:custGeom>
            <a:avLst/>
            <a:gdLst>
              <a:gd name="connsiteX0" fmla="*/ 3553733 w 4390346"/>
              <a:gd name="connsiteY0" fmla="*/ 0 h 4693920"/>
              <a:gd name="connsiteX1" fmla="*/ 4390346 w 4390346"/>
              <a:gd name="connsiteY1" fmla="*/ 0 h 4693920"/>
              <a:gd name="connsiteX2" fmla="*/ 4390346 w 4390346"/>
              <a:gd name="connsiteY2" fmla="*/ 4690872 h 4693920"/>
              <a:gd name="connsiteX3" fmla="*/ 3721482 w 4390346"/>
              <a:gd name="connsiteY3" fmla="*/ 4690872 h 4693920"/>
              <a:gd name="connsiteX4" fmla="*/ 3721482 w 4390346"/>
              <a:gd name="connsiteY4" fmla="*/ 4693920 h 4693920"/>
              <a:gd name="connsiteX5" fmla="*/ 197252 w 4390346"/>
              <a:gd name="connsiteY5" fmla="*/ 4693920 h 4693920"/>
              <a:gd name="connsiteX6" fmla="*/ 167017 w 4390346"/>
              <a:gd name="connsiteY6" fmla="*/ 4690872 h 4693920"/>
              <a:gd name="connsiteX7" fmla="*/ 0 w 4390346"/>
              <a:gd name="connsiteY7" fmla="*/ 4690872 h 4693920"/>
              <a:gd name="connsiteX8" fmla="*/ 0 w 4390346"/>
              <a:gd name="connsiteY8" fmla="*/ 4232970 h 4693920"/>
              <a:gd name="connsiteX9" fmla="*/ 1 w 4390346"/>
              <a:gd name="connsiteY9" fmla="*/ 4232970 h 4693920"/>
              <a:gd name="connsiteX10" fmla="*/ 1 w 4390346"/>
              <a:gd name="connsiteY10" fmla="*/ 200299 h 4693920"/>
              <a:gd name="connsiteX11" fmla="*/ 197252 w 4390346"/>
              <a:gd name="connsiteY11" fmla="*/ 3048 h 4693920"/>
              <a:gd name="connsiteX12" fmla="*/ 3553733 w 4390346"/>
              <a:gd name="connsiteY12" fmla="*/ 3048 h 469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90346" h="4693920">
                <a:moveTo>
                  <a:pt x="3553733" y="0"/>
                </a:moveTo>
                <a:lnTo>
                  <a:pt x="4390346" y="0"/>
                </a:lnTo>
                <a:lnTo>
                  <a:pt x="4390346" y="4690872"/>
                </a:lnTo>
                <a:lnTo>
                  <a:pt x="3721482" y="4690872"/>
                </a:lnTo>
                <a:lnTo>
                  <a:pt x="3721482" y="4693920"/>
                </a:lnTo>
                <a:lnTo>
                  <a:pt x="197252" y="4693920"/>
                </a:lnTo>
                <a:lnTo>
                  <a:pt x="167017" y="4690872"/>
                </a:lnTo>
                <a:lnTo>
                  <a:pt x="0" y="4690872"/>
                </a:lnTo>
                <a:lnTo>
                  <a:pt x="0" y="4232970"/>
                </a:lnTo>
                <a:lnTo>
                  <a:pt x="1" y="4232970"/>
                </a:lnTo>
                <a:lnTo>
                  <a:pt x="1" y="200299"/>
                </a:lnTo>
                <a:cubicBezTo>
                  <a:pt x="1" y="91360"/>
                  <a:pt x="88313" y="3048"/>
                  <a:pt x="197252" y="3048"/>
                </a:cubicBezTo>
                <a:lnTo>
                  <a:pt x="3553733" y="3048"/>
                </a:ln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7764705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Accent">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361114" y="1317171"/>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33147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1pPr>
            <a:lvl2pPr marL="6515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8801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106299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1245870" indent="-28575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12">
            <a:extLst>
              <a:ext uri="{FF2B5EF4-FFF2-40B4-BE49-F238E27FC236}">
                <a16:creationId xmlns:a16="http://schemas.microsoft.com/office/drawing/2014/main" id="{120B2A3A-FF4C-298C-0165-DB61E8935F68}"/>
              </a:ext>
            </a:extLst>
          </p:cNvPr>
          <p:cNvSpPr>
            <a:spLocks noGrp="1"/>
          </p:cNvSpPr>
          <p:nvPr>
            <p:ph sz="quarter" idx="15"/>
          </p:nvPr>
        </p:nvSpPr>
        <p:spPr>
          <a:xfrm>
            <a:off x="6094413" y="2286000"/>
            <a:ext cx="55626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93288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b="1" kern="1200" dirty="0">
                <a:solidFill>
                  <a:schemeClr val="tx1">
                    <a:lumMod val="85000"/>
                    <a:lumOff val="15000"/>
                  </a:schemeClr>
                </a:solidFill>
                <a:latin typeface="+mn-lt"/>
                <a:ea typeface="+mn-lt"/>
                <a:cs typeface="+mn-lt"/>
              </a:defRPr>
            </a:lvl1pPr>
            <a:lvl2pPr marL="331470" indent="-285750">
              <a:lnSpc>
                <a:spcPct val="110000"/>
              </a:lnSpc>
              <a:spcBef>
                <a:spcPts val="1800"/>
              </a:spcBef>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Table Placeholder 8">
            <a:extLst>
              <a:ext uri="{FF2B5EF4-FFF2-40B4-BE49-F238E27FC236}">
                <a16:creationId xmlns:a16="http://schemas.microsoft.com/office/drawing/2014/main" id="{6EA47FDD-142D-1BE6-8057-A6CC1A71222C}"/>
              </a:ext>
            </a:extLst>
          </p:cNvPr>
          <p:cNvSpPr>
            <a:spLocks noGrp="1"/>
          </p:cNvSpPr>
          <p:nvPr>
            <p:ph type="tbl" sz="quarter" idx="13"/>
          </p:nvPr>
        </p:nvSpPr>
        <p:spPr>
          <a:xfrm>
            <a:off x="6094413" y="2286000"/>
            <a:ext cx="5558794" cy="3962400"/>
          </a:xfrm>
        </p:spPr>
        <p:txBody>
          <a:bodyPr/>
          <a:lstStyle>
            <a:lvl1pPr marL="45720" indent="0">
              <a:buNone/>
              <a:defRPr/>
            </a:lvl1pPr>
          </a:lstStyle>
          <a:p>
            <a:r>
              <a:rPr lang="en-US"/>
              <a:t>Click icon to add table</a:t>
            </a:r>
            <a:endParaRPr lang="en-US" dirty="0"/>
          </a:p>
        </p:txBody>
      </p:sp>
    </p:spTree>
    <p:extLst>
      <p:ext uri="{BB962C8B-B14F-4D97-AF65-F5344CB8AC3E}">
        <p14:creationId xmlns:p14="http://schemas.microsoft.com/office/powerpoint/2010/main" val="205039468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E2E1990-ECE7-FA08-4966-BE3109399672}"/>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3" name="Rectangle 2">
            <a:extLst>
              <a:ext uri="{FF2B5EF4-FFF2-40B4-BE49-F238E27FC236}">
                <a16:creationId xmlns:a16="http://schemas.microsoft.com/office/drawing/2014/main" id="{BE1D9EB0-EE8E-A9E8-9583-2D924EFA65AF}"/>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7" name="Title 1">
            <a:extLst>
              <a:ext uri="{FF2B5EF4-FFF2-40B4-BE49-F238E27FC236}">
                <a16:creationId xmlns:a16="http://schemas.microsoft.com/office/drawing/2014/main" id="{FAC00260-F255-D312-3E7C-329EECDFDEE7}"/>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6" name="Slide Number Placeholder 5">
            <a:extLst>
              <a:ext uri="{FF2B5EF4-FFF2-40B4-BE49-F238E27FC236}">
                <a16:creationId xmlns:a16="http://schemas.microsoft.com/office/drawing/2014/main" id="{3C9C7904-6373-06D6-713A-79D78DD615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6" name="Footer Placeholder 4">
            <a:extLst>
              <a:ext uri="{FF2B5EF4-FFF2-40B4-BE49-F238E27FC236}">
                <a16:creationId xmlns:a16="http://schemas.microsoft.com/office/drawing/2014/main" id="{0583D396-7FDF-332F-BEA4-791452AB13E8}"/>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8" name="Date Placeholder 3">
            <a:extLst>
              <a:ext uri="{FF2B5EF4-FFF2-40B4-BE49-F238E27FC236}">
                <a16:creationId xmlns:a16="http://schemas.microsoft.com/office/drawing/2014/main" id="{157FA249-0BE5-21BF-D816-85FBE6C4BD1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4" name="Table Placeholder 3">
            <a:extLst>
              <a:ext uri="{FF2B5EF4-FFF2-40B4-BE49-F238E27FC236}">
                <a16:creationId xmlns:a16="http://schemas.microsoft.com/office/drawing/2014/main" id="{FD06F443-9595-7420-13F2-7AF883FDE5E1}"/>
              </a:ext>
            </a:extLst>
          </p:cNvPr>
          <p:cNvSpPr>
            <a:spLocks noGrp="1"/>
          </p:cNvSpPr>
          <p:nvPr>
            <p:ph type="tbl" sz="quarter" idx="14"/>
          </p:nvPr>
        </p:nvSpPr>
        <p:spPr>
          <a:xfrm>
            <a:off x="1293811" y="2743200"/>
            <a:ext cx="10134601" cy="3505200"/>
          </a:xfrm>
        </p:spPr>
        <p:txBody>
          <a:bodyPr/>
          <a:lstStyle>
            <a:lvl1pPr>
              <a:defRPr>
                <a:solidFill>
                  <a:schemeClr val="tx1">
                    <a:lumMod val="85000"/>
                    <a:lumOff val="15000"/>
                  </a:schemeClr>
                </a:solidFill>
              </a:defRPr>
            </a:lvl1pPr>
          </a:lstStyle>
          <a:p>
            <a:r>
              <a:rPr lang="en-US"/>
              <a:t>Click icon to add table</a:t>
            </a:r>
            <a:endParaRPr lang="en-US" dirty="0"/>
          </a:p>
        </p:txBody>
      </p:sp>
    </p:spTree>
    <p:extLst>
      <p:ext uri="{BB962C8B-B14F-4D97-AF65-F5344CB8AC3E}">
        <p14:creationId xmlns:p14="http://schemas.microsoft.com/office/powerpoint/2010/main" val="70091718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1">
    <p:bg>
      <p:bgRef idx="1001">
        <a:schemeClr val="bg1"/>
      </p:bgRef>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6A45E1A-7551-6F54-D038-074B58A3B73E}"/>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Cross 5">
            <a:extLst>
              <a:ext uri="{FF2B5EF4-FFF2-40B4-BE49-F238E27FC236}">
                <a16:creationId xmlns:a16="http://schemas.microsoft.com/office/drawing/2014/main" id="{049F4FA0-ECA1-9CE1-60CD-491656F225D3}"/>
              </a:ext>
            </a:extLst>
          </p:cNvPr>
          <p:cNvSpPr/>
          <p:nvPr userDrawn="1"/>
        </p:nvSpPr>
        <p:spPr>
          <a:xfrm>
            <a:off x="6683143" y="1397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7" name="Cross 6">
            <a:extLst>
              <a:ext uri="{FF2B5EF4-FFF2-40B4-BE49-F238E27FC236}">
                <a16:creationId xmlns:a16="http://schemas.microsoft.com/office/drawing/2014/main" id="{E0F6845B-3635-28EA-BA6E-5535FE48E8B0}"/>
              </a:ext>
            </a:extLst>
          </p:cNvPr>
          <p:cNvSpPr/>
          <p:nvPr userDrawn="1"/>
        </p:nvSpPr>
        <p:spPr>
          <a:xfrm>
            <a:off x="11085513" y="5638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D1B5BD44-F42D-3B65-BB68-E5C76C4E06BA}"/>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E6F22956-4B4B-B972-CE6C-282D1D5918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4" name="Footer Placeholder 4">
            <a:extLst>
              <a:ext uri="{FF2B5EF4-FFF2-40B4-BE49-F238E27FC236}">
                <a16:creationId xmlns:a16="http://schemas.microsoft.com/office/drawing/2014/main" id="{C319E7A6-A7BC-1FD9-6936-D83244A4083E}"/>
              </a:ext>
            </a:extLst>
          </p:cNvPr>
          <p:cNvSpPr>
            <a:spLocks noGrp="1"/>
          </p:cNvSpPr>
          <p:nvPr>
            <p:ph type="ftr" sz="quarter" idx="17"/>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2180FD49-43D5-4D47-7DA7-BF05B579F242}"/>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0154911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9E2F69-D76D-62CD-4B4B-52AB2F720DE4}"/>
              </a:ext>
            </a:extLst>
          </p:cNvPr>
          <p:cNvSpPr/>
          <p:nvPr userDrawn="1"/>
        </p:nvSpPr>
        <p:spPr>
          <a:xfrm>
            <a:off x="9958158" y="0"/>
            <a:ext cx="2230666" cy="1981200"/>
          </a:xfrm>
          <a:custGeom>
            <a:avLst/>
            <a:gdLst>
              <a:gd name="connsiteX0" fmla="*/ 0 w 2230666"/>
              <a:gd name="connsiteY0" fmla="*/ 0 h 1981200"/>
              <a:gd name="connsiteX1" fmla="*/ 2230666 w 2230666"/>
              <a:gd name="connsiteY1" fmla="*/ 0 h 1981200"/>
              <a:gd name="connsiteX2" fmla="*/ 2230666 w 2230666"/>
              <a:gd name="connsiteY2" fmla="*/ 1981200 h 1981200"/>
              <a:gd name="connsiteX3" fmla="*/ 2029222 w 2230666"/>
              <a:gd name="connsiteY3" fmla="*/ 1972296 h 1981200"/>
              <a:gd name="connsiteX4" fmla="*/ 28437 w 2230666"/>
              <a:gd name="connsiteY4" fmla="*/ 186331 h 198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666" h="1981200">
                <a:moveTo>
                  <a:pt x="0" y="0"/>
                </a:moveTo>
                <a:lnTo>
                  <a:pt x="2230666" y="0"/>
                </a:lnTo>
                <a:lnTo>
                  <a:pt x="2230666" y="1981200"/>
                </a:lnTo>
                <a:lnTo>
                  <a:pt x="2029222" y="1972296"/>
                </a:lnTo>
                <a:cubicBezTo>
                  <a:pt x="1033803" y="1883891"/>
                  <a:pt x="224946" y="1146640"/>
                  <a:pt x="28437" y="186331"/>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3" name="Cross 2">
            <a:extLst>
              <a:ext uri="{FF2B5EF4-FFF2-40B4-BE49-F238E27FC236}">
                <a16:creationId xmlns:a16="http://schemas.microsoft.com/office/drawing/2014/main" id="{A0041296-BAB4-9340-D4A7-59FD619AC52B}"/>
              </a:ext>
            </a:extLst>
          </p:cNvPr>
          <p:cNvSpPr/>
          <p:nvPr userDrawn="1"/>
        </p:nvSpPr>
        <p:spPr>
          <a:xfrm>
            <a:off x="7847012" y="381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Cross 4">
            <a:extLst>
              <a:ext uri="{FF2B5EF4-FFF2-40B4-BE49-F238E27FC236}">
                <a16:creationId xmlns:a16="http://schemas.microsoft.com/office/drawing/2014/main" id="{FFABB0BB-C379-786D-46F1-DEB6A507EA80}"/>
              </a:ext>
            </a:extLst>
          </p:cNvPr>
          <p:cNvSpPr/>
          <p:nvPr userDrawn="1"/>
        </p:nvSpPr>
        <p:spPr>
          <a:xfrm>
            <a:off x="8559685" y="1066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20BDC478-129E-9690-F10A-A1F679ABD6BD}"/>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7BD29393-4996-16FE-FC38-2447AE812AD1}"/>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5" name="Footer Placeholder 4">
            <a:extLst>
              <a:ext uri="{FF2B5EF4-FFF2-40B4-BE49-F238E27FC236}">
                <a16:creationId xmlns:a16="http://schemas.microsoft.com/office/drawing/2014/main" id="{2FB2C37F-01F4-8BDA-35AA-8F8EBC5540A6}"/>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EF45931A-8732-7A9F-4CEE-22AA3831A489}"/>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286000"/>
            <a:ext cx="4911725"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286000"/>
            <a:ext cx="4911725" cy="4267200"/>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254294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5FB068A-9EE1-FCD9-54F9-D1322A68868B}"/>
              </a:ext>
            </a:extLst>
          </p:cNvPr>
          <p:cNvSpPr/>
          <p:nvPr userDrawn="1"/>
        </p:nvSpPr>
        <p:spPr>
          <a:xfrm>
            <a:off x="2132012" y="0"/>
            <a:ext cx="7924800" cy="6858000"/>
          </a:xfrm>
          <a:custGeom>
            <a:avLst/>
            <a:gdLst>
              <a:gd name="connsiteX0" fmla="*/ 1982890 w 7924800"/>
              <a:gd name="connsiteY0" fmla="*/ 0 h 6858000"/>
              <a:gd name="connsiteX1" fmla="*/ 5941911 w 7924800"/>
              <a:gd name="connsiteY1" fmla="*/ 0 h 6858000"/>
              <a:gd name="connsiteX2" fmla="*/ 6177816 w 7924800"/>
              <a:gd name="connsiteY2" fmla="*/ 143316 h 6858000"/>
              <a:gd name="connsiteX3" fmla="*/ 7924800 w 7924800"/>
              <a:gd name="connsiteY3" fmla="*/ 3429000 h 6858000"/>
              <a:gd name="connsiteX4" fmla="*/ 6017049 w 7924800"/>
              <a:gd name="connsiteY4" fmla="*/ 6817750 h 6858000"/>
              <a:gd name="connsiteX5" fmla="*/ 5947047 w 7924800"/>
              <a:gd name="connsiteY5" fmla="*/ 6858000 h 6858000"/>
              <a:gd name="connsiteX6" fmla="*/ 1977753 w 7924800"/>
              <a:gd name="connsiteY6" fmla="*/ 6858000 h 6858000"/>
              <a:gd name="connsiteX7" fmla="*/ 1907752 w 7924800"/>
              <a:gd name="connsiteY7" fmla="*/ 6817750 h 6858000"/>
              <a:gd name="connsiteX8" fmla="*/ 0 w 7924800"/>
              <a:gd name="connsiteY8" fmla="*/ 3429000 h 6858000"/>
              <a:gd name="connsiteX9" fmla="*/ 1746985 w 7924800"/>
              <a:gd name="connsiteY9" fmla="*/ 143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24800" h="6858000">
                <a:moveTo>
                  <a:pt x="1982890" y="0"/>
                </a:moveTo>
                <a:lnTo>
                  <a:pt x="5941911" y="0"/>
                </a:lnTo>
                <a:lnTo>
                  <a:pt x="6177816" y="143316"/>
                </a:lnTo>
                <a:cubicBezTo>
                  <a:pt x="7231821" y="855388"/>
                  <a:pt x="7924800" y="2061267"/>
                  <a:pt x="7924800" y="3429000"/>
                </a:cubicBezTo>
                <a:cubicBezTo>
                  <a:pt x="7924800" y="4865120"/>
                  <a:pt x="7160790" y="6122796"/>
                  <a:pt x="6017049" y="6817750"/>
                </a:cubicBezTo>
                <a:lnTo>
                  <a:pt x="5947047" y="6858000"/>
                </a:lnTo>
                <a:lnTo>
                  <a:pt x="1977753" y="6858000"/>
                </a:lnTo>
                <a:lnTo>
                  <a:pt x="1907752" y="6817750"/>
                </a:lnTo>
                <a:cubicBezTo>
                  <a:pt x="764010" y="6122796"/>
                  <a:pt x="0" y="4865120"/>
                  <a:pt x="0" y="3429000"/>
                </a:cubicBezTo>
                <a:cubicBezTo>
                  <a:pt x="0" y="2061267"/>
                  <a:pt x="692980" y="855388"/>
                  <a:pt x="1746985" y="143316"/>
                </a:cubicBez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1">
            <a:extLst>
              <a:ext uri="{FF2B5EF4-FFF2-40B4-BE49-F238E27FC236}">
                <a16:creationId xmlns:a16="http://schemas.microsoft.com/office/drawing/2014/main" id="{C47599E9-7877-89FF-8C57-FEF4C3C864DD}"/>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4" name="Text Placeholder 10">
            <a:extLst>
              <a:ext uri="{FF2B5EF4-FFF2-40B4-BE49-F238E27FC236}">
                <a16:creationId xmlns:a16="http://schemas.microsoft.com/office/drawing/2014/main" id="{22A2F27B-8DDF-057C-B969-50B4B8C3D2AF}"/>
              </a:ext>
            </a:extLst>
          </p:cNvPr>
          <p:cNvSpPr>
            <a:spLocks noGrp="1"/>
          </p:cNvSpPr>
          <p:nvPr>
            <p:ph type="body" sz="quarter" idx="14"/>
          </p:nvPr>
        </p:nvSpPr>
        <p:spPr>
          <a:xfrm>
            <a:off x="6768305" y="2247900"/>
            <a:ext cx="4443413" cy="240030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2pPr>
            <a:lvl3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3pPr>
            <a:lvl4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4pPr>
            <a:lvl5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336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1065212" y="533400"/>
            <a:ext cx="8686801" cy="10668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100">
                <a:solidFill>
                  <a:schemeClr val="tx1"/>
                </a:solidFill>
              </a:defRPr>
            </a:lvl1pPr>
          </a:lstStyle>
          <a:p>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100">
                <a:solidFill>
                  <a:schemeClr val="tx1"/>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327670427"/>
      </p:ext>
    </p:extLst>
  </p:cSld>
  <p:clrMap bg1="lt1" tx1="dk1" bg2="lt2" tx2="dk2" accent1="accent1" accent2="accent2" accent3="accent3" accent4="accent4" accent5="accent5" accent6="accent6" hlink="hlink" folHlink="folHlink"/>
  <p:sldLayoutIdLst>
    <p:sldLayoutId id="2147483678" r:id="rId1"/>
    <p:sldLayoutId id="2147483672" r:id="rId2"/>
    <p:sldLayoutId id="2147483695" r:id="rId3"/>
    <p:sldLayoutId id="2147483685" r:id="rId4"/>
    <p:sldLayoutId id="2147483662" r:id="rId5"/>
    <p:sldLayoutId id="2147483682" r:id="rId6"/>
    <p:sldLayoutId id="2147483696" r:id="rId7"/>
    <p:sldLayoutId id="2147483693" r:id="rId8"/>
    <p:sldLayoutId id="2147483692" r:id="rId9"/>
    <p:sldLayoutId id="2147483676" r:id="rId10"/>
    <p:sldLayoutId id="2147483665" r:id="rId11"/>
    <p:sldLayoutId id="2147483688" r:id="rId12"/>
    <p:sldLayoutId id="2147483686" r:id="rId13"/>
  </p:sldLayoutIdLst>
  <p:hf hdr="0" ftr="0" dt="0"/>
  <p:txStyles>
    <p:titleStyle>
      <a:lvl1pPr algn="l" defTabSz="914400" rtl="0" eaLnBrk="1" latinLnBrk="0" hangingPunct="1">
        <a:lnSpc>
          <a:spcPct val="80000"/>
        </a:lnSpc>
        <a:spcBef>
          <a:spcPct val="0"/>
        </a:spcBef>
        <a:buNone/>
        <a:defRPr sz="3600" b="1" kern="1200">
          <a:solidFill>
            <a:schemeClr val="tx1">
              <a:lumMod val="85000"/>
              <a:lumOff val="1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85000"/>
              <a:lumOff val="1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85000"/>
              <a:lumOff val="1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85000"/>
              <a:lumOff val="1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60412" y="609600"/>
            <a:ext cx="10287000" cy="3886200"/>
          </a:xfrm>
        </p:spPr>
        <p:txBody>
          <a:bodyPr anchor="b">
            <a:normAutofit fontScale="90000"/>
          </a:bodyPr>
          <a:lstStyle/>
          <a:p>
            <a:pPr algn="ctr"/>
            <a:r>
              <a:rPr lang="en-US" dirty="0">
                <a:solidFill>
                  <a:schemeClr val="tx2"/>
                </a:solidFill>
              </a:rPr>
              <a:t>CDU IT Code Fair 2026</a:t>
            </a:r>
            <a:br>
              <a:rPr lang="en-US" dirty="0"/>
            </a:br>
            <a:br>
              <a:rPr lang="en-US" dirty="0"/>
            </a:br>
            <a:r>
              <a:rPr lang="en-US" dirty="0"/>
              <a:t> </a:t>
            </a:r>
            <a:r>
              <a:rPr lang="en-US" dirty="0">
                <a:solidFill>
                  <a:schemeClr val="tx2"/>
                </a:solidFill>
              </a:rPr>
              <a:t>The Long Way</a:t>
            </a:r>
            <a:br>
              <a:rPr lang="en-US" dirty="0">
                <a:solidFill>
                  <a:schemeClr val="tx2"/>
                </a:solidFill>
              </a:rPr>
            </a:br>
            <a:r>
              <a:rPr lang="en-US" dirty="0">
                <a:solidFill>
                  <a:schemeClr val="tx2"/>
                </a:solidFill>
              </a:rPr>
              <a:t>to Care</a:t>
            </a:r>
          </a:p>
        </p:txBody>
      </p:sp>
      <p:sp>
        <p:nvSpPr>
          <p:cNvPr id="3" name="Content Placeholder 2"/>
          <p:cNvSpPr>
            <a:spLocks noGrp="1"/>
          </p:cNvSpPr>
          <p:nvPr>
            <p:ph type="body" sz="quarter" idx="10"/>
          </p:nvPr>
        </p:nvSpPr>
        <p:spPr>
          <a:xfrm>
            <a:off x="7085012" y="5105400"/>
            <a:ext cx="4953000" cy="1981200"/>
          </a:xfrm>
        </p:spPr>
        <p:txBody>
          <a:bodyPr>
            <a:normAutofit/>
          </a:bodyPr>
          <a:lstStyle/>
          <a:p>
            <a:r>
              <a:rPr lang="en-US" b="1" dirty="0">
                <a:solidFill>
                  <a:srgbClr val="C00000"/>
                </a:solidFill>
              </a:rPr>
              <a:t>Team DIC031: </a:t>
            </a:r>
          </a:p>
          <a:p>
            <a:pPr marL="388620" indent="-342900">
              <a:buFont typeface="Wingdings" panose="05000000000000000000" pitchFamily="2" charset="2"/>
              <a:buChar char="ü"/>
            </a:pPr>
            <a:r>
              <a:rPr lang="en-US" b="1" dirty="0">
                <a:solidFill>
                  <a:srgbClr val="C00000"/>
                </a:solidFill>
              </a:rPr>
              <a:t>Chepngenoh Chepkwony  </a:t>
            </a:r>
          </a:p>
          <a:p>
            <a:pPr marL="388620" indent="-342900">
              <a:buFont typeface="Wingdings" panose="05000000000000000000" pitchFamily="2" charset="2"/>
              <a:buChar char="ü"/>
            </a:pPr>
            <a:r>
              <a:rPr lang="en-US" b="1" dirty="0">
                <a:solidFill>
                  <a:srgbClr val="C00000"/>
                </a:solidFill>
              </a:rPr>
              <a:t>Cynthia Ebele </a:t>
            </a:r>
            <a:r>
              <a:rPr lang="en-US" b="1" dirty="0" err="1">
                <a:solidFill>
                  <a:srgbClr val="C00000"/>
                </a:solidFill>
              </a:rPr>
              <a:t>Ikegbunam</a:t>
            </a:r>
            <a:r>
              <a:rPr lang="en-US" b="1" dirty="0">
                <a:solidFill>
                  <a:srgbClr val="C00000"/>
                </a:solidFill>
              </a:rPr>
              <a:t>   </a:t>
            </a:r>
            <a:r>
              <a:rPr lang="en-US" b="1" dirty="0"/>
              <a:t>					</a:t>
            </a:r>
          </a:p>
        </p:txBody>
      </p:sp>
    </p:spTree>
    <p:extLst>
      <p:ext uri="{BB962C8B-B14F-4D97-AF65-F5344CB8AC3E}">
        <p14:creationId xmlns:p14="http://schemas.microsoft.com/office/powerpoint/2010/main" val="365812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C717FE-BCED-84E0-51E6-EE31F0348F07}"/>
              </a:ext>
            </a:extLst>
          </p:cNvPr>
          <p:cNvSpPr>
            <a:spLocks noGrp="1"/>
          </p:cNvSpPr>
          <p:nvPr>
            <p:ph type="title"/>
          </p:nvPr>
        </p:nvSpPr>
        <p:spPr>
          <a:xfrm>
            <a:off x="1293812" y="609600"/>
            <a:ext cx="4914900" cy="1447800"/>
          </a:xfrm>
        </p:spPr>
        <p:txBody>
          <a:bodyPr/>
          <a:lstStyle/>
          <a:p>
            <a:r>
              <a:rPr lang="en-US" dirty="0"/>
              <a:t>The problem</a:t>
            </a:r>
          </a:p>
        </p:txBody>
      </p:sp>
      <p:sp>
        <p:nvSpPr>
          <p:cNvPr id="3" name="Slide Number Placeholder 2">
            <a:extLst>
              <a:ext uri="{FF2B5EF4-FFF2-40B4-BE49-F238E27FC236}">
                <a16:creationId xmlns:a16="http://schemas.microsoft.com/office/drawing/2014/main" id="{D5D044B4-49AD-20F7-17BB-E5A0C27444E0}"/>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2</a:t>
            </a:fld>
            <a:endParaRPr lang="en-US" dirty="0"/>
          </a:p>
        </p:txBody>
      </p:sp>
      <p:sp>
        <p:nvSpPr>
          <p:cNvPr id="2" name="Content Placeholder 1">
            <a:extLst>
              <a:ext uri="{FF2B5EF4-FFF2-40B4-BE49-F238E27FC236}">
                <a16:creationId xmlns:a16="http://schemas.microsoft.com/office/drawing/2014/main" id="{BF92E986-9D7B-19D4-F7A1-31FE3C366DC9}"/>
              </a:ext>
            </a:extLst>
          </p:cNvPr>
          <p:cNvSpPr>
            <a:spLocks noGrp="1"/>
          </p:cNvSpPr>
          <p:nvPr>
            <p:ph idx="1"/>
          </p:nvPr>
        </p:nvSpPr>
        <p:spPr>
          <a:xfrm>
            <a:off x="1311274" y="2286000"/>
            <a:ext cx="4572000" cy="3962400"/>
          </a:xfrm>
        </p:spPr>
        <p:txBody>
          <a:bodyPr>
            <a:normAutofit fontScale="92500"/>
          </a:bodyPr>
          <a:lstStyle/>
          <a:p>
            <a:r>
              <a:rPr lang="en-US" dirty="0"/>
              <a:t>No confirmed signal</a:t>
            </a:r>
          </a:p>
          <a:p>
            <a:pPr lvl="1"/>
            <a:r>
              <a:rPr lang="en-US" dirty="0"/>
              <a:t>429 of 782 communities (54.9%) have no confirmed way to call for help</a:t>
            </a:r>
          </a:p>
          <a:p>
            <a:r>
              <a:rPr lang="en-US" dirty="0"/>
              <a:t>Never recorded</a:t>
            </a:r>
          </a:p>
          <a:p>
            <a:pPr lvl="1"/>
            <a:r>
              <a:rPr lang="en-US" dirty="0"/>
              <a:t>423 are missing from the NT Government coverage list, so nobody has confirmed a signal</a:t>
            </a:r>
          </a:p>
          <a:p>
            <a:r>
              <a:rPr lang="en-US" dirty="0"/>
              <a:t>Listed as none</a:t>
            </a:r>
          </a:p>
          <a:p>
            <a:pPr lvl="1"/>
            <a:r>
              <a:rPr lang="en-US" dirty="0"/>
              <a:t>6 are listed as having no coverage</a:t>
            </a:r>
          </a:p>
        </p:txBody>
      </p:sp>
      <p:graphicFrame>
        <p:nvGraphicFramePr>
          <p:cNvPr id="5" name="Chart 4"/>
          <p:cNvGraphicFramePr>
            <a:graphicFrameLocks noGrp="1"/>
          </p:cNvGraphicFramePr>
          <p:nvPr/>
        </p:nvGraphicFramePr>
        <p:xfrm>
          <a:off x="6094413" y="2286000"/>
          <a:ext cx="5559424" cy="3962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70957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5EFE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588" y="1244275"/>
            <a:ext cx="10563648" cy="571351"/>
          </a:xfrm>
        </p:spPr>
        <p:txBody>
          <a:bodyPr wrap="square" lIns="0" tIns="0" rIns="0" bIns="0" anchor="t">
            <a:normAutofit/>
          </a:bodyPr>
          <a:lstStyle/>
          <a:p>
            <a:pPr algn="l"/>
            <a:r>
              <a:rPr lang="en-US" sz="3200" b="1" dirty="0">
                <a:solidFill>
                  <a:srgbClr val="1E2A2B"/>
                </a:solidFill>
                <a:latin typeface="Cambria"/>
              </a:rPr>
              <a:t>One score, four ways a community can be cut off</a:t>
            </a:r>
          </a:p>
        </p:txBody>
      </p:sp>
      <p:sp>
        <p:nvSpPr>
          <p:cNvPr id="3" name="TextBox 2"/>
          <p:cNvSpPr txBox="1"/>
          <p:nvPr/>
        </p:nvSpPr>
        <p:spPr>
          <a:xfrm>
            <a:off x="812588" y="812588"/>
            <a:ext cx="8887684" cy="253933"/>
          </a:xfrm>
          <a:prstGeom prst="rect">
            <a:avLst/>
          </a:prstGeom>
          <a:noFill/>
        </p:spPr>
        <p:txBody>
          <a:bodyPr wrap="square" lIns="0" tIns="0" rIns="0" bIns="0">
            <a:spAutoFit/>
          </a:bodyPr>
          <a:lstStyle/>
          <a:p>
            <a:r>
              <a:rPr sz="1400" b="1" spc="300">
                <a:solidFill>
                  <a:srgbClr val="A93F16"/>
                </a:solidFill>
                <a:latin typeface="Calibri"/>
              </a:rPr>
              <a:t>HOW WE MEASURED IT</a:t>
            </a:r>
          </a:p>
        </p:txBody>
      </p:sp>
      <p:sp>
        <p:nvSpPr>
          <p:cNvPr id="4" name="Rounded Rectangle 3"/>
          <p:cNvSpPr/>
          <p:nvPr/>
        </p:nvSpPr>
        <p:spPr>
          <a:xfrm>
            <a:off x="812588" y="2094954"/>
            <a:ext cx="2488551" cy="2285404"/>
          </a:xfrm>
          <a:prstGeom prst="roundRect">
            <a:avLst>
              <a:gd name="adj" fmla="val 8000"/>
            </a:avLst>
          </a:prstGeom>
          <a:solidFill>
            <a:srgbClr val="FBF8F2"/>
          </a:solidFill>
          <a:ln w="9525">
            <a:solidFill>
              <a:srgbClr val="E0D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hat.png"/>
          <p:cNvPicPr>
            <a:picLocks noChangeAspect="1"/>
          </p:cNvPicPr>
          <p:nvPr/>
        </p:nvPicPr>
        <p:blipFill>
          <a:blip r:embed="rId3"/>
          <a:stretch>
            <a:fillRect/>
          </a:stretch>
        </p:blipFill>
        <p:spPr>
          <a:xfrm>
            <a:off x="1015735" y="2298101"/>
            <a:ext cx="355507" cy="355507"/>
          </a:xfrm>
          <a:prstGeom prst="rect">
            <a:avLst/>
          </a:prstGeom>
        </p:spPr>
      </p:pic>
      <p:sp>
        <p:nvSpPr>
          <p:cNvPr id="6" name="TextBox 5"/>
          <p:cNvSpPr txBox="1"/>
          <p:nvPr/>
        </p:nvSpPr>
        <p:spPr>
          <a:xfrm>
            <a:off x="1015735" y="2805969"/>
            <a:ext cx="2082257" cy="317417"/>
          </a:xfrm>
          <a:prstGeom prst="rect">
            <a:avLst/>
          </a:prstGeom>
          <a:noFill/>
        </p:spPr>
        <p:txBody>
          <a:bodyPr wrap="square" lIns="0" tIns="0" rIns="0" bIns="0">
            <a:spAutoFit/>
          </a:bodyPr>
          <a:lstStyle/>
          <a:p>
            <a:r>
              <a:rPr sz="1800" b="1">
                <a:solidFill>
                  <a:srgbClr val="1E2A2B"/>
                </a:solidFill>
                <a:latin typeface="Calibri"/>
              </a:rPr>
              <a:t>Can they call?</a:t>
            </a:r>
          </a:p>
        </p:txBody>
      </p:sp>
      <p:sp>
        <p:nvSpPr>
          <p:cNvPr id="7" name="TextBox 6"/>
          <p:cNvSpPr txBox="1"/>
          <p:nvPr/>
        </p:nvSpPr>
        <p:spPr>
          <a:xfrm>
            <a:off x="1015735" y="3186869"/>
            <a:ext cx="2082257" cy="1079218"/>
          </a:xfrm>
          <a:prstGeom prst="rect">
            <a:avLst/>
          </a:prstGeom>
          <a:noFill/>
        </p:spPr>
        <p:txBody>
          <a:bodyPr wrap="square" lIns="0" tIns="0" rIns="0" bIns="0">
            <a:spAutoFit/>
          </a:bodyPr>
          <a:lstStyle/>
          <a:p>
            <a:r>
              <a:rPr sz="1400" b="0">
                <a:solidFill>
                  <a:srgbClr val="4A4F4E"/>
                </a:solidFill>
                <a:latin typeface="Calibri"/>
              </a:rPr>
              <a:t>Confirmed mobile coverage from the NT lists and 2025 tower registers</a:t>
            </a:r>
          </a:p>
        </p:txBody>
      </p:sp>
      <p:sp>
        <p:nvSpPr>
          <p:cNvPr id="8" name="Rounded Rectangle 7"/>
          <p:cNvSpPr/>
          <p:nvPr/>
        </p:nvSpPr>
        <p:spPr>
          <a:xfrm>
            <a:off x="3504287" y="2094954"/>
            <a:ext cx="2488551" cy="2285404"/>
          </a:xfrm>
          <a:prstGeom prst="roundRect">
            <a:avLst>
              <a:gd name="adj" fmla="val 8000"/>
            </a:avLst>
          </a:prstGeom>
          <a:solidFill>
            <a:srgbClr val="FBF8F2"/>
          </a:solidFill>
          <a:ln w="9525">
            <a:solidFill>
              <a:srgbClr val="E0D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home.png"/>
          <p:cNvPicPr>
            <a:picLocks noChangeAspect="1"/>
          </p:cNvPicPr>
          <p:nvPr/>
        </p:nvPicPr>
        <p:blipFill>
          <a:blip r:embed="rId4"/>
          <a:stretch>
            <a:fillRect/>
          </a:stretch>
        </p:blipFill>
        <p:spPr>
          <a:xfrm>
            <a:off x="3707434" y="2298101"/>
            <a:ext cx="355507" cy="355507"/>
          </a:xfrm>
          <a:prstGeom prst="rect">
            <a:avLst/>
          </a:prstGeom>
        </p:spPr>
      </p:pic>
      <p:sp>
        <p:nvSpPr>
          <p:cNvPr id="10" name="TextBox 9"/>
          <p:cNvSpPr txBox="1"/>
          <p:nvPr/>
        </p:nvSpPr>
        <p:spPr>
          <a:xfrm>
            <a:off x="3707434" y="2805969"/>
            <a:ext cx="2082257" cy="317417"/>
          </a:xfrm>
          <a:prstGeom prst="rect">
            <a:avLst/>
          </a:prstGeom>
          <a:noFill/>
        </p:spPr>
        <p:txBody>
          <a:bodyPr wrap="square" lIns="0" tIns="0" rIns="0" bIns="0">
            <a:spAutoFit/>
          </a:bodyPr>
          <a:lstStyle/>
          <a:p>
            <a:r>
              <a:rPr sz="1800" b="1">
                <a:solidFill>
                  <a:srgbClr val="1E2A2B"/>
                </a:solidFill>
                <a:latin typeface="Calibri"/>
              </a:rPr>
              <a:t>Nearest clinic</a:t>
            </a:r>
          </a:p>
        </p:txBody>
      </p:sp>
      <p:sp>
        <p:nvSpPr>
          <p:cNvPr id="11" name="TextBox 10"/>
          <p:cNvSpPr txBox="1"/>
          <p:nvPr/>
        </p:nvSpPr>
        <p:spPr>
          <a:xfrm>
            <a:off x="3707434" y="3186869"/>
            <a:ext cx="2082257" cy="1079218"/>
          </a:xfrm>
          <a:prstGeom prst="rect">
            <a:avLst/>
          </a:prstGeom>
          <a:noFill/>
        </p:spPr>
        <p:txBody>
          <a:bodyPr wrap="square" lIns="0" tIns="0" rIns="0" bIns="0">
            <a:spAutoFit/>
          </a:bodyPr>
          <a:lstStyle/>
          <a:p>
            <a:r>
              <a:rPr sz="1400" b="0">
                <a:solidFill>
                  <a:srgbClr val="4A4F4E"/>
                </a:solidFill>
                <a:latin typeface="Calibri"/>
              </a:rPr>
              <a:t>Road drive time to the closest remote clinic</a:t>
            </a:r>
          </a:p>
        </p:txBody>
      </p:sp>
      <p:sp>
        <p:nvSpPr>
          <p:cNvPr id="12" name="Rounded Rectangle 11"/>
          <p:cNvSpPr/>
          <p:nvPr/>
        </p:nvSpPr>
        <p:spPr>
          <a:xfrm>
            <a:off x="6195986" y="2094954"/>
            <a:ext cx="2488551" cy="2285404"/>
          </a:xfrm>
          <a:prstGeom prst="roundRect">
            <a:avLst>
              <a:gd name="adj" fmla="val 8000"/>
            </a:avLst>
          </a:prstGeom>
          <a:solidFill>
            <a:srgbClr val="FBF8F2"/>
          </a:solidFill>
          <a:ln w="9525">
            <a:solidFill>
              <a:srgbClr val="E0D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lock.png"/>
          <p:cNvPicPr>
            <a:picLocks noChangeAspect="1"/>
          </p:cNvPicPr>
          <p:nvPr/>
        </p:nvPicPr>
        <p:blipFill>
          <a:blip r:embed="rId5"/>
          <a:stretch>
            <a:fillRect/>
          </a:stretch>
        </p:blipFill>
        <p:spPr>
          <a:xfrm>
            <a:off x="6399133" y="2298101"/>
            <a:ext cx="355507" cy="355507"/>
          </a:xfrm>
          <a:prstGeom prst="rect">
            <a:avLst/>
          </a:prstGeom>
        </p:spPr>
      </p:pic>
      <p:sp>
        <p:nvSpPr>
          <p:cNvPr id="14" name="TextBox 13"/>
          <p:cNvSpPr txBox="1"/>
          <p:nvPr/>
        </p:nvSpPr>
        <p:spPr>
          <a:xfrm>
            <a:off x="6399133" y="2805969"/>
            <a:ext cx="2082257" cy="317417"/>
          </a:xfrm>
          <a:prstGeom prst="rect">
            <a:avLst/>
          </a:prstGeom>
          <a:noFill/>
        </p:spPr>
        <p:txBody>
          <a:bodyPr wrap="square" lIns="0" tIns="0" rIns="0" bIns="0">
            <a:spAutoFit/>
          </a:bodyPr>
          <a:lstStyle/>
          <a:p>
            <a:r>
              <a:rPr sz="1800" b="1">
                <a:solidFill>
                  <a:srgbClr val="1E2A2B"/>
                </a:solidFill>
                <a:latin typeface="Calibri"/>
              </a:rPr>
              <a:t>Nearest hospital</a:t>
            </a:r>
          </a:p>
        </p:txBody>
      </p:sp>
      <p:sp>
        <p:nvSpPr>
          <p:cNvPr id="15" name="TextBox 14"/>
          <p:cNvSpPr txBox="1"/>
          <p:nvPr/>
        </p:nvSpPr>
        <p:spPr>
          <a:xfrm>
            <a:off x="6399133" y="3186869"/>
            <a:ext cx="2082257" cy="1079218"/>
          </a:xfrm>
          <a:prstGeom prst="rect">
            <a:avLst/>
          </a:prstGeom>
          <a:noFill/>
        </p:spPr>
        <p:txBody>
          <a:bodyPr wrap="square" lIns="0" tIns="0" rIns="0" bIns="0">
            <a:spAutoFit/>
          </a:bodyPr>
          <a:lstStyle/>
          <a:p>
            <a:r>
              <a:rPr sz="1400" b="0">
                <a:solidFill>
                  <a:srgbClr val="4A4F4E"/>
                </a:solidFill>
                <a:latin typeface="Calibri"/>
              </a:rPr>
              <a:t>Road drive time to a hospital emergency department</a:t>
            </a:r>
          </a:p>
        </p:txBody>
      </p:sp>
      <p:sp>
        <p:nvSpPr>
          <p:cNvPr id="16" name="Rounded Rectangle 15"/>
          <p:cNvSpPr/>
          <p:nvPr/>
        </p:nvSpPr>
        <p:spPr>
          <a:xfrm>
            <a:off x="8887684" y="2094954"/>
            <a:ext cx="2488551" cy="2285404"/>
          </a:xfrm>
          <a:prstGeom prst="roundRect">
            <a:avLst>
              <a:gd name="adj" fmla="val 8000"/>
            </a:avLst>
          </a:prstGeom>
          <a:solidFill>
            <a:srgbClr val="FBF8F2"/>
          </a:solidFill>
          <a:ln w="9525">
            <a:solidFill>
              <a:srgbClr val="E0D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link.png"/>
          <p:cNvPicPr>
            <a:picLocks noChangeAspect="1"/>
          </p:cNvPicPr>
          <p:nvPr/>
        </p:nvPicPr>
        <p:blipFill>
          <a:blip r:embed="rId6"/>
          <a:stretch>
            <a:fillRect/>
          </a:stretch>
        </p:blipFill>
        <p:spPr>
          <a:xfrm>
            <a:off x="9090831" y="2298101"/>
            <a:ext cx="355507" cy="355507"/>
          </a:xfrm>
          <a:prstGeom prst="rect">
            <a:avLst/>
          </a:prstGeom>
        </p:spPr>
      </p:pic>
      <p:sp>
        <p:nvSpPr>
          <p:cNvPr id="18" name="TextBox 17"/>
          <p:cNvSpPr txBox="1"/>
          <p:nvPr/>
        </p:nvSpPr>
        <p:spPr>
          <a:xfrm>
            <a:off x="9090831" y="2805969"/>
            <a:ext cx="2082257" cy="317417"/>
          </a:xfrm>
          <a:prstGeom prst="rect">
            <a:avLst/>
          </a:prstGeom>
          <a:noFill/>
        </p:spPr>
        <p:txBody>
          <a:bodyPr wrap="square" lIns="0" tIns="0" rIns="0" bIns="0">
            <a:spAutoFit/>
          </a:bodyPr>
          <a:lstStyle/>
          <a:p>
            <a:r>
              <a:rPr sz="1800" b="1">
                <a:solidFill>
                  <a:srgbClr val="1E2A2B"/>
                </a:solidFill>
                <a:latin typeface="Calibri"/>
              </a:rPr>
              <a:t>Sealed road?</a:t>
            </a:r>
          </a:p>
        </p:txBody>
      </p:sp>
      <p:sp>
        <p:nvSpPr>
          <p:cNvPr id="19" name="TextBox 18"/>
          <p:cNvSpPr txBox="1"/>
          <p:nvPr/>
        </p:nvSpPr>
        <p:spPr>
          <a:xfrm>
            <a:off x="9090831" y="3186869"/>
            <a:ext cx="2082257" cy="1079218"/>
          </a:xfrm>
          <a:prstGeom prst="rect">
            <a:avLst/>
          </a:prstGeom>
          <a:noFill/>
        </p:spPr>
        <p:txBody>
          <a:bodyPr wrap="square" lIns="0" tIns="0" rIns="0" bIns="0">
            <a:spAutoFit/>
          </a:bodyPr>
          <a:lstStyle/>
          <a:p>
            <a:r>
              <a:rPr sz="1400" b="0">
                <a:solidFill>
                  <a:srgbClr val="4A4F4E"/>
                </a:solidFill>
                <a:latin typeface="Calibri"/>
              </a:rPr>
              <a:t>Whether a sealed road connects the place</a:t>
            </a:r>
          </a:p>
        </p:txBody>
      </p:sp>
      <p:sp>
        <p:nvSpPr>
          <p:cNvPr id="20" name="Rounded Rectangle 19"/>
          <p:cNvSpPr/>
          <p:nvPr/>
        </p:nvSpPr>
        <p:spPr>
          <a:xfrm>
            <a:off x="812588" y="4761259"/>
            <a:ext cx="2666305" cy="533261"/>
          </a:xfrm>
          <a:prstGeom prst="roundRect">
            <a:avLst>
              <a:gd name="adj" fmla="val 50000"/>
            </a:avLst>
          </a:prstGeom>
          <a:solidFill>
            <a:srgbClr val="1E2A2B"/>
          </a:solidFill>
          <a:ln>
            <a:noFill/>
          </a:ln>
          <a:effectLst/>
        </p:spPr>
        <p:style>
          <a:lnRef idx="1">
            <a:schemeClr val="accent1"/>
          </a:lnRef>
          <a:fillRef idx="3">
            <a:schemeClr val="accent1"/>
          </a:fillRef>
          <a:effectRef idx="2">
            <a:schemeClr val="accent1"/>
          </a:effectRef>
          <a:fontRef idx="minor">
            <a:schemeClr val="lt1"/>
          </a:fontRef>
        </p:style>
        <p:txBody>
          <a:bodyPr lIns="152360" rIns="152360" rtlCol="0" anchor="ctr"/>
          <a:lstStyle/>
          <a:p>
            <a:pPr algn="ctr"/>
            <a:r>
              <a:rPr sz="1600" b="1">
                <a:solidFill>
                  <a:srgbClr val="F5EFE6"/>
                </a:solidFill>
                <a:latin typeface="Calibri"/>
              </a:rPr>
              <a:t>Equal-weighted mean</a:t>
            </a:r>
          </a:p>
        </p:txBody>
      </p:sp>
      <p:sp>
        <p:nvSpPr>
          <p:cNvPr id="21" name="Right Arrow 20"/>
          <p:cNvSpPr/>
          <p:nvPr/>
        </p:nvSpPr>
        <p:spPr>
          <a:xfrm>
            <a:off x="3631254" y="4926316"/>
            <a:ext cx="406294" cy="203147"/>
          </a:xfrm>
          <a:prstGeom prst="rightArrow">
            <a:avLst/>
          </a:prstGeom>
          <a:solidFill>
            <a:srgbClr val="A93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189908" y="4761259"/>
            <a:ext cx="2412371" cy="533261"/>
          </a:xfrm>
          <a:prstGeom prst="roundRect">
            <a:avLst>
              <a:gd name="adj" fmla="val 50000"/>
            </a:avLst>
          </a:prstGeom>
          <a:solidFill>
            <a:srgbClr val="1E2A2B"/>
          </a:solidFill>
          <a:ln>
            <a:noFill/>
          </a:ln>
          <a:effectLst/>
        </p:spPr>
        <p:style>
          <a:lnRef idx="1">
            <a:schemeClr val="accent1"/>
          </a:lnRef>
          <a:fillRef idx="3">
            <a:schemeClr val="accent1"/>
          </a:fillRef>
          <a:effectRef idx="2">
            <a:schemeClr val="accent1"/>
          </a:effectRef>
          <a:fontRef idx="minor">
            <a:schemeClr val="lt1"/>
          </a:fontRef>
        </p:style>
        <p:txBody>
          <a:bodyPr lIns="152360" rIns="152360" rtlCol="0" anchor="ctr"/>
          <a:lstStyle/>
          <a:p>
            <a:pPr algn="ctr"/>
            <a:r>
              <a:rPr sz="1600" b="1">
                <a:solidFill>
                  <a:srgbClr val="F5EFE6"/>
                </a:solidFill>
                <a:latin typeface="Calibri"/>
              </a:rPr>
              <a:t>Gap Index, 0 to 1</a:t>
            </a:r>
          </a:p>
        </p:txBody>
      </p:sp>
      <p:sp>
        <p:nvSpPr>
          <p:cNvPr id="23" name="Right Arrow 22"/>
          <p:cNvSpPr/>
          <p:nvPr/>
        </p:nvSpPr>
        <p:spPr>
          <a:xfrm>
            <a:off x="6754640" y="4926316"/>
            <a:ext cx="406294" cy="203147"/>
          </a:xfrm>
          <a:prstGeom prst="rightArrow">
            <a:avLst/>
          </a:prstGeom>
          <a:solidFill>
            <a:srgbClr val="A93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313295" y="4761259"/>
            <a:ext cx="2158437" cy="533261"/>
          </a:xfrm>
          <a:prstGeom prst="roundRect">
            <a:avLst>
              <a:gd name="adj" fmla="val 50000"/>
            </a:avLst>
          </a:prstGeom>
          <a:solidFill>
            <a:srgbClr val="1E2A2B"/>
          </a:solidFill>
          <a:ln>
            <a:noFill/>
          </a:ln>
          <a:effectLst/>
        </p:spPr>
        <p:style>
          <a:lnRef idx="1">
            <a:schemeClr val="accent1"/>
          </a:lnRef>
          <a:fillRef idx="3">
            <a:schemeClr val="accent1"/>
          </a:fillRef>
          <a:effectRef idx="2">
            <a:schemeClr val="accent1"/>
          </a:effectRef>
          <a:fontRef idx="minor">
            <a:schemeClr val="lt1"/>
          </a:fontRef>
        </p:style>
        <p:txBody>
          <a:bodyPr lIns="152360" rIns="152360" rtlCol="0" anchor="ctr"/>
          <a:lstStyle/>
          <a:p>
            <a:pPr algn="ctr"/>
            <a:r>
              <a:rPr sz="1600" b="1">
                <a:solidFill>
                  <a:srgbClr val="F5EFE6"/>
                </a:solidFill>
                <a:latin typeface="Calibri"/>
              </a:rPr>
              <a:t>Four risk tiers</a:t>
            </a:r>
          </a:p>
        </p:txBody>
      </p:sp>
      <p:sp>
        <p:nvSpPr>
          <p:cNvPr id="25" name="TextBox 24"/>
          <p:cNvSpPr txBox="1"/>
          <p:nvPr/>
        </p:nvSpPr>
        <p:spPr>
          <a:xfrm>
            <a:off x="812588" y="5586544"/>
            <a:ext cx="10563648" cy="253933"/>
          </a:xfrm>
          <a:prstGeom prst="rect">
            <a:avLst/>
          </a:prstGeom>
          <a:noFill/>
        </p:spPr>
        <p:txBody>
          <a:bodyPr wrap="square" lIns="0" tIns="0" rIns="0" bIns="0">
            <a:spAutoFit/>
          </a:bodyPr>
          <a:lstStyle/>
          <a:p>
            <a:r>
              <a:rPr sz="1500" b="0">
                <a:solidFill>
                  <a:srgbClr val="4A4F4E"/>
                </a:solidFill>
                <a:latin typeface="Calibri"/>
              </a:rPr>
              <a:t>Nine sources, 782 places. Alternative weightings gave the same top 20 (Spearman ρ ≥ 0.99).</a:t>
            </a:r>
          </a:p>
        </p:txBody>
      </p:sp>
    </p:spTree>
    <p:extLst>
      <p:ext uri="{BB962C8B-B14F-4D97-AF65-F5344CB8AC3E}">
        <p14:creationId xmlns:p14="http://schemas.microsoft.com/office/powerpoint/2010/main" val="1637310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C717FE-BCED-84E0-51E6-EE31F0348F07}"/>
              </a:ext>
            </a:extLst>
          </p:cNvPr>
          <p:cNvSpPr>
            <a:spLocks noGrp="1"/>
          </p:cNvSpPr>
          <p:nvPr>
            <p:ph type="title"/>
          </p:nvPr>
        </p:nvSpPr>
        <p:spPr>
          <a:xfrm>
            <a:off x="1293812" y="609600"/>
            <a:ext cx="4914900" cy="1447800"/>
          </a:xfrm>
        </p:spPr>
        <p:txBody>
          <a:bodyPr/>
          <a:lstStyle/>
          <a:p>
            <a:r>
              <a:rPr lang="en-US" dirty="0"/>
              <a:t>What we found</a:t>
            </a:r>
          </a:p>
        </p:txBody>
      </p:sp>
      <p:sp>
        <p:nvSpPr>
          <p:cNvPr id="3" name="Slide Number Placeholder 2">
            <a:extLst>
              <a:ext uri="{FF2B5EF4-FFF2-40B4-BE49-F238E27FC236}">
                <a16:creationId xmlns:a16="http://schemas.microsoft.com/office/drawing/2014/main" id="{D5D044B4-49AD-20F7-17BB-E5A0C27444E0}"/>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4</a:t>
            </a:fld>
            <a:endParaRPr lang="en-US" dirty="0"/>
          </a:p>
        </p:txBody>
      </p:sp>
      <p:sp>
        <p:nvSpPr>
          <p:cNvPr id="2" name="Content Placeholder 1">
            <a:extLst>
              <a:ext uri="{FF2B5EF4-FFF2-40B4-BE49-F238E27FC236}">
                <a16:creationId xmlns:a16="http://schemas.microsoft.com/office/drawing/2014/main" id="{BF92E986-9D7B-19D4-F7A1-31FE3C366DC9}"/>
              </a:ext>
            </a:extLst>
          </p:cNvPr>
          <p:cNvSpPr>
            <a:spLocks noGrp="1"/>
          </p:cNvSpPr>
          <p:nvPr>
            <p:ph idx="1"/>
          </p:nvPr>
        </p:nvSpPr>
        <p:spPr>
          <a:xfrm>
            <a:off x="1311274" y="2286000"/>
            <a:ext cx="4572000" cy="3962400"/>
          </a:xfrm>
        </p:spPr>
        <p:txBody>
          <a:bodyPr>
            <a:normAutofit fontScale="92500"/>
          </a:bodyPr>
          <a:lstStyle/>
          <a:p>
            <a:r>
              <a:rPr lang="en-US" dirty="0"/>
              <a:t>Far from a hospital</a:t>
            </a:r>
          </a:p>
          <a:p>
            <a:pPr lvl="1"/>
            <a:r>
              <a:rPr lang="en-US" dirty="0"/>
              <a:t>Median road trip is 3h 56m; 340 places are over 4 hours away</a:t>
            </a:r>
          </a:p>
          <a:p>
            <a:r>
              <a:rPr lang="en-US" dirty="0"/>
              <a:t>Cut off by road</a:t>
            </a:r>
          </a:p>
          <a:p>
            <a:pPr lvl="1"/>
            <a:r>
              <a:rPr lang="en-US" dirty="0"/>
              <a:t>85 places have no mapped road to a hospital; 469 have 20 km+ unsealed</a:t>
            </a:r>
          </a:p>
          <a:p>
            <a:r>
              <a:rPr lang="en-US" dirty="0"/>
              <a:t>Thin emergency cover</a:t>
            </a:r>
          </a:p>
          <a:p>
            <a:pPr lvl="1"/>
            <a:r>
              <a:rPr lang="en-US" dirty="0"/>
              <a:t>49 of 91 clinics list no 24/7 emergency service</a:t>
            </a:r>
          </a:p>
        </p:txBody>
      </p:sp>
      <p:graphicFrame>
        <p:nvGraphicFramePr>
          <p:cNvPr id="5" name="Chart 4"/>
          <p:cNvGraphicFramePr>
            <a:graphicFrameLocks noGrp="1"/>
          </p:cNvGraphicFramePr>
          <p:nvPr/>
        </p:nvGraphicFramePr>
        <p:xfrm>
          <a:off x="6094413" y="2286000"/>
          <a:ext cx="5559424" cy="3962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70957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1293812" y="609600"/>
            <a:ext cx="4914900" cy="1447800"/>
          </a:xfrm>
        </p:spPr>
        <p:txBody>
          <a:bodyPr anchor="t">
            <a:normAutofit/>
          </a:bodyPr>
          <a:lstStyle/>
          <a:p>
            <a:r>
              <a:rPr lang="en-US" dirty="0"/>
              <a:t>Who is most at risk</a:t>
            </a:r>
          </a:p>
        </p:txBody>
      </p:sp>
      <p:sp>
        <p:nvSpPr>
          <p:cNvPr id="3" name="Slide Number Placeholder 2">
            <a:extLst>
              <a:ext uri="{FF2B5EF4-FFF2-40B4-BE49-F238E27FC236}">
                <a16:creationId xmlns:a16="http://schemas.microsoft.com/office/drawing/2014/main" id="{5C864D93-77B3-30E7-82AA-970D214ABF89}"/>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5</a:t>
            </a:fld>
            <a:endParaRPr lang="en-US" dirty="0"/>
          </a:p>
        </p:txBody>
      </p:sp>
      <p:graphicFrame>
        <p:nvGraphicFramePr>
          <p:cNvPr id="4" name="Table 4">
            <a:extLst>
              <a:ext uri="{FF2B5EF4-FFF2-40B4-BE49-F238E27FC236}">
                <a16:creationId xmlns:a16="http://schemas.microsoft.com/office/drawing/2014/main" id="{403CD5FD-27C3-4342-BE41-F411CB8D6931}"/>
              </a:ext>
            </a:extLst>
          </p:cNvPr>
          <p:cNvGraphicFramePr>
            <a:graphicFrameLocks noGrp="1"/>
          </p:cNvGraphicFramePr>
          <p:nvPr>
            <p:ph type="tbl" sz="quarter" idx="14"/>
            <p:extLst>
              <p:ext uri="{D42A27DB-BD31-4B8C-83A1-F6EECF244321}">
                <p14:modId xmlns:p14="http://schemas.microsoft.com/office/powerpoint/2010/main" val="766499313"/>
              </p:ext>
            </p:extLst>
          </p:nvPr>
        </p:nvGraphicFramePr>
        <p:xfrm>
          <a:off x="1293813" y="2743200"/>
          <a:ext cx="10361616" cy="3413712"/>
        </p:xfrm>
        <a:graphic>
          <a:graphicData uri="http://schemas.openxmlformats.org/drawingml/2006/table">
            <a:tbl>
              <a:tblPr firstRow="1" bandRow="1">
                <a:tableStyleId>{BC89EF96-8CEA-46FF-86C4-4CE0E7609802}</a:tableStyleId>
              </a:tblPr>
              <a:tblGrid>
                <a:gridCol w="2590404">
                  <a:extLst>
                    <a:ext uri="{9D8B030D-6E8A-4147-A177-3AD203B41FA5}">
                      <a16:colId xmlns:a16="http://schemas.microsoft.com/office/drawing/2014/main" val="1689330750"/>
                    </a:ext>
                  </a:extLst>
                </a:gridCol>
                <a:gridCol w="2590404">
                  <a:extLst>
                    <a:ext uri="{9D8B030D-6E8A-4147-A177-3AD203B41FA5}">
                      <a16:colId xmlns:a16="http://schemas.microsoft.com/office/drawing/2014/main" val="2660631934"/>
                    </a:ext>
                  </a:extLst>
                </a:gridCol>
                <a:gridCol w="2590404">
                  <a:extLst>
                    <a:ext uri="{9D8B030D-6E8A-4147-A177-3AD203B41FA5}">
                      <a16:colId xmlns:a16="http://schemas.microsoft.com/office/drawing/2014/main" val="3909717689"/>
                    </a:ext>
                  </a:extLst>
                </a:gridCol>
                <a:gridCol w="2590404">
                  <a:extLst>
                    <a:ext uri="{9D8B030D-6E8A-4147-A177-3AD203B41FA5}">
                      <a16:colId xmlns:a16="http://schemas.microsoft.com/office/drawing/2014/main" val="1603189107"/>
                    </a:ext>
                  </a:extLst>
                </a:gridCol>
              </a:tblGrid>
              <a:tr h="914400">
                <a:tc>
                  <a:txBody>
                    <a:bodyPr/>
                    <a:lstStyle/>
                    <a:p>
                      <a:pPr algn="ctr"/>
                      <a:r>
                        <a:rPr lang="en-US" sz="1800" dirty="0"/>
                        <a:t>Place or group</a:t>
                      </a:r>
                    </a:p>
                  </a:txBody>
                  <a:tcPr marL="91416" marR="91416" marT="45708" marB="45708" anchor="ctr"/>
                </a:tc>
                <a:tc>
                  <a:txBody>
                    <a:bodyPr/>
                    <a:lstStyle/>
                    <a:p>
                      <a:pPr algn="ctr"/>
                      <a:r>
                        <a:rPr lang="en-US" sz="1800" b="1" dirty="0"/>
                        <a:t>Measure</a:t>
                      </a:r>
                    </a:p>
                  </a:txBody>
                  <a:tcPr marL="91416" marR="91416" marT="45708" marB="45708" anchor="ctr"/>
                </a:tc>
                <a:tc>
                  <a:txBody>
                    <a:bodyPr/>
                    <a:lstStyle/>
                    <a:p>
                      <a:pPr algn="ctr"/>
                      <a:r>
                        <a:rPr lang="en-US" sz="1800" b="1" dirty="0"/>
                        <a:t>Value</a:t>
                      </a:r>
                    </a:p>
                  </a:txBody>
                  <a:tcPr marL="91416" marR="91416" marT="45708" marB="45708" anchor="ctr"/>
                </a:tc>
                <a:tc>
                  <a:txBody>
                    <a:bodyPr/>
                    <a:lstStyle/>
                    <a:p>
                      <a:pPr algn="ctr"/>
                      <a:r>
                        <a:rPr lang="en-US" sz="1800" b="1" dirty="0"/>
                        <a:t>What it shows</a:t>
                      </a:r>
                    </a:p>
                  </a:txBody>
                  <a:tcPr marL="91416" marR="91416" marT="45708" marB="45708" anchor="ctr"/>
                </a:tc>
                <a:extLst>
                  <a:ext uri="{0D108BD9-81ED-4DB2-BD59-A6C34878D82A}">
                    <a16:rowId xmlns:a16="http://schemas.microsoft.com/office/drawing/2014/main" val="479928716"/>
                  </a:ext>
                </a:extLst>
              </a:tr>
              <a:tr h="609600">
                <a:tc>
                  <a:txBody>
                    <a:bodyPr/>
                    <a:lstStyle/>
                    <a:p>
                      <a:pPr algn="ctr"/>
                      <a:r>
                        <a:rPr lang="en-US" sz="1800" dirty="0">
                          <a:solidFill>
                            <a:schemeClr val="tx2">
                              <a:lumMod val="75000"/>
                            </a:schemeClr>
                          </a:solidFill>
                        </a:rPr>
                        <a:t>Tennant Creek</a:t>
                      </a:r>
                    </a:p>
                  </a:txBody>
                  <a:tcPr marL="91416" marR="91416" marT="45708" marB="45708" anchor="ctr"/>
                </a:tc>
                <a:tc>
                  <a:txBody>
                    <a:bodyPr/>
                    <a:lstStyle/>
                    <a:p>
                      <a:pPr algn="ctr"/>
                      <a:r>
                        <a:rPr lang="en-US" sz="1800" dirty="0">
                          <a:solidFill>
                            <a:schemeClr val="tx2">
                              <a:lumMod val="75000"/>
                            </a:schemeClr>
                          </a:solidFill>
                        </a:rPr>
                        <a:t>Gap Index</a:t>
                      </a:r>
                    </a:p>
                  </a:txBody>
                  <a:tcPr marL="91416" marR="91416" marT="45708" marB="45708" anchor="ctr"/>
                </a:tc>
                <a:tc>
                  <a:txBody>
                    <a:bodyPr/>
                    <a:lstStyle/>
                    <a:p>
                      <a:pPr algn="ctr"/>
                      <a:r>
                        <a:rPr lang="en-US" sz="1800" dirty="0">
                          <a:solidFill>
                            <a:schemeClr val="tx2">
                              <a:lumMod val="75000"/>
                            </a:schemeClr>
                          </a:solidFill>
                        </a:rPr>
                        <a:t>0.012</a:t>
                      </a:r>
                    </a:p>
                  </a:txBody>
                  <a:tcPr marL="91416" marR="91416" marT="45708" marB="45708" anchor="ctr"/>
                </a:tc>
                <a:tc>
                  <a:txBody>
                    <a:bodyPr/>
                    <a:lstStyle/>
                    <a:p>
                      <a:pPr algn="ctr"/>
                      <a:r>
                        <a:rPr lang="en-US" sz="1800" dirty="0">
                          <a:solidFill>
                            <a:schemeClr val="tx2">
                              <a:lumMod val="75000"/>
                            </a:schemeClr>
                          </a:solidFill>
                        </a:rPr>
                        <a:t>Near the best-off end</a:t>
                      </a:r>
                    </a:p>
                  </a:txBody>
                  <a:tcPr marL="91416" marR="91416" marT="45708" marB="45708" anchor="ctr"/>
                </a:tc>
                <a:extLst>
                  <a:ext uri="{0D108BD9-81ED-4DB2-BD59-A6C34878D82A}">
                    <a16:rowId xmlns:a16="http://schemas.microsoft.com/office/drawing/2014/main" val="1760208656"/>
                  </a:ext>
                </a:extLst>
              </a:tr>
              <a:tr h="609600">
                <a:tc>
                  <a:txBody>
                    <a:bodyPr/>
                    <a:lstStyle/>
                    <a:p>
                      <a:pPr algn="ctr"/>
                      <a:r>
                        <a:rPr lang="en-US" sz="1800" dirty="0">
                          <a:solidFill>
                            <a:schemeClr val="tx2">
                              <a:lumMod val="75000"/>
                            </a:schemeClr>
                          </a:solidFill>
                        </a:rPr>
                        <a:t>East Arnhem region</a:t>
                      </a:r>
                    </a:p>
                  </a:txBody>
                  <a:tcPr marL="91416" marR="91416" marT="45708" marB="45708" anchor="ctr"/>
                </a:tc>
                <a:tc>
                  <a:txBody>
                    <a:bodyPr/>
                    <a:lstStyle/>
                    <a:p>
                      <a:pPr algn="ctr"/>
                      <a:r>
                        <a:rPr lang="en-US" sz="1800" dirty="0">
                          <a:solidFill>
                            <a:schemeClr val="tx2">
                              <a:lumMod val="75000"/>
                            </a:schemeClr>
                          </a:solidFill>
                        </a:rPr>
                        <a:t>Mean Gap Index</a:t>
                      </a:r>
                    </a:p>
                  </a:txBody>
                  <a:tcPr marL="91416" marR="91416" marT="45708" marB="45708" anchor="ctr"/>
                </a:tc>
                <a:tc>
                  <a:txBody>
                    <a:bodyPr/>
                    <a:lstStyle/>
                    <a:p>
                      <a:pPr algn="ctr"/>
                      <a:r>
                        <a:rPr lang="en-US" sz="1800" dirty="0">
                          <a:solidFill>
                            <a:schemeClr val="tx2">
                              <a:lumMod val="75000"/>
                            </a:schemeClr>
                          </a:solidFill>
                        </a:rPr>
                        <a:t>0.720</a:t>
                      </a:r>
                    </a:p>
                  </a:txBody>
                  <a:tcPr marL="91416" marR="91416" marT="45708" marB="45708" anchor="ctr"/>
                </a:tc>
                <a:tc>
                  <a:txBody>
                    <a:bodyPr/>
                    <a:lstStyle/>
                    <a:p>
                      <a:pPr algn="ctr"/>
                      <a:r>
                        <a:rPr lang="en-US" sz="1800" dirty="0">
                          <a:solidFill>
                            <a:schemeClr val="tx2">
                              <a:lumMod val="75000"/>
                            </a:schemeClr>
                          </a:solidFill>
                        </a:rPr>
                        <a:t>High regional average</a:t>
                      </a:r>
                    </a:p>
                  </a:txBody>
                  <a:tcPr marL="91416" marR="91416" marT="45708" marB="45708" anchor="ctr"/>
                </a:tc>
                <a:extLst>
                  <a:ext uri="{0D108BD9-81ED-4DB2-BD59-A6C34878D82A}">
                    <a16:rowId xmlns:a16="http://schemas.microsoft.com/office/drawing/2014/main" val="3634243071"/>
                  </a:ext>
                </a:extLst>
              </a:tr>
              <a:tr h="609600">
                <a:tc>
                  <a:txBody>
                    <a:bodyPr/>
                    <a:lstStyle/>
                    <a:p>
                      <a:pPr algn="ctr"/>
                      <a:r>
                        <a:rPr lang="en-US" sz="1800" dirty="0">
                          <a:solidFill>
                            <a:schemeClr val="tx2">
                              <a:lumMod val="75000"/>
                            </a:schemeClr>
                          </a:solidFill>
                        </a:rPr>
                        <a:t>16 communities</a:t>
                      </a:r>
                    </a:p>
                  </a:txBody>
                  <a:tcPr marL="91416" marR="91416" marT="45708" marB="45708" anchor="ctr"/>
                </a:tc>
                <a:tc>
                  <a:txBody>
                    <a:bodyPr/>
                    <a:lstStyle/>
                    <a:p>
                      <a:pPr algn="ctr"/>
                      <a:r>
                        <a:rPr lang="en-US" sz="1800" dirty="0">
                          <a:solidFill>
                            <a:schemeClr val="tx2">
                              <a:lumMod val="75000"/>
                            </a:schemeClr>
                          </a:solidFill>
                        </a:rPr>
                        <a:t>Gap Index</a:t>
                      </a:r>
                    </a:p>
                  </a:txBody>
                  <a:tcPr marL="91416" marR="91416" marT="45708" marB="45708" anchor="ctr"/>
                </a:tc>
                <a:tc>
                  <a:txBody>
                    <a:bodyPr/>
                    <a:lstStyle/>
                    <a:p>
                      <a:pPr algn="ctr"/>
                      <a:r>
                        <a:rPr lang="en-US" sz="1800" dirty="0">
                          <a:solidFill>
                            <a:schemeClr val="tx2">
                              <a:lumMod val="75000"/>
                            </a:schemeClr>
                          </a:solidFill>
                        </a:rPr>
                        <a:t>1.000</a:t>
                      </a:r>
                    </a:p>
                  </a:txBody>
                  <a:tcPr marL="91416" marR="91416" marT="45708" marB="45708" anchor="ctr"/>
                </a:tc>
                <a:tc>
                  <a:txBody>
                    <a:bodyPr/>
                    <a:lstStyle/>
                    <a:p>
                      <a:pPr algn="ctr"/>
                      <a:r>
                        <a:rPr lang="en-US" sz="1800" dirty="0">
                          <a:solidFill>
                            <a:schemeClr val="tx2">
                              <a:lumMod val="75000"/>
                            </a:schemeClr>
                          </a:solidFill>
                        </a:rPr>
                        <a:t>Tied at the maximum</a:t>
                      </a:r>
                    </a:p>
                  </a:txBody>
                  <a:tcPr marL="91416" marR="91416" marT="45708" marB="45708" anchor="ctr"/>
                </a:tc>
                <a:extLst>
                  <a:ext uri="{0D108BD9-81ED-4DB2-BD59-A6C34878D82A}">
                    <a16:rowId xmlns:a16="http://schemas.microsoft.com/office/drawing/2014/main" val="415808797"/>
                  </a:ext>
                </a:extLst>
              </a:tr>
              <a:tr h="609600">
                <a:tc>
                  <a:txBody>
                    <a:bodyPr/>
                    <a:lstStyle/>
                    <a:p>
                      <a:pPr algn="ctr"/>
                      <a:r>
                        <a:rPr lang="en-US" sz="1800" dirty="0">
                          <a:solidFill>
                            <a:schemeClr val="tx2">
                              <a:lumMod val="75000"/>
                            </a:schemeClr>
                          </a:solidFill>
                        </a:rPr>
                        <a:t>Critical tier</a:t>
                      </a:r>
                    </a:p>
                  </a:txBody>
                  <a:tcPr marL="91416" marR="91416" marT="45708" marB="45708" anchor="ctr"/>
                </a:tc>
                <a:tc>
                  <a:txBody>
                    <a:bodyPr/>
                    <a:lstStyle/>
                    <a:p>
                      <a:pPr algn="ctr"/>
                      <a:r>
                        <a:rPr lang="en-US" sz="1800" dirty="0">
                          <a:solidFill>
                            <a:schemeClr val="tx2">
                              <a:lumMod val="75000"/>
                            </a:schemeClr>
                          </a:solidFill>
                        </a:rPr>
                        <a:t>Family Outstations</a:t>
                      </a:r>
                    </a:p>
                  </a:txBody>
                  <a:tcPr marL="91416" marR="91416" marT="45708" marB="45708" anchor="ctr"/>
                </a:tc>
                <a:tc>
                  <a:txBody>
                    <a:bodyPr/>
                    <a:lstStyle/>
                    <a:p>
                      <a:pPr algn="ctr"/>
                      <a:r>
                        <a:rPr lang="en-US" sz="1800" dirty="0">
                          <a:solidFill>
                            <a:schemeClr val="tx2">
                              <a:lumMod val="75000"/>
                            </a:schemeClr>
                          </a:solidFill>
                        </a:rPr>
                        <a:t>98%</a:t>
                      </a:r>
                    </a:p>
                  </a:txBody>
                  <a:tcPr marL="91416" marR="91416" marT="45708" marB="45708" anchor="ctr"/>
                </a:tc>
                <a:tc>
                  <a:txBody>
                    <a:bodyPr/>
                    <a:lstStyle/>
                    <a:p>
                      <a:pPr algn="ctr"/>
                      <a:r>
                        <a:rPr lang="en-US" sz="1800" dirty="0">
                          <a:solidFill>
                            <a:schemeClr val="tx2">
                              <a:lumMod val="75000"/>
                            </a:schemeClr>
                          </a:solidFill>
                        </a:rPr>
                        <a:t>Small, kin-based homelands</a:t>
                      </a:r>
                    </a:p>
                  </a:txBody>
                  <a:tcPr marL="91416" marR="91416" marT="45708" marB="45708" anchor="ctr"/>
                </a:tc>
                <a:extLst>
                  <a:ext uri="{0D108BD9-81ED-4DB2-BD59-A6C34878D82A}">
                    <a16:rowId xmlns:a16="http://schemas.microsoft.com/office/drawing/2014/main" val="380950325"/>
                  </a:ext>
                </a:extLst>
              </a:tr>
            </a:tbl>
          </a:graphicData>
        </a:graphic>
      </p:graphicFrame>
    </p:spTree>
    <p:extLst>
      <p:ext uri="{BB962C8B-B14F-4D97-AF65-F5344CB8AC3E}">
        <p14:creationId xmlns:p14="http://schemas.microsoft.com/office/powerpoint/2010/main" val="421291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2" y="609600"/>
            <a:ext cx="4914900" cy="1447800"/>
          </a:xfrm>
        </p:spPr>
        <p:txBody>
          <a:bodyPr>
            <a:normAutofit/>
          </a:bodyPr>
          <a:lstStyle/>
          <a:p>
            <a:r>
              <a:rPr lang="en-US" dirty="0"/>
              <a:t>The prototype</a:t>
            </a:r>
          </a:p>
        </p:txBody>
      </p:sp>
      <p:sp>
        <p:nvSpPr>
          <p:cNvPr id="4" name="Slide Number Placeholder 3">
            <a:extLst>
              <a:ext uri="{FF2B5EF4-FFF2-40B4-BE49-F238E27FC236}">
                <a16:creationId xmlns:a16="http://schemas.microsoft.com/office/drawing/2014/main" id="{F621D1C7-0250-310E-600C-FA985A7F7C73}"/>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6</a:t>
            </a:fld>
            <a:endParaRPr lang="en-US" dirty="0"/>
          </a:p>
        </p:txBody>
      </p:sp>
      <p:sp>
        <p:nvSpPr>
          <p:cNvPr id="3" name="Content Placeholder 2"/>
          <p:cNvSpPr>
            <a:spLocks noGrp="1"/>
          </p:cNvSpPr>
          <p:nvPr>
            <p:ph idx="1"/>
          </p:nvPr>
        </p:nvSpPr>
        <p:spPr>
          <a:xfrm>
            <a:off x="1311274" y="2286000"/>
            <a:ext cx="4572000" cy="3962400"/>
          </a:xfrm>
        </p:spPr>
        <p:txBody>
          <a:bodyPr vert="horz" lIns="91440" tIns="45720" rIns="91440" bIns="45720" rtlCol="0" anchor="t">
            <a:normAutofit/>
          </a:bodyPr>
          <a:lstStyle/>
          <a:p>
            <a:r>
              <a:rPr lang="en-US" dirty="0"/>
              <a:t>Search a community or a clinic</a:t>
            </a:r>
          </a:p>
          <a:p>
            <a:r>
              <a:rPr lang="en-US" dirty="0"/>
              <a:t>See coverage, drive times and risk tier</a:t>
            </a:r>
          </a:p>
          <a:p>
            <a:r>
              <a:rPr lang="en-US" dirty="0"/>
              <a:t>Act: clinic phone, hours, 24/7 status</a:t>
            </a:r>
          </a:p>
          <a:p>
            <a:r>
              <a:rPr lang="en-US" dirty="0"/>
              <a:t>One HTML file, no internet or install</a:t>
            </a:r>
          </a:p>
          <a:p>
            <a:r>
              <a:rPr lang="en-US" dirty="0"/>
              <a:t>Works in any web browser</a:t>
            </a:r>
          </a:p>
          <a:p>
            <a:r>
              <a:rPr lang="en-US" dirty="0"/>
              <a:t>Coverage-gap report saved on the device</a:t>
            </a:r>
          </a:p>
        </p:txBody>
      </p:sp>
      <p:pic>
        <p:nvPicPr>
          <p:cNvPr id="21" name="Picture Placeholder 20" descr="Charts on a computer monitor">
            <a:extLst>
              <a:ext uri="{FF2B5EF4-FFF2-40B4-BE49-F238E27FC236}">
                <a16:creationId xmlns:a16="http://schemas.microsoft.com/office/drawing/2014/main" id="{E453EF88-26E8-95DB-8E27-6A42911C63F6}"/>
              </a:ext>
            </a:extLst>
          </p:cNvPr>
          <p:cNvPicPr>
            <a:picLocks noGrp="1" noChangeAspect="1"/>
          </p:cNvPicPr>
          <p:nvPr>
            <p:ph type="pic" sz="quarter" idx="16"/>
          </p:nvPr>
        </p:nvPicPr>
        <p:blipFill>
          <a:blip r:embed="rId3" cstate="print">
            <a:extLst>
              <a:ext uri="{28A0092B-C50C-407E-A947-70E740481C1C}">
                <a14:useLocalDpi xmlns:a14="http://schemas.microsoft.com/office/drawing/2010/main" val="0"/>
              </a:ext>
            </a:extLst>
          </a:blip>
          <a:srcRect t="28" b="28"/>
          <a:stretch/>
        </p:blipFill>
        <p:spPr>
          <a:xfrm>
            <a:off x="7045945" y="2057400"/>
            <a:ext cx="4343400" cy="2688336"/>
          </a:xfrm>
        </p:spPr>
      </p:pic>
    </p:spTree>
    <p:extLst>
      <p:ext uri="{BB962C8B-B14F-4D97-AF65-F5344CB8AC3E}">
        <p14:creationId xmlns:p14="http://schemas.microsoft.com/office/powerpoint/2010/main" val="3388139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FD532B-8324-861F-ED93-92EB8E7DD42E}"/>
              </a:ext>
            </a:extLst>
          </p:cNvPr>
          <p:cNvSpPr>
            <a:spLocks noGrp="1"/>
          </p:cNvSpPr>
          <p:nvPr>
            <p:ph type="title"/>
          </p:nvPr>
        </p:nvSpPr>
        <p:spPr>
          <a:xfrm>
            <a:off x="1293812" y="609600"/>
            <a:ext cx="4914900" cy="1447800"/>
          </a:xfrm>
        </p:spPr>
        <p:txBody>
          <a:bodyPr/>
          <a:lstStyle/>
          <a:p>
            <a:r>
              <a:rPr lang="en-US" dirty="0"/>
              <a:t>Recommendations</a:t>
            </a:r>
          </a:p>
        </p:txBody>
      </p:sp>
      <p:sp>
        <p:nvSpPr>
          <p:cNvPr id="4" name="Slide Number Placeholder 3">
            <a:extLst>
              <a:ext uri="{FF2B5EF4-FFF2-40B4-BE49-F238E27FC236}">
                <a16:creationId xmlns:a16="http://schemas.microsoft.com/office/drawing/2014/main" id="{90FC024B-18D5-7DDB-7B99-DD2F09CAEEC3}"/>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7</a:t>
            </a:fld>
            <a:endParaRPr lang="en-US" dirty="0"/>
          </a:p>
        </p:txBody>
      </p:sp>
      <p:sp>
        <p:nvSpPr>
          <p:cNvPr id="3" name="Content Placeholder 2">
            <a:extLst>
              <a:ext uri="{FF2B5EF4-FFF2-40B4-BE49-F238E27FC236}">
                <a16:creationId xmlns:a16="http://schemas.microsoft.com/office/drawing/2014/main" id="{D4017B39-8948-407E-1D29-B290C2F201D1}"/>
              </a:ext>
            </a:extLst>
          </p:cNvPr>
          <p:cNvSpPr>
            <a:spLocks noGrp="1"/>
          </p:cNvSpPr>
          <p:nvPr>
            <p:ph idx="1"/>
          </p:nvPr>
        </p:nvSpPr>
        <p:spPr>
          <a:xfrm>
            <a:off x="1311274" y="2286000"/>
            <a:ext cx="4572000" cy="3962400"/>
          </a:xfrm>
        </p:spPr>
        <p:txBody>
          <a:bodyPr/>
          <a:lstStyle/>
          <a:p>
            <a:r>
              <a:rPr lang="en-US" dirty="0"/>
              <a:t>Connect the Critical tier first: prioritise coverage and a confirmed emergency-call option</a:t>
            </a:r>
          </a:p>
          <a:p>
            <a:r>
              <a:rPr lang="en-US" dirty="0"/>
              <a:t>Close the 24/7 gap for the 210 communities that cannot call</a:t>
            </a:r>
          </a:p>
          <a:p>
            <a:r>
              <a:rPr lang="en-US" dirty="0"/>
              <a:t>Put the dashboard in local hands through remote health services and Aboriginal community-controlled health organisations</a:t>
            </a:r>
          </a:p>
        </p:txBody>
      </p:sp>
      <p:graphicFrame>
        <p:nvGraphicFramePr>
          <p:cNvPr id="9" name="Diagram 2" descr="Drop pin timeline SmartArt graphic&#10;">
            <a:extLst>
              <a:ext uri="{FF2B5EF4-FFF2-40B4-BE49-F238E27FC236}">
                <a16:creationId xmlns:a16="http://schemas.microsoft.com/office/drawing/2014/main" id="{3FBEBE7D-0B6F-4C93-0F2F-3EBC3855DB8C}"/>
              </a:ext>
            </a:extLst>
          </p:cNvPr>
          <p:cNvGraphicFramePr/>
          <p:nvPr>
            <p:extLst>
              <p:ext uri="{D42A27DB-BD31-4B8C-83A1-F6EECF244321}">
                <p14:modId xmlns:p14="http://schemas.microsoft.com/office/powerpoint/2010/main" val="3459877905"/>
              </p:ext>
            </p:extLst>
          </p:nvPr>
        </p:nvGraphicFramePr>
        <p:xfrm>
          <a:off x="6130924" y="2057400"/>
          <a:ext cx="54864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6895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1293812" y="609600"/>
            <a:ext cx="4914900" cy="1447800"/>
          </a:xfrm>
        </p:spPr>
        <p:txBody>
          <a:bodyPr anchor="t"/>
          <a:lstStyle/>
          <a:p>
            <a:r>
              <a:rPr lang="en-US" dirty="0"/>
              <a:t>Summary</a:t>
            </a:r>
          </a:p>
        </p:txBody>
      </p:sp>
      <p:sp>
        <p:nvSpPr>
          <p:cNvPr id="11" name="Slide Number Placeholder 10">
            <a:extLst>
              <a:ext uri="{FF2B5EF4-FFF2-40B4-BE49-F238E27FC236}">
                <a16:creationId xmlns:a16="http://schemas.microsoft.com/office/drawing/2014/main" id="{224FE9DD-2E30-5EFA-8B09-7AFDB29EFBD1}"/>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8</a:t>
            </a:fld>
            <a:endParaRPr lang="en-US" dirty="0"/>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idx="13"/>
          </p:nvPr>
        </p:nvSpPr>
        <p:spPr>
          <a:xfrm>
            <a:off x="1293812" y="2286000"/>
            <a:ext cx="4911725" cy="4267200"/>
          </a:xfrm>
        </p:spPr>
        <p:txBody>
          <a:bodyPr vert="horz" lIns="91416" tIns="45708" rIns="91416" bIns="45708" rtlCol="0" anchor="t">
            <a:normAutofit/>
          </a:bodyPr>
          <a:lstStyle/>
          <a:p>
            <a:pPr marL="331470" indent="-285750">
              <a:buFont typeface="Wingdings" panose="05000000000000000000" pitchFamily="2" charset="2"/>
              <a:buChar char="v"/>
            </a:pPr>
            <a:r>
              <a:rPr lang="en-US" dirty="0"/>
              <a:t>429 of 782 remote NT communities have no confirmed way to call for help, and care can be hours away by road.</a:t>
            </a:r>
          </a:p>
          <a:p>
            <a:endParaRPr lang="en-US" dirty="0"/>
          </a:p>
          <a:p>
            <a:pPr marL="388620" indent="-342900">
              <a:buFont typeface="Wingdings" panose="05000000000000000000" pitchFamily="2" charset="2"/>
              <a:buChar char="v"/>
            </a:pPr>
            <a:r>
              <a:rPr lang="en-US" dirty="0"/>
              <a:t>We used no personal or health records. Missing data is scored as maximum risk, never dropped. Results are for co-design with communities, not a verdict on any of them.</a:t>
            </a:r>
          </a:p>
        </p:txBody>
      </p:sp>
      <p:sp>
        <p:nvSpPr>
          <p:cNvPr id="5" name="Content Placeholder 4">
            <a:extLst>
              <a:ext uri="{FF2B5EF4-FFF2-40B4-BE49-F238E27FC236}">
                <a16:creationId xmlns:a16="http://schemas.microsoft.com/office/drawing/2014/main" id="{BDB9D020-1E25-453D-83DF-1420ACD3968D}"/>
              </a:ext>
            </a:extLst>
          </p:cNvPr>
          <p:cNvSpPr>
            <a:spLocks noGrp="1"/>
          </p:cNvSpPr>
          <p:nvPr>
            <p:ph idx="14"/>
          </p:nvPr>
        </p:nvSpPr>
        <p:spPr>
          <a:xfrm>
            <a:off x="6516689" y="2286000"/>
            <a:ext cx="4911725" cy="4267200"/>
          </a:xfrm>
        </p:spPr>
        <p:txBody>
          <a:bodyPr vert="horz" lIns="91416" tIns="45708" rIns="91416" bIns="45708" rtlCol="0" anchor="t">
            <a:normAutofit/>
          </a:bodyPr>
          <a:lstStyle/>
          <a:p>
            <a:r>
              <a:rPr lang="en-US" dirty="0"/>
              <a:t>A transparent Gap Index</a:t>
            </a:r>
          </a:p>
          <a:p>
            <a:r>
              <a:rPr lang="en-US" dirty="0"/>
              <a:t>Four risk tiers, 782 places</a:t>
            </a:r>
          </a:p>
          <a:p>
            <a:r>
              <a:rPr lang="en-US" dirty="0"/>
              <a:t>An offline, searchable dashboard</a:t>
            </a:r>
          </a:p>
          <a:p>
            <a:r>
              <a:rPr lang="en-US" dirty="0"/>
              <a:t>Recommendations for government and health services</a:t>
            </a:r>
          </a:p>
        </p:txBody>
      </p:sp>
    </p:spTree>
    <p:extLst>
      <p:ext uri="{BB962C8B-B14F-4D97-AF65-F5344CB8AC3E}">
        <p14:creationId xmlns:p14="http://schemas.microsoft.com/office/powerpoint/2010/main" val="3566262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531812" y="495300"/>
            <a:ext cx="4572000" cy="5867400"/>
          </a:xfrm>
        </p:spPr>
        <p:txBody>
          <a:bodyPr>
            <a:normAutofit/>
          </a:bodyPr>
          <a:lstStyle/>
          <a:p>
            <a:r>
              <a:rPr lang="en-US" dirty="0"/>
              <a:t>Thank you</a:t>
            </a:r>
          </a:p>
        </p:txBody>
      </p:sp>
      <p:sp>
        <p:nvSpPr>
          <p:cNvPr id="3" name="Content Placeholder 2">
            <a:extLst>
              <a:ext uri="{FF2B5EF4-FFF2-40B4-BE49-F238E27FC236}">
                <a16:creationId xmlns:a16="http://schemas.microsoft.com/office/drawing/2014/main" id="{BABC2CE0-8806-4B2A-A10A-32984D317434}"/>
              </a:ext>
            </a:extLst>
          </p:cNvPr>
          <p:cNvSpPr>
            <a:spLocks noGrp="1"/>
          </p:cNvSpPr>
          <p:nvPr>
            <p:ph type="body" sz="quarter" idx="14"/>
          </p:nvPr>
        </p:nvSpPr>
        <p:spPr>
          <a:xfrm>
            <a:off x="6768305" y="2247900"/>
            <a:ext cx="4443413" cy="2400300"/>
          </a:xfrm>
        </p:spPr>
        <p:txBody>
          <a:bodyPr anchor="ctr"/>
          <a:lstStyle/>
          <a:p>
            <a:r>
              <a:rPr lang="en-US"/>
              <a:t>Chepngenoh </a:t>
            </a:r>
            <a:r>
              <a:rPr lang="en-US" dirty="0"/>
              <a:t>Chepkwony</a:t>
            </a:r>
          </a:p>
          <a:p>
            <a:r>
              <a:rPr lang="en-US" dirty="0"/>
              <a:t>Cynthia Ebele Ikegbunam</a:t>
            </a:r>
          </a:p>
          <a:p>
            <a:r>
              <a:rPr lang="en-US" dirty="0"/>
              <a:t>The Long Way to Care</a:t>
            </a:r>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Custom">
  <a:themeElements>
    <a:clrScheme name="Custom 174">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E1EAED"/>
      </a:accent6>
      <a:hlink>
        <a:srgbClr val="9454C3"/>
      </a:hlink>
      <a:folHlink>
        <a:srgbClr val="3EBBF0"/>
      </a:folHlink>
    </a:clrScheme>
    <a:fontScheme name="Custom 30">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63_win32_LW_V7.potx" id="{B4376E67-A46A-4922-AE0D-3354FC109E20}" vid="{F49CC2A7-BC98-4F28-8A83-D1D23E8024B9}"/>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050606-E255-48B6-AE23-CE03A589EB22}">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schemas.openxmlformats.org/package/2006/metadata/core-properties"/>
    <ds:schemaRef ds:uri="230e9df3-be65-4c73-a93b-d1236ebd677e"/>
    <ds:schemaRef ds:uri="16c05727-aa75-4e4a-9b5f-8a80a1165891"/>
    <ds:schemaRef ds:uri="http://schemas.microsoft.com/sharepoint/v3"/>
    <ds:schemaRef ds:uri="71af3243-3dd4-4a8d-8c0d-dd76da1f02a5"/>
    <ds:schemaRef ds:uri="http://www.w3.org/XML/1998/namespace"/>
    <ds:schemaRef ds:uri="http://purl.org/dc/terms/"/>
  </ds:schemaRefs>
</ds:datastoreItem>
</file>

<file path=customXml/itemProps2.xml><?xml version="1.0" encoding="utf-8"?>
<ds:datastoreItem xmlns:ds="http://schemas.openxmlformats.org/officeDocument/2006/customXml" ds:itemID="{4C37B52A-9EC8-4B7A-85C4-31F7EAFE403D}">
  <ds:schemaRefs>
    <ds:schemaRef ds:uri="http://schemas.microsoft.com/sharepoint/v3/contenttype/forms"/>
  </ds:schemaRefs>
</ds:datastoreItem>
</file>

<file path=customXml/itemProps3.xml><?xml version="1.0" encoding="utf-8"?>
<ds:datastoreItem xmlns:ds="http://schemas.openxmlformats.org/officeDocument/2006/customXml" ds:itemID="{20C06458-EC9A-428C-9123-A760B9587A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{1F752272-D09E-4F21-A244-226B99074A1D}TFf1460845-8e07-4b92-9183-e15be13008a218dbe6a5_win32-cc1095971745</Template>
  <TotalTime>29</TotalTime>
  <Words>1325</Words>
  <Application>Microsoft Office PowerPoint</Application>
  <PresentationFormat>Custom</PresentationFormat>
  <Paragraphs>100</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Cambria</vt:lpstr>
      <vt:lpstr>Century Gothic</vt:lpstr>
      <vt:lpstr>Palatino Linotype</vt:lpstr>
      <vt:lpstr>Wingdings</vt:lpstr>
      <vt:lpstr>Custom</vt:lpstr>
      <vt:lpstr>CDU IT Code Fair 2026   The Long Way to Care</vt:lpstr>
      <vt:lpstr>The problem</vt:lpstr>
      <vt:lpstr>One score, four ways a community can be cut off</vt:lpstr>
      <vt:lpstr>What we found</vt:lpstr>
      <vt:lpstr>Who is most at risk</vt:lpstr>
      <vt:lpstr>The prototype</vt:lpstr>
      <vt:lpstr>Recommendations</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Chepngenoh Chepkwony</dc:creator>
  <cp:lastModifiedBy>Chepngenoh Chepkwony</cp:lastModifiedBy>
  <cp:revision>2</cp:revision>
  <dcterms:created xsi:type="dcterms:W3CDTF">2026-09-30T05:50:10Z</dcterms:created>
  <dcterms:modified xsi:type="dcterms:W3CDTF">2026-09-30T06:37:57Z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Order">
    <vt:r8>74069400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MediaServiceImageTags">
    <vt:lpwstr/>
  </property>
</Properties>
</file>